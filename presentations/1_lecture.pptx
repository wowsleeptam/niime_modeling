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  <p:sldMasterId id="2147483656" r:id="rId2"/>
  </p:sldMasterIdLst>
  <p:notesMasterIdLst>
    <p:notesMasterId r:id="rId39"/>
  </p:notesMasterIdLst>
  <p:sldIdLst>
    <p:sldId id="307" r:id="rId3"/>
    <p:sldId id="328" r:id="rId4"/>
    <p:sldId id="325" r:id="rId5"/>
    <p:sldId id="341" r:id="rId6"/>
    <p:sldId id="342" r:id="rId7"/>
    <p:sldId id="343" r:id="rId8"/>
    <p:sldId id="330" r:id="rId9"/>
    <p:sldId id="331" r:id="rId10"/>
    <p:sldId id="377" r:id="rId11"/>
    <p:sldId id="332" r:id="rId12"/>
    <p:sldId id="334" r:id="rId13"/>
    <p:sldId id="335" r:id="rId14"/>
    <p:sldId id="336" r:id="rId15"/>
    <p:sldId id="338" r:id="rId16"/>
    <p:sldId id="339" r:id="rId17"/>
    <p:sldId id="344" r:id="rId18"/>
    <p:sldId id="345" r:id="rId19"/>
    <p:sldId id="346" r:id="rId20"/>
    <p:sldId id="347" r:id="rId21"/>
    <p:sldId id="360" r:id="rId22"/>
    <p:sldId id="367" r:id="rId23"/>
    <p:sldId id="372" r:id="rId24"/>
    <p:sldId id="373" r:id="rId25"/>
    <p:sldId id="370" r:id="rId26"/>
    <p:sldId id="374" r:id="rId27"/>
    <p:sldId id="375" r:id="rId28"/>
    <p:sldId id="376" r:id="rId29"/>
    <p:sldId id="351" r:id="rId30"/>
    <p:sldId id="352" r:id="rId31"/>
    <p:sldId id="358" r:id="rId32"/>
    <p:sldId id="353" r:id="rId33"/>
    <p:sldId id="354" r:id="rId34"/>
    <p:sldId id="355" r:id="rId35"/>
    <p:sldId id="356" r:id="rId36"/>
    <p:sldId id="359" r:id="rId37"/>
    <p:sldId id="298" r:id="rId3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533A65BB-672F-4616-B842-2865FC0B2E03}">
          <p14:sldIdLst>
            <p14:sldId id="307"/>
            <p14:sldId id="328"/>
            <p14:sldId id="325"/>
            <p14:sldId id="341"/>
            <p14:sldId id="342"/>
            <p14:sldId id="343"/>
            <p14:sldId id="330"/>
            <p14:sldId id="331"/>
            <p14:sldId id="377"/>
            <p14:sldId id="332"/>
            <p14:sldId id="334"/>
            <p14:sldId id="335"/>
            <p14:sldId id="336"/>
            <p14:sldId id="338"/>
            <p14:sldId id="339"/>
            <p14:sldId id="344"/>
            <p14:sldId id="345"/>
            <p14:sldId id="346"/>
            <p14:sldId id="347"/>
            <p14:sldId id="360"/>
            <p14:sldId id="367"/>
            <p14:sldId id="372"/>
            <p14:sldId id="373"/>
            <p14:sldId id="370"/>
            <p14:sldId id="374"/>
            <p14:sldId id="375"/>
            <p14:sldId id="376"/>
            <p14:sldId id="351"/>
            <p14:sldId id="352"/>
            <p14:sldId id="358"/>
            <p14:sldId id="353"/>
            <p14:sldId id="354"/>
            <p14:sldId id="355"/>
            <p14:sldId id="356"/>
            <p14:sldId id="359"/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19F"/>
    <a:srgbClr val="FFFFFF"/>
    <a:srgbClr val="BDD7EE"/>
    <a:srgbClr val="ACA8CF"/>
    <a:srgbClr val="89C6D6"/>
    <a:srgbClr val="4473C1"/>
    <a:srgbClr val="FFCC00"/>
    <a:srgbClr val="ECEEEF"/>
    <a:srgbClr val="398DA3"/>
    <a:srgbClr val="BBB7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06799F8-075E-4A3A-A7F6-7FBC6576F1A4}" styleName="Стиль из темы 2 - акцент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36" autoAdjust="0"/>
    <p:restoredTop sz="96438" autoAdjust="0"/>
  </p:normalViewPr>
  <p:slideViewPr>
    <p:cSldViewPr snapToGrid="0">
      <p:cViewPr varScale="1">
        <p:scale>
          <a:sx n="104" d="100"/>
          <a:sy n="104" d="100"/>
        </p:scale>
        <p:origin x="864" y="72"/>
      </p:cViewPr>
      <p:guideLst>
        <p:guide orient="horz" pos="1643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5484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5484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4136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1942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0736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3158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5284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5682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5244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бакалаврская рабо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/>
          <p:cNvSpPr>
            <a:spLocks noGrp="1"/>
          </p:cNvSpPr>
          <p:nvPr>
            <p:ph type="body" sz="quarter" idx="11"/>
          </p:nvPr>
        </p:nvSpPr>
        <p:spPr>
          <a:xfrm>
            <a:off x="-1" y="1103410"/>
            <a:ext cx="9143999" cy="427746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2"/>
          </p:nvPr>
        </p:nvSpPr>
        <p:spPr>
          <a:xfrm>
            <a:off x="3911304" y="3326858"/>
            <a:ext cx="4345119" cy="1465634"/>
          </a:xfrm>
          <a:prstGeom prst="rect">
            <a:avLst/>
          </a:prstGeom>
        </p:spPr>
        <p:txBody>
          <a:bodyPr anchor="ctr"/>
          <a:lstStyle>
            <a:lvl1pPr algn="r">
              <a:defRPr sz="18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550" y="1609820"/>
            <a:ext cx="8070900" cy="163629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675665"/>
            <a:ext cx="9144000" cy="427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ru-RU" sz="2000" dirty="0">
                <a:solidFill>
                  <a:srgbClr val="3333B3"/>
                </a:solidFill>
                <a:latin typeface="Calibri Light" panose="020F0302020204030204" pitchFamily="34" charset="0"/>
                <a:ea typeface="CMU Bright" panose="02000603000000000000" pitchFamily="2" charset="0"/>
                <a:cs typeface="Calibri Light" panose="020F0302020204030204" pitchFamily="34" charset="0"/>
                <a:sym typeface="Times New Roman" panose="02020603050405020304"/>
              </a:rPr>
              <a:t>Предзащита ВКР бакалавра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бакалаврская рабо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/>
          <p:cNvSpPr>
            <a:spLocks noGrp="1"/>
          </p:cNvSpPr>
          <p:nvPr>
            <p:ph type="body" sz="quarter" idx="11"/>
          </p:nvPr>
        </p:nvSpPr>
        <p:spPr>
          <a:xfrm>
            <a:off x="-1" y="1103410"/>
            <a:ext cx="9143999" cy="427746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2"/>
          </p:nvPr>
        </p:nvSpPr>
        <p:spPr>
          <a:xfrm>
            <a:off x="3911304" y="3326858"/>
            <a:ext cx="4345119" cy="1465634"/>
          </a:xfrm>
          <a:prstGeom prst="rect">
            <a:avLst/>
          </a:prstGeom>
        </p:spPr>
        <p:txBody>
          <a:bodyPr anchor="ctr"/>
          <a:lstStyle>
            <a:lvl1pPr algn="r">
              <a:defRPr sz="18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550" y="1609820"/>
            <a:ext cx="8070900" cy="163629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675665"/>
            <a:ext cx="9144000" cy="427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ru-RU" sz="2000" dirty="0">
                <a:solidFill>
                  <a:srgbClr val="3333B3"/>
                </a:solidFill>
                <a:latin typeface="Calibri Light" panose="020F0302020204030204" pitchFamily="34" charset="0"/>
                <a:ea typeface="CMU Bright" panose="02000603000000000000" pitchFamily="2" charset="0"/>
                <a:cs typeface="Calibri Light" panose="020F0302020204030204" pitchFamily="34" charset="0"/>
                <a:sym typeface="Times New Roman" panose="02020603050405020304"/>
              </a:rPr>
              <a:t>ВКР бакалавра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доклад магистерск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/>
          <p:cNvSpPr>
            <a:spLocks noGrp="1"/>
          </p:cNvSpPr>
          <p:nvPr>
            <p:ph type="body" sz="quarter" idx="11"/>
          </p:nvPr>
        </p:nvSpPr>
        <p:spPr>
          <a:xfrm>
            <a:off x="-1" y="1103410"/>
            <a:ext cx="9143999" cy="427746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2"/>
          </p:nvPr>
        </p:nvSpPr>
        <p:spPr>
          <a:xfrm>
            <a:off x="3911304" y="3326858"/>
            <a:ext cx="4345119" cy="1465634"/>
          </a:xfrm>
          <a:prstGeom prst="rect">
            <a:avLst/>
          </a:prstGeom>
        </p:spPr>
        <p:txBody>
          <a:bodyPr anchor="ctr"/>
          <a:lstStyle>
            <a:lvl1pPr algn="r">
              <a:defRPr sz="18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550" y="1609820"/>
            <a:ext cx="8070900" cy="163629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675665"/>
            <a:ext cx="9144000" cy="427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ru-RU" sz="2000" dirty="0">
                <a:solidFill>
                  <a:srgbClr val="3333B3"/>
                </a:solidFill>
                <a:latin typeface="Calibri Light" panose="020F0302020204030204" pitchFamily="34" charset="0"/>
                <a:ea typeface="CMU Bright" panose="02000603000000000000" pitchFamily="2" charset="0"/>
                <a:cs typeface="Calibri Light" panose="020F0302020204030204" pitchFamily="34" charset="0"/>
                <a:sym typeface="Times New Roman" panose="02020603050405020304"/>
              </a:rPr>
              <a:t>Доклад по теме магистерской диссертации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магистерская диссерта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/>
          <p:cNvSpPr>
            <a:spLocks noGrp="1"/>
          </p:cNvSpPr>
          <p:nvPr>
            <p:ph type="body" sz="quarter" idx="11"/>
          </p:nvPr>
        </p:nvSpPr>
        <p:spPr>
          <a:xfrm>
            <a:off x="-1" y="1103410"/>
            <a:ext cx="9143999" cy="427746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2"/>
          </p:nvPr>
        </p:nvSpPr>
        <p:spPr>
          <a:xfrm>
            <a:off x="3911304" y="3326858"/>
            <a:ext cx="4345119" cy="1465634"/>
          </a:xfrm>
          <a:prstGeom prst="rect">
            <a:avLst/>
          </a:prstGeom>
        </p:spPr>
        <p:txBody>
          <a:bodyPr anchor="ctr"/>
          <a:lstStyle>
            <a:lvl1pPr algn="r">
              <a:defRPr sz="18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550" y="1609820"/>
            <a:ext cx="8070900" cy="163629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675665"/>
            <a:ext cx="9144000" cy="427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ru-RU" sz="2000" dirty="0">
                <a:solidFill>
                  <a:srgbClr val="3333B3"/>
                </a:solidFill>
                <a:latin typeface="Calibri Light" panose="020F0302020204030204" pitchFamily="34" charset="0"/>
                <a:ea typeface="CMU Bright" panose="02000603000000000000" pitchFamily="2" charset="0"/>
                <a:cs typeface="Calibri Light" panose="020F0302020204030204" pitchFamily="34" charset="0"/>
                <a:sym typeface="Times New Roman" panose="02020603050405020304"/>
              </a:rPr>
              <a:t>Магистерская диссертация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общ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/>
          <p:cNvSpPr>
            <a:spLocks noGrp="1"/>
          </p:cNvSpPr>
          <p:nvPr>
            <p:ph type="body" sz="quarter" idx="11"/>
          </p:nvPr>
        </p:nvSpPr>
        <p:spPr>
          <a:xfrm>
            <a:off x="-1" y="1103410"/>
            <a:ext cx="9143999" cy="427746"/>
          </a:xfrm>
          <a:prstGeom prst="rect">
            <a:avLst/>
          </a:prstGeom>
        </p:spPr>
        <p:txBody>
          <a:bodyPr anchor="ctr"/>
          <a:lstStyle>
            <a:lvl1pPr algn="ctr">
              <a:defRPr sz="2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2"/>
          </p:nvPr>
        </p:nvSpPr>
        <p:spPr>
          <a:xfrm>
            <a:off x="3911304" y="3326858"/>
            <a:ext cx="4345119" cy="1465634"/>
          </a:xfrm>
          <a:prstGeom prst="rect">
            <a:avLst/>
          </a:prstGeom>
        </p:spPr>
        <p:txBody>
          <a:bodyPr anchor="ctr"/>
          <a:lstStyle>
            <a:lvl1pPr algn="r">
              <a:defRPr sz="18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550" y="1609820"/>
            <a:ext cx="8070900" cy="1636296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B24468F-6682-48AA-B5F4-BEF8E7F9833C}" type="datetimeFigureOut">
              <a:rPr lang="ru-RU" smtClean="0"/>
              <a:t>13.10.2026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E82897F-7A41-40D7-BC9E-F666B07C585D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0" y="317773"/>
            <a:ext cx="6096000" cy="635542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58519F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3" name="Shape 49"/>
          <p:cNvSpPr txBox="1">
            <a:spLocks noGrp="1"/>
          </p:cNvSpPr>
          <p:nvPr>
            <p:ph type="sldNum" idx="4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800"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Текст 8"/>
          <p:cNvSpPr>
            <a:spLocks noGrp="1"/>
          </p:cNvSpPr>
          <p:nvPr>
            <p:ph type="body" idx="1"/>
          </p:nvPr>
        </p:nvSpPr>
        <p:spPr>
          <a:xfrm>
            <a:off x="953311" y="1152475"/>
            <a:ext cx="7237378" cy="3673252"/>
          </a:xfrm>
          <a:prstGeom prst="rect">
            <a:avLst/>
          </a:prstGeom>
        </p:spPr>
        <p:txBody>
          <a:bodyPr/>
          <a:lstStyle>
            <a:lvl1pPr marL="0" indent="-217805">
              <a:defRPr/>
            </a:lvl1pPr>
          </a:lstStyle>
          <a:p>
            <a:pPr marL="139700" indent="0">
              <a:buNone/>
            </a:pPr>
            <a:endParaRPr lang="ru-RU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0" y="317773"/>
            <a:ext cx="6096000" cy="635542"/>
          </a:xfrm>
          <a:prstGeom prst="rect">
            <a:avLst/>
          </a:prstGeom>
        </p:spPr>
        <p:txBody>
          <a:bodyPr anchor="ctr"/>
          <a:lstStyle>
            <a:lvl1pPr algn="ctr">
              <a:defRPr sz="2400">
                <a:solidFill>
                  <a:srgbClr val="58519F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3" name="Shape 49"/>
          <p:cNvSpPr txBox="1">
            <a:spLocks noGrp="1"/>
          </p:cNvSpPr>
          <p:nvPr>
            <p:ph type="sldNum" idx="4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800"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Текст 8"/>
          <p:cNvSpPr>
            <a:spLocks noGrp="1"/>
          </p:cNvSpPr>
          <p:nvPr>
            <p:ph type="body" idx="1"/>
          </p:nvPr>
        </p:nvSpPr>
        <p:spPr>
          <a:xfrm>
            <a:off x="953311" y="1152475"/>
            <a:ext cx="7237378" cy="3673252"/>
          </a:xfrm>
          <a:prstGeom prst="rect">
            <a:avLst/>
          </a:prstGeom>
        </p:spPr>
        <p:txBody>
          <a:bodyPr/>
          <a:lstStyle>
            <a:lvl1pPr marL="0" indent="-217805">
              <a:defRPr/>
            </a:lvl1pPr>
          </a:lstStyle>
          <a:p>
            <a:pPr marL="139700" indent="0">
              <a:buNone/>
            </a:pPr>
            <a:endParaRPr lang="ru-RU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Пустой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800"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B24468F-6682-48AA-B5F4-BEF8E7F9833C}" type="datetimeFigureOut">
              <a:rPr lang="ru-RU" smtClean="0"/>
              <a:t>13.10.2026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jpeg"/><Relationship Id="rId5" Type="http://schemas.openxmlformats.org/officeDocument/2006/relationships/image" Target="../media/image2.jpe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title"/>
          </p:nvPr>
        </p:nvSpPr>
        <p:spPr>
          <a:xfrm>
            <a:off x="536550" y="1512545"/>
            <a:ext cx="8070900" cy="1636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ru-RU" dirty="0"/>
          </a:p>
        </p:txBody>
      </p:sp>
      <p:pic>
        <p:nvPicPr>
          <p:cNvPr id="13" name="Shape 55"/>
          <p:cNvPicPr preferRelativeResize="0"/>
          <p:nvPr userDrawn="1"/>
        </p:nvPicPr>
        <p:blipFill rotWithShape="1">
          <a:blip r:embed="rId9"/>
          <a:srcRect l="7093" r="7257"/>
          <a:stretch>
            <a:fillRect/>
          </a:stretch>
        </p:blipFill>
        <p:spPr>
          <a:xfrm>
            <a:off x="7010398" y="32425"/>
            <a:ext cx="2122232" cy="1103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Shape 54"/>
          <p:cNvPicPr preferRelativeResize="0"/>
          <p:nvPr userDrawn="1"/>
        </p:nvPicPr>
        <p:blipFill>
          <a:blip r:embed="rId10"/>
          <a:stretch>
            <a:fillRect/>
          </a:stretch>
        </p:blipFill>
        <p:spPr>
          <a:xfrm>
            <a:off x="121615" y="-1"/>
            <a:ext cx="1921193" cy="116300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ct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2800" b="0" i="0" u="none" strike="noStrike" cap="none">
          <a:solidFill>
            <a:srgbClr val="3333B3"/>
          </a:solidFill>
          <a:latin typeface="Calibri Light" panose="020F0302020204030204" pitchFamily="34" charset="0"/>
          <a:ea typeface="Calibri Light" panose="020F0302020204030204" pitchFamily="34" charset="0"/>
          <a:cs typeface="Calibri Light" panose="020F0302020204030204" pitchFamily="34" charset="0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hape 54"/>
          <p:cNvPicPr preferRelativeResize="0"/>
          <p:nvPr userDrawn="1"/>
        </p:nvPicPr>
        <p:blipFill rotWithShape="1">
          <a:blip r:embed="rId5"/>
          <a:srcRect t="13267" b="13267"/>
          <a:stretch>
            <a:fillRect/>
          </a:stretch>
        </p:blipFill>
        <p:spPr>
          <a:xfrm>
            <a:off x="43796" y="45396"/>
            <a:ext cx="1534160" cy="682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Shape 55"/>
          <p:cNvPicPr preferRelativeResize="0"/>
          <p:nvPr userDrawn="1"/>
        </p:nvPicPr>
        <p:blipFill rotWithShape="1">
          <a:blip r:embed="rId6"/>
          <a:srcRect l="6030" t="20250" r="8997" b="17457"/>
          <a:stretch>
            <a:fillRect/>
          </a:stretch>
        </p:blipFill>
        <p:spPr>
          <a:xfrm>
            <a:off x="7315130" y="51882"/>
            <a:ext cx="1772104" cy="57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hape 49"/>
          <p:cNvSpPr txBox="1">
            <a:spLocks noGrp="1"/>
          </p:cNvSpPr>
          <p:nvPr>
            <p:ph type="sldNum" idx="4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800"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transition/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71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image" Target="../media/image270.png"/><Relationship Id="rId7" Type="http://schemas.openxmlformats.org/officeDocument/2006/relationships/image" Target="../media/image31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0.png"/><Relationship Id="rId5" Type="http://schemas.openxmlformats.org/officeDocument/2006/relationships/image" Target="../media/image29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4.pn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1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2.jpeg"/><Relationship Id="rId9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54.png"/><Relationship Id="rId7" Type="http://schemas.openxmlformats.org/officeDocument/2006/relationships/image" Target="../media/image65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10.png"/><Relationship Id="rId5" Type="http://schemas.openxmlformats.org/officeDocument/2006/relationships/image" Target="../media/image610.png"/><Relationship Id="rId4" Type="http://schemas.openxmlformats.org/officeDocument/2006/relationships/image" Target="../media/image5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5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2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0.png"/><Relationship Id="rId5" Type="http://schemas.openxmlformats.org/officeDocument/2006/relationships/image" Target="../media/image170.png"/><Relationship Id="rId4" Type="http://schemas.openxmlformats.org/officeDocument/2006/relationships/image" Target="../media/image19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720.png"/><Relationship Id="rId7" Type="http://schemas.openxmlformats.org/officeDocument/2006/relationships/image" Target="../media/image85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4.png"/><Relationship Id="rId11" Type="http://schemas.openxmlformats.org/officeDocument/2006/relationships/image" Target="../media/image811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i.ytimg.com/vi/_M_iZb6k7Gc/maxresdefault.jpg" TargetMode="External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0.jpe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0.png"/><Relationship Id="rId3" Type="http://schemas.openxmlformats.org/officeDocument/2006/relationships/image" Target="../media/image820.png"/><Relationship Id="rId7" Type="http://schemas.openxmlformats.org/officeDocument/2006/relationships/image" Target="../media/image860.png"/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50.png"/><Relationship Id="rId5" Type="http://schemas.openxmlformats.org/officeDocument/2006/relationships/image" Target="../media/image840.png"/><Relationship Id="rId4" Type="http://schemas.openxmlformats.org/officeDocument/2006/relationships/image" Target="../media/image830.png"/><Relationship Id="rId9" Type="http://schemas.openxmlformats.org/officeDocument/2006/relationships/image" Target="../media/image88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23" y="1096494"/>
            <a:ext cx="8535496" cy="635542"/>
          </a:xfrm>
        </p:spPr>
        <p:txBody>
          <a:bodyPr/>
          <a:lstStyle/>
          <a:p>
            <a:r>
              <a:rPr lang="ru-RU" sz="4400" dirty="0"/>
              <a:t> Методы моделирования физических процессов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DF5A041-D010-3346-4765-0BAB5CE53531}"/>
              </a:ext>
            </a:extLst>
          </p:cNvPr>
          <p:cNvSpPr txBox="1">
            <a:spLocks/>
          </p:cNvSpPr>
          <p:nvPr/>
        </p:nvSpPr>
        <p:spPr>
          <a:xfrm>
            <a:off x="438561" y="2253979"/>
            <a:ext cx="8535496" cy="635542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400" b="0" i="0" u="none" strike="noStrike" cap="none">
                <a:solidFill>
                  <a:srgbClr val="58519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ru-RU" sz="4400" dirty="0"/>
              <a:t>Первая лекция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32672D-E0F6-131E-60A0-94E407D1132A}"/>
              </a:ext>
            </a:extLst>
          </p:cNvPr>
          <p:cNvSpPr txBox="1">
            <a:spLocks/>
          </p:cNvSpPr>
          <p:nvPr/>
        </p:nvSpPr>
        <p:spPr>
          <a:xfrm>
            <a:off x="2386870" y="3729235"/>
            <a:ext cx="8535496" cy="635542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400" b="0" i="0" u="none" strike="noStrike" cap="none">
                <a:solidFill>
                  <a:srgbClr val="58519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ru-RU" sz="2800" dirty="0"/>
              <a:t>Подготовил Козлов Алексей</a:t>
            </a:r>
          </a:p>
        </p:txBody>
      </p:sp>
    </p:spTree>
    <p:extLst>
      <p:ext uri="{BB962C8B-B14F-4D97-AF65-F5344CB8AC3E}">
        <p14:creationId xmlns:p14="http://schemas.microsoft.com/office/powerpoint/2010/main" val="77802369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E1859A-3A07-3B94-F7EE-57DE975BF796}"/>
              </a:ext>
            </a:extLst>
          </p:cNvPr>
          <p:cNvSpPr/>
          <p:nvPr/>
        </p:nvSpPr>
        <p:spPr>
          <a:xfrm>
            <a:off x="3571874" y="1174924"/>
            <a:ext cx="1885951" cy="403248"/>
          </a:xfrm>
          <a:prstGeom prst="rect">
            <a:avLst/>
          </a:prstGeom>
          <a:solidFill>
            <a:srgbClr val="89C6D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Численные методы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9AFD043-B595-E33F-14E2-F56AB71AC2DE}"/>
              </a:ext>
            </a:extLst>
          </p:cNvPr>
          <p:cNvSpPr/>
          <p:nvPr/>
        </p:nvSpPr>
        <p:spPr>
          <a:xfrm>
            <a:off x="250030" y="2767384"/>
            <a:ext cx="1885951" cy="403248"/>
          </a:xfrm>
          <a:prstGeom prst="rect">
            <a:avLst/>
          </a:prstGeom>
          <a:solidFill>
            <a:srgbClr val="89C6D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Интерполяция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0CF4CFA5-C55B-3584-5B60-B4A916641DF8}"/>
              </a:ext>
            </a:extLst>
          </p:cNvPr>
          <p:cNvCxnSpPr>
            <a:cxnSpLocks/>
          </p:cNvCxnSpPr>
          <p:nvPr/>
        </p:nvCxnSpPr>
        <p:spPr>
          <a:xfrm flipH="1">
            <a:off x="2382441" y="1578172"/>
            <a:ext cx="1668066" cy="19871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A387A0B-1098-BC87-78D6-E01932A82DF5}"/>
              </a:ext>
            </a:extLst>
          </p:cNvPr>
          <p:cNvSpPr/>
          <p:nvPr/>
        </p:nvSpPr>
        <p:spPr>
          <a:xfrm>
            <a:off x="1439465" y="3553348"/>
            <a:ext cx="1885951" cy="403248"/>
          </a:xfrm>
          <a:prstGeom prst="rect">
            <a:avLst/>
          </a:prstGeom>
          <a:solidFill>
            <a:srgbClr val="89C6D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Интегрирование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6724B785-7AAD-792E-8165-80FE6CA8E449}"/>
              </a:ext>
            </a:extLst>
          </p:cNvPr>
          <p:cNvCxnSpPr>
            <a:cxnSpLocks/>
          </p:cNvCxnSpPr>
          <p:nvPr/>
        </p:nvCxnSpPr>
        <p:spPr>
          <a:xfrm>
            <a:off x="4900533" y="1602617"/>
            <a:ext cx="640006" cy="232151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5866C77-8613-20AF-796F-821A002D1721}"/>
              </a:ext>
            </a:extLst>
          </p:cNvPr>
          <p:cNvSpPr/>
          <p:nvPr/>
        </p:nvSpPr>
        <p:spPr>
          <a:xfrm>
            <a:off x="4988520" y="3924128"/>
            <a:ext cx="1885951" cy="403248"/>
          </a:xfrm>
          <a:prstGeom prst="rect">
            <a:avLst/>
          </a:prstGeom>
          <a:solidFill>
            <a:srgbClr val="89C6D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Экстраполяция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E90C03AB-8035-02F4-1B1B-9EA5A4AB58DF}"/>
              </a:ext>
            </a:extLst>
          </p:cNvPr>
          <p:cNvCxnSpPr>
            <a:cxnSpLocks/>
          </p:cNvCxnSpPr>
          <p:nvPr/>
        </p:nvCxnSpPr>
        <p:spPr>
          <a:xfrm>
            <a:off x="5074444" y="1602132"/>
            <a:ext cx="1490662" cy="14982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E0710EC-E3CF-222C-0C66-CFD111D699B7}"/>
              </a:ext>
            </a:extLst>
          </p:cNvPr>
          <p:cNvSpPr/>
          <p:nvPr/>
        </p:nvSpPr>
        <p:spPr>
          <a:xfrm>
            <a:off x="5540539" y="3136778"/>
            <a:ext cx="3432573" cy="403248"/>
          </a:xfrm>
          <a:prstGeom prst="rect">
            <a:avLst/>
          </a:prstGeom>
          <a:solidFill>
            <a:srgbClr val="89C6D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Дифференцирование/</a:t>
            </a:r>
            <a:r>
              <a:rPr lang="ru-RU" dirty="0" err="1"/>
              <a:t>диффуры</a:t>
            </a:r>
            <a:r>
              <a:rPr lang="ru-RU" dirty="0"/>
              <a:t> 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753021" y="187447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ru-RU" sz="2400" dirty="0">
                <a:solidFill>
                  <a:srgbClr val="58519F"/>
                </a:solidFill>
              </a:rPr>
              <a:t>Численное моделирование. Зачем?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7893812-D575-9843-AD6E-AD5FF7243C28}"/>
              </a:ext>
            </a:extLst>
          </p:cNvPr>
          <p:cNvSpPr/>
          <p:nvPr/>
        </p:nvSpPr>
        <p:spPr>
          <a:xfrm>
            <a:off x="6408740" y="1946180"/>
            <a:ext cx="2130046" cy="403248"/>
          </a:xfrm>
          <a:prstGeom prst="rect">
            <a:avLst/>
          </a:prstGeom>
          <a:solidFill>
            <a:srgbClr val="89C6D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Машинное обучение 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E04310FC-5AE3-9D8D-000E-F67651FE1375}"/>
              </a:ext>
            </a:extLst>
          </p:cNvPr>
          <p:cNvCxnSpPr>
            <a:cxnSpLocks/>
          </p:cNvCxnSpPr>
          <p:nvPr/>
        </p:nvCxnSpPr>
        <p:spPr>
          <a:xfrm>
            <a:off x="5454253" y="1563612"/>
            <a:ext cx="954487" cy="4499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853FD6D-2192-4198-9E57-C40C83C4E770}"/>
              </a:ext>
            </a:extLst>
          </p:cNvPr>
          <p:cNvSpPr/>
          <p:nvPr/>
        </p:nvSpPr>
        <p:spPr>
          <a:xfrm>
            <a:off x="89281" y="1723984"/>
            <a:ext cx="2293160" cy="403248"/>
          </a:xfrm>
          <a:prstGeom prst="rect">
            <a:avLst/>
          </a:prstGeom>
          <a:solidFill>
            <a:srgbClr val="89C6D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Вычислительный </a:t>
            </a:r>
            <a:r>
              <a:rPr lang="ru-RU" dirty="0" err="1"/>
              <a:t>линал</a:t>
            </a:r>
            <a:endParaRPr lang="ru-RU" dirty="0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B7CBF042-65D1-7143-32B5-EB6F3B5AB318}"/>
              </a:ext>
            </a:extLst>
          </p:cNvPr>
          <p:cNvCxnSpPr>
            <a:cxnSpLocks/>
          </p:cNvCxnSpPr>
          <p:nvPr/>
        </p:nvCxnSpPr>
        <p:spPr>
          <a:xfrm flipH="1">
            <a:off x="2295868" y="1255491"/>
            <a:ext cx="1307594" cy="4351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72841B34-AF82-E9F8-B759-9ECB9732FF84}"/>
              </a:ext>
            </a:extLst>
          </p:cNvPr>
          <p:cNvCxnSpPr>
            <a:cxnSpLocks/>
          </p:cNvCxnSpPr>
          <p:nvPr/>
        </p:nvCxnSpPr>
        <p:spPr>
          <a:xfrm flipH="1">
            <a:off x="1933386" y="1578172"/>
            <a:ext cx="1638490" cy="11789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A73438A2-A8D2-31B1-3C85-401BBEFD8311}"/>
              </a:ext>
            </a:extLst>
          </p:cNvPr>
          <p:cNvCxnSpPr>
            <a:cxnSpLocks/>
          </p:cNvCxnSpPr>
          <p:nvPr/>
        </p:nvCxnSpPr>
        <p:spPr>
          <a:xfrm flipH="1">
            <a:off x="3849922" y="1563612"/>
            <a:ext cx="517280" cy="276376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C54F4C5-391A-7D14-5200-51484FA32796}"/>
              </a:ext>
            </a:extLst>
          </p:cNvPr>
          <p:cNvSpPr/>
          <p:nvPr/>
        </p:nvSpPr>
        <p:spPr>
          <a:xfrm>
            <a:off x="2752631" y="4326153"/>
            <a:ext cx="2147902" cy="403248"/>
          </a:xfrm>
          <a:prstGeom prst="rect">
            <a:avLst/>
          </a:prstGeom>
          <a:solidFill>
            <a:srgbClr val="89C6D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Случайные процессы</a:t>
            </a:r>
          </a:p>
        </p:txBody>
      </p:sp>
    </p:spTree>
    <p:extLst>
      <p:ext uri="{BB962C8B-B14F-4D97-AF65-F5344CB8AC3E}">
        <p14:creationId xmlns:p14="http://schemas.microsoft.com/office/powerpoint/2010/main" val="144835888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8E7DF-E514-7FE8-5FA0-C33EF66F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112" y="151099"/>
            <a:ext cx="6022180" cy="635542"/>
          </a:xfrm>
        </p:spPr>
        <p:txBody>
          <a:bodyPr/>
          <a:lstStyle/>
          <a:p>
            <a:r>
              <a:rPr lang="ru-RU" dirty="0"/>
              <a:t>Численное моделирование. Зачем?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2A92A25-04FD-A02E-D8B5-CA1EC84A8057}"/>
              </a:ext>
            </a:extLst>
          </p:cNvPr>
          <p:cNvSpPr/>
          <p:nvPr/>
        </p:nvSpPr>
        <p:spPr>
          <a:xfrm>
            <a:off x="8176973" y="3729963"/>
            <a:ext cx="381548" cy="3552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7">
            <a:extLst>
              <a:ext uri="{FF2B5EF4-FFF2-40B4-BE49-F238E27FC236}">
                <a16:creationId xmlns:a16="http://schemas.microsoft.com/office/drawing/2014/main" id="{322C7552-0926-FB75-2653-E13334D4F2BE}"/>
              </a:ext>
            </a:extLst>
          </p:cNvPr>
          <p:cNvSpPr/>
          <p:nvPr/>
        </p:nvSpPr>
        <p:spPr>
          <a:xfrm>
            <a:off x="5617752" y="3483332"/>
            <a:ext cx="3256542" cy="1065708"/>
          </a:xfrm>
          <a:prstGeom prst="roundRect">
            <a:avLst/>
          </a:prstGeom>
          <a:solidFill>
            <a:srgbClr val="95B3D7">
              <a:alpha val="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754084C4-59AC-2ED0-9EFB-673482A9FE7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fld id="{00000000-1234-1234-1234-123412341234}" type="slidenum">
              <a:rPr lang="ru" smtClean="0"/>
              <a:pPr/>
              <a:t>3</a:t>
            </a:fld>
            <a:endParaRPr lang="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9DBEFE-C5FB-835E-B308-83748402C9DA}"/>
              </a:ext>
            </a:extLst>
          </p:cNvPr>
          <p:cNvSpPr txBox="1"/>
          <p:nvPr/>
        </p:nvSpPr>
        <p:spPr>
          <a:xfrm>
            <a:off x="1027817" y="731905"/>
            <a:ext cx="6587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Решается система дифференциальных уравнений: кинетические уравнения, уравнение теплопроводности </a:t>
            </a:r>
            <a:r>
              <a:rPr lang="ru-RU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 </a:t>
            </a:r>
            <a:r>
              <a:rPr lang="ru-RU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уравнение Пуассона. </a:t>
            </a:r>
            <a:endParaRPr lang="ru-RU" sz="1600" kern="100" dirty="0">
              <a:effectLst/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12" name="Скругленный прямоугольник 27">
            <a:extLst>
              <a:ext uri="{FF2B5EF4-FFF2-40B4-BE49-F238E27FC236}">
                <a16:creationId xmlns:a16="http://schemas.microsoft.com/office/drawing/2014/main" id="{DB269129-52DE-3976-E519-0497F6381E36}"/>
              </a:ext>
            </a:extLst>
          </p:cNvPr>
          <p:cNvSpPr/>
          <p:nvPr/>
        </p:nvSpPr>
        <p:spPr>
          <a:xfrm>
            <a:off x="1027817" y="723423"/>
            <a:ext cx="6587557" cy="523221"/>
          </a:xfrm>
          <a:prstGeom prst="roundRect">
            <a:avLst/>
          </a:prstGeom>
          <a:solidFill>
            <a:srgbClr val="95B3D7">
              <a:alpha val="3000"/>
            </a:srgbClr>
          </a:solidFill>
          <a:ln w="6350">
            <a:solidFill>
              <a:srgbClr val="C4CD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Скругленный прямоугольник 3">
            <a:extLst>
              <a:ext uri="{FF2B5EF4-FFF2-40B4-BE49-F238E27FC236}">
                <a16:creationId xmlns:a16="http://schemas.microsoft.com/office/drawing/2014/main" id="{E84D24E4-DB9A-BBF3-ECD9-56E5EF728C14}"/>
              </a:ext>
            </a:extLst>
          </p:cNvPr>
          <p:cNvSpPr/>
          <p:nvPr/>
        </p:nvSpPr>
        <p:spPr>
          <a:xfrm>
            <a:off x="211346" y="3178345"/>
            <a:ext cx="1344356" cy="512755"/>
          </a:xfrm>
          <a:prstGeom prst="roundRect">
            <a:avLst/>
          </a:prstGeom>
          <a:solidFill>
            <a:srgbClr val="95B3D7">
              <a:alpha val="3000"/>
            </a:srgbClr>
          </a:solidFill>
          <a:ln w="6350">
            <a:solidFill>
              <a:srgbClr val="C4CD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7E5B7F0-E0A3-8C2A-E9BE-A0B4910BD8D9}"/>
                  </a:ext>
                </a:extLst>
              </p:cNvPr>
              <p:cNvSpPr txBox="1"/>
              <p:nvPr/>
            </p:nvSpPr>
            <p:spPr>
              <a:xfrm>
                <a:off x="211346" y="3290397"/>
                <a:ext cx="1465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7E5B7F0-E0A3-8C2A-E9BE-A0B4910BD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46" y="3290397"/>
                <a:ext cx="14652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CE6925-5E05-0D00-C386-CFD8E371096E}"/>
                  </a:ext>
                </a:extLst>
              </p:cNvPr>
              <p:cNvSpPr txBox="1"/>
              <p:nvPr/>
            </p:nvSpPr>
            <p:spPr>
              <a:xfrm>
                <a:off x="2416733" y="2243219"/>
                <a:ext cx="3545009" cy="4794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dirty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6CE6925-5E05-0D00-C386-CFD8E3710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733" y="2243219"/>
                <a:ext cx="3545009" cy="479427"/>
              </a:xfrm>
              <a:prstGeom prst="rect">
                <a:avLst/>
              </a:prstGeom>
              <a:blipFill>
                <a:blip r:embed="rId3"/>
                <a:stretch>
                  <a:fillRect l="-515" r="-1203" b="-25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Скругленный прямоугольник 7">
            <a:extLst>
              <a:ext uri="{FF2B5EF4-FFF2-40B4-BE49-F238E27FC236}">
                <a16:creationId xmlns:a16="http://schemas.microsoft.com/office/drawing/2014/main" id="{D8A2EB91-D4D9-6E4F-0415-8DF1B9C9A2C6}"/>
              </a:ext>
            </a:extLst>
          </p:cNvPr>
          <p:cNvSpPr/>
          <p:nvPr/>
        </p:nvSpPr>
        <p:spPr>
          <a:xfrm>
            <a:off x="2375920" y="2199960"/>
            <a:ext cx="3626634" cy="583680"/>
          </a:xfrm>
          <a:prstGeom prst="roundRect">
            <a:avLst/>
          </a:prstGeom>
          <a:solidFill>
            <a:srgbClr val="95B3D7">
              <a:alpha val="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Стрелка: вниз 16">
            <a:extLst>
              <a:ext uri="{FF2B5EF4-FFF2-40B4-BE49-F238E27FC236}">
                <a16:creationId xmlns:a16="http://schemas.microsoft.com/office/drawing/2014/main" id="{387E617A-425E-0A91-29F9-BDF140EE3552}"/>
              </a:ext>
            </a:extLst>
          </p:cNvPr>
          <p:cNvSpPr/>
          <p:nvPr/>
        </p:nvSpPr>
        <p:spPr>
          <a:xfrm rot="16200000">
            <a:off x="1819443" y="2363738"/>
            <a:ext cx="262494" cy="616037"/>
          </a:xfrm>
          <a:prstGeom prst="downArrow">
            <a:avLst/>
          </a:prstGeom>
          <a:solidFill>
            <a:srgbClr val="95B3D7"/>
          </a:solidFill>
          <a:ln>
            <a:solidFill>
              <a:srgbClr val="C4CD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0F9134-6FBC-AA08-8041-9A1571A18438}"/>
                  </a:ext>
                </a:extLst>
              </p:cNvPr>
              <p:cNvSpPr txBox="1"/>
              <p:nvPr/>
            </p:nvSpPr>
            <p:spPr>
              <a:xfrm>
                <a:off x="2436624" y="3294341"/>
                <a:ext cx="310456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С</m:t>
                          </m:r>
                          <m:r>
                            <a:rPr lang="ru-RU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ru-RU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m:rPr>
                              <m:sty m:val="p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i="1" dirty="0"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m:rPr>
                              <m:sty m:val="p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90F9134-6FBC-AA08-8041-9A1571A18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624" y="3294341"/>
                <a:ext cx="3104568" cy="215444"/>
              </a:xfrm>
              <a:prstGeom prst="rect">
                <a:avLst/>
              </a:prstGeom>
              <a:blipFill>
                <a:blip r:embed="rId4"/>
                <a:stretch>
                  <a:fillRect l="-982" r="-196" b="-3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Скругленный прямоугольник 7">
            <a:extLst>
              <a:ext uri="{FF2B5EF4-FFF2-40B4-BE49-F238E27FC236}">
                <a16:creationId xmlns:a16="http://schemas.microsoft.com/office/drawing/2014/main" id="{18211C24-B04B-DA4E-3619-65BA03CEFECC}"/>
              </a:ext>
            </a:extLst>
          </p:cNvPr>
          <p:cNvSpPr/>
          <p:nvPr/>
        </p:nvSpPr>
        <p:spPr>
          <a:xfrm>
            <a:off x="2352310" y="3230347"/>
            <a:ext cx="3200840" cy="362354"/>
          </a:xfrm>
          <a:prstGeom prst="roundRect">
            <a:avLst/>
          </a:prstGeom>
          <a:solidFill>
            <a:srgbClr val="95B3D7">
              <a:alpha val="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Стрелка: вниз 19">
            <a:extLst>
              <a:ext uri="{FF2B5EF4-FFF2-40B4-BE49-F238E27FC236}">
                <a16:creationId xmlns:a16="http://schemas.microsoft.com/office/drawing/2014/main" id="{9B5798BA-6478-2AE2-8934-3D193137FC91}"/>
              </a:ext>
            </a:extLst>
          </p:cNvPr>
          <p:cNvSpPr/>
          <p:nvPr/>
        </p:nvSpPr>
        <p:spPr>
          <a:xfrm rot="16200000">
            <a:off x="1822759" y="3104902"/>
            <a:ext cx="262494" cy="616037"/>
          </a:xfrm>
          <a:prstGeom prst="downArrow">
            <a:avLst/>
          </a:prstGeom>
          <a:solidFill>
            <a:srgbClr val="95B3D7"/>
          </a:solidFill>
          <a:ln>
            <a:solidFill>
              <a:srgbClr val="C4CD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Стрелка: вниз 20">
            <a:extLst>
              <a:ext uri="{FF2B5EF4-FFF2-40B4-BE49-F238E27FC236}">
                <a16:creationId xmlns:a16="http://schemas.microsoft.com/office/drawing/2014/main" id="{AE28DF3A-3FA7-9E80-F87D-F583BF2A8D50}"/>
              </a:ext>
            </a:extLst>
          </p:cNvPr>
          <p:cNvSpPr/>
          <p:nvPr/>
        </p:nvSpPr>
        <p:spPr>
          <a:xfrm rot="16200000">
            <a:off x="1826274" y="1423205"/>
            <a:ext cx="262494" cy="616037"/>
          </a:xfrm>
          <a:prstGeom prst="downArrow">
            <a:avLst/>
          </a:prstGeom>
          <a:solidFill>
            <a:srgbClr val="95B3D7"/>
          </a:solidFill>
          <a:ln>
            <a:solidFill>
              <a:srgbClr val="C4CD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Стрелка: вниз 21">
            <a:extLst>
              <a:ext uri="{FF2B5EF4-FFF2-40B4-BE49-F238E27FC236}">
                <a16:creationId xmlns:a16="http://schemas.microsoft.com/office/drawing/2014/main" id="{45C40219-907A-0AE6-9AAC-6311C77726CA}"/>
              </a:ext>
            </a:extLst>
          </p:cNvPr>
          <p:cNvSpPr/>
          <p:nvPr/>
        </p:nvSpPr>
        <p:spPr>
          <a:xfrm rot="16200000">
            <a:off x="1860792" y="3890488"/>
            <a:ext cx="262494" cy="616037"/>
          </a:xfrm>
          <a:prstGeom prst="downArrow">
            <a:avLst/>
          </a:prstGeom>
          <a:solidFill>
            <a:srgbClr val="95B3D7"/>
          </a:solidFill>
          <a:ln>
            <a:solidFill>
              <a:srgbClr val="C4CD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AE96E0A-514A-4684-43EF-EC263DE6BDA8}"/>
                  </a:ext>
                </a:extLst>
              </p:cNvPr>
              <p:cNvSpPr txBox="1"/>
              <p:nvPr/>
            </p:nvSpPr>
            <p:spPr>
              <a:xfrm>
                <a:off x="2530224" y="1580634"/>
                <a:ext cx="1472070" cy="2364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dirty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AE96E0A-514A-4684-43EF-EC263DE6B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0224" y="1580634"/>
                <a:ext cx="1472070" cy="236475"/>
              </a:xfrm>
              <a:prstGeom prst="rect">
                <a:avLst/>
              </a:prstGeom>
              <a:blipFill>
                <a:blip r:embed="rId5"/>
                <a:stretch>
                  <a:fillRect l="-2066" r="-3306" b="-230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Скругленный прямоугольник 7">
            <a:extLst>
              <a:ext uri="{FF2B5EF4-FFF2-40B4-BE49-F238E27FC236}">
                <a16:creationId xmlns:a16="http://schemas.microsoft.com/office/drawing/2014/main" id="{CE38F9E6-934A-085B-604B-E941B8A9F613}"/>
              </a:ext>
            </a:extLst>
          </p:cNvPr>
          <p:cNvSpPr/>
          <p:nvPr/>
        </p:nvSpPr>
        <p:spPr>
          <a:xfrm>
            <a:off x="2456515" y="1473800"/>
            <a:ext cx="1580610" cy="451294"/>
          </a:xfrm>
          <a:prstGeom prst="roundRect">
            <a:avLst/>
          </a:prstGeom>
          <a:solidFill>
            <a:srgbClr val="95B3D7">
              <a:alpha val="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77DCC74-2E11-1B93-5657-164C0C243ED1}"/>
                  </a:ext>
                </a:extLst>
              </p:cNvPr>
              <p:cNvSpPr txBox="1"/>
              <p:nvPr/>
            </p:nvSpPr>
            <p:spPr>
              <a:xfrm>
                <a:off x="2456515" y="3899461"/>
                <a:ext cx="2726644" cy="5228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77DCC74-2E11-1B93-5657-164C0C243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515" y="3899461"/>
                <a:ext cx="2726644" cy="522835"/>
              </a:xfrm>
              <a:prstGeom prst="rect">
                <a:avLst/>
              </a:prstGeom>
              <a:blipFill>
                <a:blip r:embed="rId6"/>
                <a:stretch>
                  <a:fillRect t="-147059" r="-27964" b="-2070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Скругленный прямоугольник 7">
            <a:extLst>
              <a:ext uri="{FF2B5EF4-FFF2-40B4-BE49-F238E27FC236}">
                <a16:creationId xmlns:a16="http://schemas.microsoft.com/office/drawing/2014/main" id="{450D8EAA-33F7-569A-8B89-F82274847D5A}"/>
              </a:ext>
            </a:extLst>
          </p:cNvPr>
          <p:cNvSpPr/>
          <p:nvPr/>
        </p:nvSpPr>
        <p:spPr>
          <a:xfrm>
            <a:off x="2456515" y="3836644"/>
            <a:ext cx="2672077" cy="583680"/>
          </a:xfrm>
          <a:prstGeom prst="roundRect">
            <a:avLst/>
          </a:prstGeom>
          <a:solidFill>
            <a:srgbClr val="95B3D7">
              <a:alpha val="3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3C4FC1-82C3-1BB9-8AD8-9740E384476D}"/>
                  </a:ext>
                </a:extLst>
              </p:cNvPr>
              <p:cNvSpPr txBox="1"/>
              <p:nvPr/>
            </p:nvSpPr>
            <p:spPr>
              <a:xfrm>
                <a:off x="6298299" y="1381851"/>
                <a:ext cx="2685520" cy="1802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где</a:t>
                </a:r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С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–</a:t>
                </a:r>
                <a:r>
                  <a:rPr lang="ru-RU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коэффициент теплоёмкости</a:t>
                </a:r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;</a:t>
                </a:r>
                <a:r>
                  <a:rPr lang="ru-RU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𝜅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– </a:t>
                </a:r>
                <a:r>
                  <a:rPr lang="ru-RU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коэффициент теплопроводности</a:t>
                </a:r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;</a:t>
                </a:r>
                <a:r>
                  <a:rPr lang="ru-RU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𝑞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– заряд электрона</a:t>
                </a:r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;</a:t>
                </a:r>
                <a:r>
                  <a:rPr lang="ru-RU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– </a:t>
                </a:r>
                <a:r>
                  <a:rPr lang="ru-RU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константа Больцмана</a:t>
                </a:r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;</a:t>
                </a:r>
                <a:r>
                  <a:rPr lang="ru-RU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𝑧</m:t>
                        </m:r>
                      </m:e>
                      <m:sub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– </a:t>
                </a:r>
                <a:r>
                  <a:rPr lang="ru-RU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заряд</a:t>
                </a:r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соответствующей частицы</a:t>
                </a:r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;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𝜎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– </a:t>
                </a:r>
                <a:r>
                  <a:rPr lang="ru-RU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проводимость</a:t>
                </a:r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;</a:t>
                </a:r>
                <a:r>
                  <a:rPr lang="ru-RU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𝐸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𝑏𝑓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𝐸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𝑏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en-US" sz="1200" dirty="0">
                    <a:solidFill>
                      <a:schemeClr val="tx1"/>
                    </a:solidFill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𝐸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𝑖𝑓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en-US" sz="1200" dirty="0">
                    <a:solidFill>
                      <a:schemeClr val="tx1"/>
                    </a:solidFill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𝐸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𝑖𝑟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– </a:t>
                </a:r>
                <a:r>
                  <a:rPr lang="ru-RU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барьерные энергии соответствующих реакций</a:t>
                </a:r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;</a:t>
                </a:r>
                <a:r>
                  <a:rPr lang="en-US" sz="1200" dirty="0">
                    <a:solidFill>
                      <a:schemeClr val="tx1"/>
                    </a:solidFill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𝑏𝑓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𝑏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</m:sub>
                    </m:sSub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</m:t>
                    </m:r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𝑖𝑓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– </a:t>
                </a:r>
                <a:r>
                  <a:rPr lang="ru-RU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дипольные момент</a:t>
                </a:r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ru-RU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соответственно.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E3C4FC1-82C3-1BB9-8AD8-9740E3844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299" y="1381851"/>
                <a:ext cx="2685520" cy="1802032"/>
              </a:xfrm>
              <a:prstGeom prst="rect">
                <a:avLst/>
              </a:prstGeom>
              <a:blipFill>
                <a:blip r:embed="rId7"/>
                <a:stretch>
                  <a:fillRect t="-339" b="-20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Правая фигурная скобка 27">
            <a:extLst>
              <a:ext uri="{FF2B5EF4-FFF2-40B4-BE49-F238E27FC236}">
                <a16:creationId xmlns:a16="http://schemas.microsoft.com/office/drawing/2014/main" id="{E777172C-272E-3106-66DD-1DE267F3E925}"/>
              </a:ext>
            </a:extLst>
          </p:cNvPr>
          <p:cNvSpPr/>
          <p:nvPr/>
        </p:nvSpPr>
        <p:spPr>
          <a:xfrm rot="5400000">
            <a:off x="5423126" y="2355620"/>
            <a:ext cx="260049" cy="825846"/>
          </a:xfrm>
          <a:prstGeom prst="rightBrace">
            <a:avLst/>
          </a:prstGeom>
          <a:ln w="28575">
            <a:solidFill>
              <a:srgbClr val="4C7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F71866C1-816F-D034-EC2D-2AEDDD79275A}"/>
              </a:ext>
            </a:extLst>
          </p:cNvPr>
          <p:cNvCxnSpPr>
            <a:stCxn id="28" idx="1"/>
          </p:cNvCxnSpPr>
          <p:nvPr/>
        </p:nvCxnSpPr>
        <p:spPr>
          <a:xfrm>
            <a:off x="5553151" y="2898568"/>
            <a:ext cx="457851" cy="588943"/>
          </a:xfrm>
          <a:prstGeom prst="straightConnector1">
            <a:avLst/>
          </a:prstGeom>
          <a:ln w="57150">
            <a:solidFill>
              <a:srgbClr val="4C79B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Скругленный прямоугольник 3">
            <a:extLst>
              <a:ext uri="{FF2B5EF4-FFF2-40B4-BE49-F238E27FC236}">
                <a16:creationId xmlns:a16="http://schemas.microsoft.com/office/drawing/2014/main" id="{30E739CF-290F-4D87-70AF-12B8A2E105AE}"/>
              </a:ext>
            </a:extLst>
          </p:cNvPr>
          <p:cNvSpPr/>
          <p:nvPr/>
        </p:nvSpPr>
        <p:spPr>
          <a:xfrm>
            <a:off x="160181" y="2365684"/>
            <a:ext cx="1344356" cy="512755"/>
          </a:xfrm>
          <a:prstGeom prst="roundRect">
            <a:avLst/>
          </a:prstGeom>
          <a:solidFill>
            <a:srgbClr val="95B3D7">
              <a:alpha val="3000"/>
            </a:srgbClr>
          </a:solidFill>
          <a:ln w="6350">
            <a:solidFill>
              <a:srgbClr val="C4CD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C3A168B-4D91-E108-6BC3-61D022FD6ED8}"/>
                  </a:ext>
                </a:extLst>
              </p:cNvPr>
              <p:cNvSpPr txBox="1"/>
              <p:nvPr/>
            </p:nvSpPr>
            <p:spPr>
              <a:xfrm>
                <a:off x="160181" y="2458738"/>
                <a:ext cx="1465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𝑤𝑠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C3A168B-4D91-E108-6BC3-61D022FD6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81" y="2458738"/>
                <a:ext cx="14652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Скругленный прямоугольник 3">
            <a:extLst>
              <a:ext uri="{FF2B5EF4-FFF2-40B4-BE49-F238E27FC236}">
                <a16:creationId xmlns:a16="http://schemas.microsoft.com/office/drawing/2014/main" id="{D4F15A00-4119-7419-FAE5-A771A2D49D47}"/>
              </a:ext>
            </a:extLst>
          </p:cNvPr>
          <p:cNvSpPr/>
          <p:nvPr/>
        </p:nvSpPr>
        <p:spPr>
          <a:xfrm>
            <a:off x="160181" y="1487580"/>
            <a:ext cx="1344356" cy="512755"/>
          </a:xfrm>
          <a:prstGeom prst="roundRect">
            <a:avLst/>
          </a:prstGeom>
          <a:solidFill>
            <a:srgbClr val="95B3D7">
              <a:alpha val="3000"/>
            </a:srgbClr>
          </a:solidFill>
          <a:ln w="6350">
            <a:solidFill>
              <a:srgbClr val="C4CD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B61244-FBF9-97CD-24B1-F639CC970DCB}"/>
                  </a:ext>
                </a:extLst>
              </p:cNvPr>
              <p:cNvSpPr txBox="1"/>
              <p:nvPr/>
            </p:nvSpPr>
            <p:spPr>
              <a:xfrm>
                <a:off x="160181" y="1580634"/>
                <a:ext cx="1465200" cy="391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𝐼𝑓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𝐼𝑓𝑂</m:t>
                          </m:r>
                        </m:sub>
                      </m:sSub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9B61244-FBF9-97CD-24B1-F639CC970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81" y="1580634"/>
                <a:ext cx="1465200" cy="391582"/>
              </a:xfrm>
              <a:prstGeom prst="rect">
                <a:avLst/>
              </a:prstGeom>
              <a:blipFill>
                <a:blip r:embed="rId9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Скругленный прямоугольник 3">
            <a:extLst>
              <a:ext uri="{FF2B5EF4-FFF2-40B4-BE49-F238E27FC236}">
                <a16:creationId xmlns:a16="http://schemas.microsoft.com/office/drawing/2014/main" id="{1F58F939-AF94-E533-C262-54A6203B1465}"/>
              </a:ext>
            </a:extLst>
          </p:cNvPr>
          <p:cNvSpPr/>
          <p:nvPr/>
        </p:nvSpPr>
        <p:spPr>
          <a:xfrm>
            <a:off x="211346" y="3178345"/>
            <a:ext cx="1344356" cy="512755"/>
          </a:xfrm>
          <a:prstGeom prst="roundRect">
            <a:avLst/>
          </a:prstGeom>
          <a:solidFill>
            <a:srgbClr val="95B3D7">
              <a:alpha val="3000"/>
            </a:srgbClr>
          </a:solidFill>
          <a:ln w="6350">
            <a:solidFill>
              <a:srgbClr val="C4CD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F8EE0AA-06EB-4E8B-CFA7-E73C46132CC6}"/>
                  </a:ext>
                </a:extLst>
              </p:cNvPr>
              <p:cNvSpPr txBox="1"/>
              <p:nvPr/>
            </p:nvSpPr>
            <p:spPr>
              <a:xfrm>
                <a:off x="211346" y="3290397"/>
                <a:ext cx="1465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F8EE0AA-06EB-4E8B-CFA7-E73C46132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46" y="3290397"/>
                <a:ext cx="14652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Скругленный прямоугольник 3">
            <a:extLst>
              <a:ext uri="{FF2B5EF4-FFF2-40B4-BE49-F238E27FC236}">
                <a16:creationId xmlns:a16="http://schemas.microsoft.com/office/drawing/2014/main" id="{AD756664-784B-F92B-9A90-24E03D50DED5}"/>
              </a:ext>
            </a:extLst>
          </p:cNvPr>
          <p:cNvSpPr/>
          <p:nvPr/>
        </p:nvSpPr>
        <p:spPr>
          <a:xfrm>
            <a:off x="184302" y="3951767"/>
            <a:ext cx="1344356" cy="512755"/>
          </a:xfrm>
          <a:prstGeom prst="roundRect">
            <a:avLst/>
          </a:prstGeom>
          <a:solidFill>
            <a:srgbClr val="95B3D7">
              <a:alpha val="3000"/>
            </a:srgbClr>
          </a:solidFill>
          <a:ln w="6350">
            <a:solidFill>
              <a:srgbClr val="C4CD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83E5D4-7465-3D26-A728-464ECCEEAEDE}"/>
                  </a:ext>
                </a:extLst>
              </p:cNvPr>
              <p:cNvSpPr txBox="1"/>
              <p:nvPr/>
            </p:nvSpPr>
            <p:spPr>
              <a:xfrm>
                <a:off x="184302" y="4044821"/>
                <a:ext cx="1465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83E5D4-7465-3D26-A728-464ECCEEA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02" y="4044821"/>
                <a:ext cx="1465200" cy="369332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20C4634-A6DA-40FD-C18F-641CC2F15172}"/>
                  </a:ext>
                </a:extLst>
              </p:cNvPr>
              <p:cNvSpPr txBox="1"/>
              <p:nvPr/>
            </p:nvSpPr>
            <p:spPr>
              <a:xfrm>
                <a:off x="4934046" y="3509785"/>
                <a:ext cx="4623954" cy="1202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𝑤𝑠</m:t>
                              </m:r>
                            </m:sub>
                          </m:sSub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𝑏𝑓</m:t>
                          </m:r>
                        </m:sub>
                      </m:sSub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𝑏𝑓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∓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𝑏𝑓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)/(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𝑤𝑠</m:t>
                              </m:r>
                            </m:sub>
                          </m:sSub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𝑏𝑓</m:t>
                          </m:r>
                        </m:sub>
                      </m:sSub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𝑏𝑓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𝑏𝑅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)/(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ru-RU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𝐼𝑓𝑂</m:t>
                              </m:r>
                            </m:sub>
                          </m:sSub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𝐼𝑓</m:t>
                              </m:r>
                            </m:sub>
                          </m:sSub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𝑏𝑓</m:t>
                          </m:r>
                        </m:sub>
                      </m:sSub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𝑏𝑓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±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)/(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ru-RU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𝐼𝑓𝑂</m:t>
                              </m:r>
                            </m:sub>
                          </m:sSub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𝐼𝑓</m:t>
                              </m:r>
                            </m:sub>
                          </m:sSub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𝑏𝑓</m:t>
                          </m:r>
                        </m:sub>
                      </m:sSub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𝑏𝑓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∓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𝑖𝑟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)/(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ru-RU" sz="1200" dirty="0"/>
              </a:p>
              <a:p>
                <a:endParaRPr lang="ru-RU" sz="1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20C4634-A6DA-40FD-C18F-641CC2F15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046" y="3509785"/>
                <a:ext cx="4623954" cy="120212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C663F9BC-810E-BB95-1E93-C28D5414D0B3}"/>
              </a:ext>
            </a:extLst>
          </p:cNvPr>
          <p:cNvSpPr txBox="1"/>
          <p:nvPr/>
        </p:nvSpPr>
        <p:spPr>
          <a:xfrm>
            <a:off x="-69481" y="4971416"/>
            <a:ext cx="89892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 err="1">
                <a:solidFill>
                  <a:srgbClr val="222222"/>
                </a:solidFill>
                <a:latin typeface="Arial" panose="020B0604020202020204" pitchFamily="34" charset="0"/>
              </a:rPr>
              <a:t>Hirchaou</a:t>
            </a:r>
            <a:r>
              <a:rPr lang="en-US" sz="600" dirty="0">
                <a:solidFill>
                  <a:srgbClr val="222222"/>
                </a:solidFill>
                <a:latin typeface="Arial" panose="020B0604020202020204" pitchFamily="34" charset="0"/>
              </a:rPr>
              <a:t> Y. et al. Advanced TCAD Modeling of </a:t>
            </a:r>
            <a:r>
              <a:rPr lang="en-US" sz="600" dirty="0" err="1">
                <a:solidFill>
                  <a:srgbClr val="222222"/>
                </a:solidFill>
                <a:latin typeface="Arial" panose="020B0604020202020204" pitchFamily="34" charset="0"/>
              </a:rPr>
              <a:t>HfO</a:t>
            </a:r>
            <a:r>
              <a:rPr lang="en-US" sz="600" dirty="0">
                <a:solidFill>
                  <a:srgbClr val="222222"/>
                </a:solidFill>
                <a:latin typeface="Arial" panose="020B0604020202020204" pitchFamily="34" charset="0"/>
              </a:rPr>
              <a:t> 2-based ReRAM: Coupling Redox Reactions and Thermal Effects //2023 International Conference on Simulation of Semiconductor Processes and Devices (SISPAD). – IEEE, 2023. – С. 333-336.</a:t>
            </a:r>
            <a:endParaRPr lang="ru-RU" sz="6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99626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Программное обеспечение</a:t>
            </a:r>
            <a:r>
              <a:rPr lang="en-US" sz="2400" dirty="0">
                <a:solidFill>
                  <a:srgbClr val="58519F"/>
                </a:solidFill>
              </a:rPr>
              <a:t> (1/3)</a:t>
            </a:r>
            <a:r>
              <a:rPr lang="ru-RU" sz="2400" dirty="0">
                <a:solidFill>
                  <a:srgbClr val="58519F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D70A3D-503D-E741-EDB6-D06E32870CB5}"/>
              </a:ext>
            </a:extLst>
          </p:cNvPr>
          <p:cNvSpPr txBox="1"/>
          <p:nvPr/>
        </p:nvSpPr>
        <p:spPr>
          <a:xfrm>
            <a:off x="3687150" y="920978"/>
            <a:ext cx="694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tx1"/>
                </a:solidFill>
              </a:rPr>
              <a:t>ПО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25C9E20-4B56-6EBF-8C59-FDB8C161528C}"/>
              </a:ext>
            </a:extLst>
          </p:cNvPr>
          <p:cNvSpPr/>
          <p:nvPr/>
        </p:nvSpPr>
        <p:spPr>
          <a:xfrm>
            <a:off x="3712834" y="912952"/>
            <a:ext cx="642656" cy="46166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59EB1E-DA64-DA36-B182-2A38BB3FFCB2}"/>
              </a:ext>
            </a:extLst>
          </p:cNvPr>
          <p:cNvSpPr txBox="1"/>
          <p:nvPr/>
        </p:nvSpPr>
        <p:spPr>
          <a:xfrm>
            <a:off x="122842" y="2148890"/>
            <a:ext cx="2886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CAE (Computer-Aided Engineering)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746A00B-2D16-9581-D010-10C804816EE3}"/>
              </a:ext>
            </a:extLst>
          </p:cNvPr>
          <p:cNvSpPr/>
          <p:nvPr/>
        </p:nvSpPr>
        <p:spPr>
          <a:xfrm>
            <a:off x="380415" y="2110085"/>
            <a:ext cx="2370955" cy="6235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Соединитель: уступ 15">
            <a:extLst>
              <a:ext uri="{FF2B5EF4-FFF2-40B4-BE49-F238E27FC236}">
                <a16:creationId xmlns:a16="http://schemas.microsoft.com/office/drawing/2014/main" id="{C14C7E39-876F-0912-A184-9AEAB2D80431}"/>
              </a:ext>
            </a:extLst>
          </p:cNvPr>
          <p:cNvCxnSpPr>
            <a:cxnSpLocks/>
            <a:stCxn id="6" idx="1"/>
            <a:endCxn id="13" idx="0"/>
          </p:cNvCxnSpPr>
          <p:nvPr/>
        </p:nvCxnSpPr>
        <p:spPr>
          <a:xfrm rot="10800000" flipV="1">
            <a:off x="1565894" y="1151811"/>
            <a:ext cx="2121257" cy="958274"/>
          </a:xfrm>
          <a:prstGeom prst="bentConnector2">
            <a:avLst/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5DD9FC5-A750-1357-758A-00E5E8B183F0}"/>
              </a:ext>
            </a:extLst>
          </p:cNvPr>
          <p:cNvSpPr txBox="1"/>
          <p:nvPr/>
        </p:nvSpPr>
        <p:spPr>
          <a:xfrm>
            <a:off x="746969" y="4158970"/>
            <a:ext cx="2886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CAD (Computer-Aided Design) 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FE75052A-046B-0993-63C5-291083819D15}"/>
              </a:ext>
            </a:extLst>
          </p:cNvPr>
          <p:cNvSpPr/>
          <p:nvPr/>
        </p:nvSpPr>
        <p:spPr>
          <a:xfrm>
            <a:off x="1004542" y="4120165"/>
            <a:ext cx="2370955" cy="6235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487366-1708-710A-54B9-2B17AE3E6DC8}"/>
              </a:ext>
            </a:extLst>
          </p:cNvPr>
          <p:cNvSpPr txBox="1"/>
          <p:nvPr/>
        </p:nvSpPr>
        <p:spPr>
          <a:xfrm>
            <a:off x="2751370" y="2776483"/>
            <a:ext cx="28861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EDA (Electronic Design Automation)</a:t>
            </a:r>
            <a:endParaRPr lang="ru-RU" sz="1050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B0A6484F-4B52-DBD4-801C-03A5B063EDD3}"/>
              </a:ext>
            </a:extLst>
          </p:cNvPr>
          <p:cNvSpPr/>
          <p:nvPr/>
        </p:nvSpPr>
        <p:spPr>
          <a:xfrm>
            <a:off x="3008943" y="2737678"/>
            <a:ext cx="2370955" cy="6235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Соединитель: уступ 27">
            <a:extLst>
              <a:ext uri="{FF2B5EF4-FFF2-40B4-BE49-F238E27FC236}">
                <a16:creationId xmlns:a16="http://schemas.microsoft.com/office/drawing/2014/main" id="{1A4D13BA-BD7B-027A-27B5-3734083A6364}"/>
              </a:ext>
            </a:extLst>
          </p:cNvPr>
          <p:cNvCxnSpPr>
            <a:cxnSpLocks/>
            <a:endCxn id="27" idx="0"/>
          </p:cNvCxnSpPr>
          <p:nvPr/>
        </p:nvCxnSpPr>
        <p:spPr>
          <a:xfrm rot="16200000" flipH="1">
            <a:off x="3415493" y="1958749"/>
            <a:ext cx="1363061" cy="194795"/>
          </a:xfrm>
          <a:prstGeom prst="bentConnector3">
            <a:avLst>
              <a:gd name="adj1" fmla="val 50000"/>
            </a:avLst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Соединитель: уступ 32">
            <a:extLst>
              <a:ext uri="{FF2B5EF4-FFF2-40B4-BE49-F238E27FC236}">
                <a16:creationId xmlns:a16="http://schemas.microsoft.com/office/drawing/2014/main" id="{9DBAE17A-23AB-5BEE-A02C-A7C9EB34A864}"/>
              </a:ext>
            </a:extLst>
          </p:cNvPr>
          <p:cNvCxnSpPr>
            <a:cxnSpLocks/>
            <a:stCxn id="8" idx="1"/>
          </p:cNvCxnSpPr>
          <p:nvPr/>
        </p:nvCxnSpPr>
        <p:spPr>
          <a:xfrm rot="10800000" flipV="1">
            <a:off x="2899162" y="1143785"/>
            <a:ext cx="813673" cy="2976380"/>
          </a:xfrm>
          <a:prstGeom prst="bentConnector2">
            <a:avLst/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Соединитель: уступ 34">
            <a:extLst>
              <a:ext uri="{FF2B5EF4-FFF2-40B4-BE49-F238E27FC236}">
                <a16:creationId xmlns:a16="http://schemas.microsoft.com/office/drawing/2014/main" id="{081E78EF-947F-F29D-E8FE-E77B1C665019}"/>
              </a:ext>
            </a:extLst>
          </p:cNvPr>
          <p:cNvCxnSpPr>
            <a:cxnSpLocks/>
            <a:stCxn id="8" idx="3"/>
            <a:endCxn id="39" idx="0"/>
          </p:cNvCxnSpPr>
          <p:nvPr/>
        </p:nvCxnSpPr>
        <p:spPr>
          <a:xfrm>
            <a:off x="4355490" y="1143785"/>
            <a:ext cx="1636665" cy="2873297"/>
          </a:xfrm>
          <a:prstGeom prst="bentConnector2">
            <a:avLst/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681489D-4FB9-5319-05FB-A7BB2EA03B57}"/>
              </a:ext>
            </a:extLst>
          </p:cNvPr>
          <p:cNvSpPr txBox="1"/>
          <p:nvPr/>
        </p:nvSpPr>
        <p:spPr>
          <a:xfrm>
            <a:off x="4654360" y="4024912"/>
            <a:ext cx="2675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TCAD (Technology CAD)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3AF7218F-F217-F707-BE95-6179C0C7C988}"/>
              </a:ext>
            </a:extLst>
          </p:cNvPr>
          <p:cNvSpPr/>
          <p:nvPr/>
        </p:nvSpPr>
        <p:spPr>
          <a:xfrm>
            <a:off x="4806677" y="4017082"/>
            <a:ext cx="2370955" cy="6235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" name="Соединитель: уступ 2">
            <a:extLst>
              <a:ext uri="{FF2B5EF4-FFF2-40B4-BE49-F238E27FC236}">
                <a16:creationId xmlns:a16="http://schemas.microsoft.com/office/drawing/2014/main" id="{84F7AD7A-BD64-5137-AF39-0BA353F2BC11}"/>
              </a:ext>
            </a:extLst>
          </p:cNvPr>
          <p:cNvCxnSpPr>
            <a:cxnSpLocks/>
            <a:stCxn id="8" idx="3"/>
            <a:endCxn id="7" idx="0"/>
          </p:cNvCxnSpPr>
          <p:nvPr/>
        </p:nvCxnSpPr>
        <p:spPr>
          <a:xfrm>
            <a:off x="4355490" y="1143785"/>
            <a:ext cx="3308194" cy="674109"/>
          </a:xfrm>
          <a:prstGeom prst="bentConnector2">
            <a:avLst/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19D1AA8-9960-2505-936A-40F7B87AEB5B}"/>
              </a:ext>
            </a:extLst>
          </p:cNvPr>
          <p:cNvSpPr txBox="1"/>
          <p:nvPr/>
        </p:nvSpPr>
        <p:spPr>
          <a:xfrm>
            <a:off x="6168560" y="1817894"/>
            <a:ext cx="2990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chemeClr val="tx1"/>
                </a:solidFill>
              </a:rPr>
              <a:t>Узкоспециализированный софт (</a:t>
            </a:r>
            <a:r>
              <a:rPr lang="en-US" sz="1800" dirty="0">
                <a:solidFill>
                  <a:schemeClr val="tx1"/>
                </a:solidFill>
              </a:rPr>
              <a:t>LAMMPS </a:t>
            </a:r>
            <a:r>
              <a:rPr lang="ru-RU" sz="1800" dirty="0">
                <a:solidFill>
                  <a:schemeClr val="tx1"/>
                </a:solidFill>
              </a:rPr>
              <a:t>и др.)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21AC8C6-C621-8C54-1E7C-0354F41E6B76}"/>
              </a:ext>
            </a:extLst>
          </p:cNvPr>
          <p:cNvSpPr/>
          <p:nvPr/>
        </p:nvSpPr>
        <p:spPr>
          <a:xfrm>
            <a:off x="6244590" y="1817894"/>
            <a:ext cx="2827020" cy="6235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98857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59EB1E-DA64-DA36-B182-2A38BB3FFCB2}"/>
              </a:ext>
            </a:extLst>
          </p:cNvPr>
          <p:cNvSpPr txBox="1"/>
          <p:nvPr/>
        </p:nvSpPr>
        <p:spPr>
          <a:xfrm>
            <a:off x="2117771" y="1226794"/>
            <a:ext cx="20916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CAE (Computer-Aided Engineering)</a:t>
            </a:r>
            <a:endParaRPr lang="ru-RU" sz="1600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746A00B-2D16-9581-D010-10C804816EE3}"/>
              </a:ext>
            </a:extLst>
          </p:cNvPr>
          <p:cNvSpPr/>
          <p:nvPr/>
        </p:nvSpPr>
        <p:spPr>
          <a:xfrm>
            <a:off x="2099887" y="1211641"/>
            <a:ext cx="2091692" cy="6235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DD9FC5-A750-1357-758A-00E5E8B183F0}"/>
              </a:ext>
            </a:extLst>
          </p:cNvPr>
          <p:cNvSpPr txBox="1"/>
          <p:nvPr/>
        </p:nvSpPr>
        <p:spPr>
          <a:xfrm>
            <a:off x="0" y="1236526"/>
            <a:ext cx="2012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CAD (</a:t>
            </a:r>
            <a:r>
              <a:rPr lang="en-US" dirty="0"/>
              <a:t>Computer-Aided</a:t>
            </a:r>
            <a:r>
              <a:rPr lang="en-US" sz="1600" dirty="0"/>
              <a:t> </a:t>
            </a:r>
            <a:r>
              <a:rPr lang="en-US" dirty="0"/>
              <a:t>Design)</a:t>
            </a:r>
            <a:r>
              <a:rPr lang="en-US" sz="1600" dirty="0"/>
              <a:t> 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FE75052A-046B-0993-63C5-291083819D15}"/>
              </a:ext>
            </a:extLst>
          </p:cNvPr>
          <p:cNvSpPr/>
          <p:nvPr/>
        </p:nvSpPr>
        <p:spPr>
          <a:xfrm>
            <a:off x="192715" y="1211857"/>
            <a:ext cx="1625219" cy="6235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487366-1708-710A-54B9-2B17AE3E6DC8}"/>
              </a:ext>
            </a:extLst>
          </p:cNvPr>
          <p:cNvSpPr txBox="1"/>
          <p:nvPr/>
        </p:nvSpPr>
        <p:spPr>
          <a:xfrm>
            <a:off x="4666886" y="1222936"/>
            <a:ext cx="20868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EDA (Electronic Design Automation)</a:t>
            </a:r>
            <a:endParaRPr lang="ru-RU" sz="1600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B0A6484F-4B52-DBD4-801C-03A5B063EDD3}"/>
              </a:ext>
            </a:extLst>
          </p:cNvPr>
          <p:cNvSpPr/>
          <p:nvPr/>
        </p:nvSpPr>
        <p:spPr>
          <a:xfrm>
            <a:off x="4572000" y="1217123"/>
            <a:ext cx="2181745" cy="6235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81489D-4FB9-5319-05FB-A7BB2EA03B57}"/>
              </a:ext>
            </a:extLst>
          </p:cNvPr>
          <p:cNvSpPr txBox="1"/>
          <p:nvPr/>
        </p:nvSpPr>
        <p:spPr>
          <a:xfrm>
            <a:off x="6955420" y="1250662"/>
            <a:ext cx="19958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TCAD (Technology CAD)</a:t>
            </a:r>
            <a:endParaRPr lang="ru-RU" sz="1600" dirty="0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3AF7218F-F217-F707-BE95-6179C0C7C988}"/>
              </a:ext>
            </a:extLst>
          </p:cNvPr>
          <p:cNvSpPr/>
          <p:nvPr/>
        </p:nvSpPr>
        <p:spPr>
          <a:xfrm>
            <a:off x="6989747" y="1222936"/>
            <a:ext cx="1927213" cy="6235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438E6-0C5C-6CD4-44AA-205C789A5F4F}"/>
              </a:ext>
            </a:extLst>
          </p:cNvPr>
          <p:cNvSpPr txBox="1"/>
          <p:nvPr/>
        </p:nvSpPr>
        <p:spPr>
          <a:xfrm>
            <a:off x="192715" y="1980144"/>
            <a:ext cx="155349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Создание точных 2D/3D чертежей, твердотельных моделей зданий, деталей и механизмов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B08EE-946E-DB6D-83A4-7A30CF202532}"/>
              </a:ext>
            </a:extLst>
          </p:cNvPr>
          <p:cNvSpPr txBox="1"/>
          <p:nvPr/>
        </p:nvSpPr>
        <p:spPr>
          <a:xfrm>
            <a:off x="-73112" y="3709110"/>
            <a:ext cx="22014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Примеры: 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AutoCAD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Autodesk Inventor</a:t>
            </a:r>
            <a:endParaRPr lang="ru-RU" dirty="0"/>
          </a:p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7E6212-3EFE-3738-8E3A-5FA5D0001C0B}"/>
              </a:ext>
            </a:extLst>
          </p:cNvPr>
          <p:cNvSpPr txBox="1"/>
          <p:nvPr/>
        </p:nvSpPr>
        <p:spPr>
          <a:xfrm>
            <a:off x="2183399" y="2080207"/>
            <a:ext cx="19246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 err="1"/>
              <a:t>Мультифизический</a:t>
            </a:r>
            <a:r>
              <a:rPr lang="ru-RU" dirty="0"/>
              <a:t> анализ и расчет параметров системы: тепла, электрофизики, газодинамики и др.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9B78BD-6323-132E-37C9-E93D4D06AF49}"/>
              </a:ext>
            </a:extLst>
          </p:cNvPr>
          <p:cNvSpPr txBox="1"/>
          <p:nvPr/>
        </p:nvSpPr>
        <p:spPr>
          <a:xfrm>
            <a:off x="2099887" y="3697772"/>
            <a:ext cx="22014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Примеры: 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Ansys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COMSOL</a:t>
            </a:r>
            <a:endParaRPr lang="ru-RU" dirty="0"/>
          </a:p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F3E22A-386F-074B-C55D-C235E10A1DB4}"/>
              </a:ext>
            </a:extLst>
          </p:cNvPr>
          <p:cNvSpPr txBox="1"/>
          <p:nvPr/>
        </p:nvSpPr>
        <p:spPr>
          <a:xfrm>
            <a:off x="4662386" y="2311034"/>
            <a:ext cx="20009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/>
              <a:t>Проектирование электронных схем и печатных плат.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A8B43C9-B1D9-46CD-8786-5089CD2A8FBE}"/>
              </a:ext>
            </a:extLst>
          </p:cNvPr>
          <p:cNvSpPr/>
          <p:nvPr/>
        </p:nvSpPr>
        <p:spPr>
          <a:xfrm>
            <a:off x="107306" y="3723247"/>
            <a:ext cx="1919999" cy="7226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0CBA27FE-7C02-524F-D4A4-C14836A562A4}"/>
              </a:ext>
            </a:extLst>
          </p:cNvPr>
          <p:cNvSpPr/>
          <p:nvPr/>
        </p:nvSpPr>
        <p:spPr>
          <a:xfrm>
            <a:off x="2381328" y="3723247"/>
            <a:ext cx="1630964" cy="7226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441556-C992-A9AE-7F36-D3BAA99C09E4}"/>
              </a:ext>
            </a:extLst>
          </p:cNvPr>
          <p:cNvSpPr txBox="1"/>
          <p:nvPr/>
        </p:nvSpPr>
        <p:spPr>
          <a:xfrm>
            <a:off x="4561234" y="3703294"/>
            <a:ext cx="22014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Примеры: 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Cadence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Synopsys</a:t>
            </a:r>
            <a:endParaRPr lang="ru-RU" dirty="0"/>
          </a:p>
          <a:p>
            <a:pPr algn="ctr"/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94A85115-9F47-C849-5AF1-7927F7FAABFA}"/>
              </a:ext>
            </a:extLst>
          </p:cNvPr>
          <p:cNvSpPr/>
          <p:nvPr/>
        </p:nvSpPr>
        <p:spPr>
          <a:xfrm>
            <a:off x="4842675" y="3728769"/>
            <a:ext cx="1630964" cy="72265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82EBC0-765E-9766-C545-963ABC69BB95}"/>
              </a:ext>
            </a:extLst>
          </p:cNvPr>
          <p:cNvSpPr txBox="1"/>
          <p:nvPr/>
        </p:nvSpPr>
        <p:spPr>
          <a:xfrm>
            <a:off x="6663357" y="2027838"/>
            <a:ext cx="244849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Моделирование технологических процессов производства полупроводниковых приборов (транзисторов, диодов, микросхем)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8D044E-2120-7554-D07A-192373A06C0B}"/>
              </a:ext>
            </a:extLst>
          </p:cNvPr>
          <p:cNvSpPr txBox="1"/>
          <p:nvPr/>
        </p:nvSpPr>
        <p:spPr>
          <a:xfrm>
            <a:off x="6851217" y="3683635"/>
            <a:ext cx="181591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Примеры: 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 err="1"/>
              <a:t>Silvaco</a:t>
            </a:r>
            <a:r>
              <a:rPr lang="en-US" dirty="0"/>
              <a:t> TCAD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Synopsys </a:t>
            </a:r>
            <a:r>
              <a:rPr lang="en-US" dirty="0" err="1"/>
              <a:t>Sentaurus</a:t>
            </a:r>
            <a:endParaRPr lang="ru-RU" dirty="0"/>
          </a:p>
          <a:p>
            <a:pPr algn="ctr"/>
            <a:endParaRPr lang="ru-RU" dirty="0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6D27237-D0FF-39E1-51A1-35663DBF004F}"/>
              </a:ext>
            </a:extLst>
          </p:cNvPr>
          <p:cNvSpPr/>
          <p:nvPr/>
        </p:nvSpPr>
        <p:spPr>
          <a:xfrm>
            <a:off x="6952248" y="3683635"/>
            <a:ext cx="1630964" cy="97958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9F57B01-6A1F-D4BA-3A67-25A53D4D00E8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Программное обеспечение</a:t>
            </a:r>
            <a:r>
              <a:rPr lang="en-US" sz="2400" dirty="0">
                <a:solidFill>
                  <a:srgbClr val="58519F"/>
                </a:solidFill>
              </a:rPr>
              <a:t> (2/3)</a:t>
            </a:r>
            <a:r>
              <a:rPr lang="ru-RU" sz="2400" dirty="0">
                <a:solidFill>
                  <a:srgbClr val="58519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342660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34D5AE2-C14C-004A-6090-08FE57CEDB9C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Программное обеспечение</a:t>
            </a:r>
            <a:r>
              <a:rPr lang="en-US" sz="2400" dirty="0">
                <a:solidFill>
                  <a:srgbClr val="58519F"/>
                </a:solidFill>
              </a:rPr>
              <a:t> (3/3)</a:t>
            </a:r>
            <a:r>
              <a:rPr lang="ru-RU" sz="2400" dirty="0">
                <a:solidFill>
                  <a:srgbClr val="58519F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41262-325C-DF71-4369-6ADCF7D273F7}"/>
              </a:ext>
            </a:extLst>
          </p:cNvPr>
          <p:cNvSpPr txBox="1"/>
          <p:nvPr/>
        </p:nvSpPr>
        <p:spPr>
          <a:xfrm>
            <a:off x="346625" y="1002090"/>
            <a:ext cx="47317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В этом курсе рассматриваются: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 err="1"/>
              <a:t>Sentaurus</a:t>
            </a:r>
            <a:r>
              <a:rPr lang="en-US" sz="2400" dirty="0"/>
              <a:t> TCAD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/>
              <a:t>COMSOL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/>
              <a:t>ANSYS </a:t>
            </a:r>
            <a:r>
              <a:rPr lang="en-US" sz="2400" dirty="0" err="1"/>
              <a:t>Lumerical</a:t>
            </a:r>
            <a:endParaRPr lang="ru-RU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F40148-7891-05C8-A6E7-D245608A7473}"/>
              </a:ext>
            </a:extLst>
          </p:cNvPr>
          <p:cNvSpPr txBox="1"/>
          <p:nvPr/>
        </p:nvSpPr>
        <p:spPr>
          <a:xfrm>
            <a:off x="41279" y="3181682"/>
            <a:ext cx="29765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 err="1"/>
              <a:t>Sentaurus</a:t>
            </a:r>
            <a:r>
              <a:rPr lang="en-US" sz="2400" dirty="0"/>
              <a:t> TCAD</a:t>
            </a:r>
            <a:endParaRPr lang="ru-RU" sz="2400" dirty="0"/>
          </a:p>
          <a:p>
            <a:pPr algn="ctr"/>
            <a:r>
              <a:rPr lang="ru-RU" sz="2400" dirty="0"/>
              <a:t>(Метод решения – МКО)</a:t>
            </a:r>
            <a:endParaRPr lang="en-US" sz="2400" dirty="0"/>
          </a:p>
          <a:p>
            <a:r>
              <a:rPr lang="en-US" sz="2400" dirty="0"/>
              <a:t> </a:t>
            </a:r>
            <a:endParaRPr lang="ru-RU" sz="2400" dirty="0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F73A9D5B-DD0E-DEEB-8328-224187DB653B}"/>
              </a:ext>
            </a:extLst>
          </p:cNvPr>
          <p:cNvSpPr/>
          <p:nvPr/>
        </p:nvSpPr>
        <p:spPr>
          <a:xfrm>
            <a:off x="127726" y="3196392"/>
            <a:ext cx="2796292" cy="12003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cxnSp>
        <p:nvCxnSpPr>
          <p:cNvPr id="31" name="Соединитель: уступ 30">
            <a:extLst>
              <a:ext uri="{FF2B5EF4-FFF2-40B4-BE49-F238E27FC236}">
                <a16:creationId xmlns:a16="http://schemas.microsoft.com/office/drawing/2014/main" id="{18DD3883-9A86-D1C4-ABCB-FCE34B389E5F}"/>
              </a:ext>
            </a:extLst>
          </p:cNvPr>
          <p:cNvCxnSpPr>
            <a:cxnSpLocks/>
            <a:stCxn id="6" idx="2"/>
            <a:endCxn id="30" idx="0"/>
          </p:cNvCxnSpPr>
          <p:nvPr/>
        </p:nvCxnSpPr>
        <p:spPr>
          <a:xfrm rot="5400000">
            <a:off x="1806862" y="2290760"/>
            <a:ext cx="624642" cy="1186622"/>
          </a:xfrm>
          <a:prstGeom prst="bentConnector3">
            <a:avLst>
              <a:gd name="adj1" fmla="val 50000"/>
            </a:avLst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BFD1DDE-EBF5-54F8-656F-62284D809E79}"/>
              </a:ext>
            </a:extLst>
          </p:cNvPr>
          <p:cNvSpPr txBox="1"/>
          <p:nvPr/>
        </p:nvSpPr>
        <p:spPr>
          <a:xfrm>
            <a:off x="3705589" y="3189997"/>
            <a:ext cx="28869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COMSOL</a:t>
            </a:r>
            <a:endParaRPr lang="ru-RU" sz="2400" dirty="0"/>
          </a:p>
          <a:p>
            <a:pPr algn="ctr"/>
            <a:r>
              <a:rPr lang="ru-RU" sz="2400" dirty="0"/>
              <a:t>(Метод решения – МКЭ)</a:t>
            </a:r>
            <a:endParaRPr lang="en-US" sz="2400" dirty="0"/>
          </a:p>
          <a:p>
            <a:r>
              <a:rPr lang="en-US" sz="2400" dirty="0"/>
              <a:t> </a:t>
            </a:r>
            <a:endParaRPr lang="ru-RU" sz="2400" dirty="0"/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E0DFC9BA-F5CC-7E3C-4D65-F8013DC595DC}"/>
              </a:ext>
            </a:extLst>
          </p:cNvPr>
          <p:cNvSpPr/>
          <p:nvPr/>
        </p:nvSpPr>
        <p:spPr>
          <a:xfrm>
            <a:off x="3750913" y="3189998"/>
            <a:ext cx="2796292" cy="12003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cxnSp>
        <p:nvCxnSpPr>
          <p:cNvPr id="36" name="Соединитель: уступ 35">
            <a:extLst>
              <a:ext uri="{FF2B5EF4-FFF2-40B4-BE49-F238E27FC236}">
                <a16:creationId xmlns:a16="http://schemas.microsoft.com/office/drawing/2014/main" id="{BB450D92-5A0D-DD52-256D-38985F1B88CD}"/>
              </a:ext>
            </a:extLst>
          </p:cNvPr>
          <p:cNvCxnSpPr>
            <a:cxnSpLocks/>
            <a:stCxn id="6" idx="2"/>
            <a:endCxn id="35" idx="0"/>
          </p:cNvCxnSpPr>
          <p:nvPr/>
        </p:nvCxnSpPr>
        <p:spPr>
          <a:xfrm rot="16200000" flipH="1">
            <a:off x="3621652" y="1662591"/>
            <a:ext cx="618248" cy="2436565"/>
          </a:xfrm>
          <a:prstGeom prst="bentConnector3">
            <a:avLst>
              <a:gd name="adj1" fmla="val 50000"/>
            </a:avLst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86BE090-8A9D-3DA1-E830-59475172F077}"/>
              </a:ext>
            </a:extLst>
          </p:cNvPr>
          <p:cNvSpPr txBox="1"/>
          <p:nvPr/>
        </p:nvSpPr>
        <p:spPr>
          <a:xfrm>
            <a:off x="5721202" y="1350392"/>
            <a:ext cx="28869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ANSYS </a:t>
            </a:r>
            <a:r>
              <a:rPr lang="en-US" sz="2400" dirty="0" err="1"/>
              <a:t>Lumerical</a:t>
            </a:r>
            <a:endParaRPr lang="ru-RU" sz="2400" dirty="0"/>
          </a:p>
          <a:p>
            <a:pPr algn="ctr"/>
            <a:r>
              <a:rPr lang="ru-RU" sz="2400" dirty="0"/>
              <a:t>(Метод решения – МКР)</a:t>
            </a:r>
            <a:endParaRPr lang="en-US" sz="2400" dirty="0"/>
          </a:p>
          <a:p>
            <a:r>
              <a:rPr lang="en-US" sz="2400" dirty="0"/>
              <a:t> </a:t>
            </a:r>
            <a:endParaRPr lang="ru-RU" sz="2400" dirty="0"/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E7768387-23CE-B968-9A87-1EF1146EE61A}"/>
              </a:ext>
            </a:extLst>
          </p:cNvPr>
          <p:cNvSpPr/>
          <p:nvPr/>
        </p:nvSpPr>
        <p:spPr>
          <a:xfrm>
            <a:off x="5766526" y="1353337"/>
            <a:ext cx="2796292" cy="12003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cxnSp>
        <p:nvCxnSpPr>
          <p:cNvPr id="43" name="Соединитель: уступ 42">
            <a:extLst>
              <a:ext uri="{FF2B5EF4-FFF2-40B4-BE49-F238E27FC236}">
                <a16:creationId xmlns:a16="http://schemas.microsoft.com/office/drawing/2014/main" id="{A93BC024-A33E-9A3C-D867-520AD36B2722}"/>
              </a:ext>
            </a:extLst>
          </p:cNvPr>
          <p:cNvCxnSpPr>
            <a:cxnSpLocks/>
            <a:stCxn id="6" idx="3"/>
            <a:endCxn id="42" idx="0"/>
          </p:cNvCxnSpPr>
          <p:nvPr/>
        </p:nvCxnSpPr>
        <p:spPr>
          <a:xfrm flipV="1">
            <a:off x="5078362" y="1353337"/>
            <a:ext cx="2086310" cy="433583"/>
          </a:xfrm>
          <a:prstGeom prst="bentConnector4">
            <a:avLst>
              <a:gd name="adj1" fmla="val 16492"/>
              <a:gd name="adj2" fmla="val 233734"/>
            </a:avLst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65904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7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84784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МКР – метод конечных разностей (1/5)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7CBA61-28E7-3ABE-D0F8-95709F5C2844}"/>
                  </a:ext>
                </a:extLst>
              </p:cNvPr>
              <p:cNvSpPr txBox="1"/>
              <p:nvPr/>
            </p:nvSpPr>
            <p:spPr>
              <a:xfrm>
                <a:off x="207221" y="822989"/>
                <a:ext cx="3910869" cy="4046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buNone/>
                </a:pPr>
                <a:r>
                  <a:rPr lang="ru-RU" sz="2000" dirty="0"/>
                  <a:t>Значительное число задач физики и техники приводит к линейным и нелинейным дифференциальным уравнениям в частных (ДУЧП) производных вида:</a:t>
                </a:r>
              </a:p>
              <a:p>
                <a:pPr marL="0" indent="0" algn="just">
                  <a:buNone/>
                </a:pPr>
                <a:endParaRPr lang="ru-RU" sz="20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80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ru-RU" sz="2000" u="sng" dirty="0"/>
              </a:p>
              <a:p>
                <a:pPr marL="0" indent="0" algn="just">
                  <a:buNone/>
                </a:pPr>
                <a:endParaRPr lang="ru-RU" sz="2000" u="sng" dirty="0"/>
              </a:p>
              <a:p>
                <a:pPr marL="0" indent="0" algn="just">
                  <a:buNone/>
                </a:pPr>
                <a:r>
                  <a:rPr lang="ru-RU" sz="2000" dirty="0"/>
                  <a:t>	где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8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800" dirty="0"/>
                  <a:t> </a:t>
                </a:r>
                <a:r>
                  <a:rPr lang="en-US" sz="2000" dirty="0"/>
                  <a:t>- </a:t>
                </a:r>
                <a:r>
                  <a:rPr lang="ru-RU" sz="2000" dirty="0"/>
                  <a:t>дифференциальный оператор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искомая функция.</a:t>
                </a:r>
                <a:r>
                  <a:rPr lang="en-US" sz="2000" dirty="0"/>
                  <a:t> </a:t>
                </a:r>
                <a:r>
                  <a:rPr lang="ru-RU" sz="2000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7CBA61-28E7-3ABE-D0F8-95709F5C2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21" y="822989"/>
                <a:ext cx="3910869" cy="4046429"/>
              </a:xfrm>
              <a:prstGeom prst="rect">
                <a:avLst/>
              </a:prstGeom>
              <a:blipFill>
                <a:blip r:embed="rId2"/>
                <a:stretch>
                  <a:fillRect l="-1713" t="-602" r="-1402" b="-18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E3293D9-9DEA-1A21-2864-2E0FAAD08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568" y="993575"/>
            <a:ext cx="2057510" cy="1379169"/>
          </a:xfrm>
          <a:prstGeom prst="rect">
            <a:avLst/>
          </a:prstGeom>
        </p:spPr>
      </p:pic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42AA2934-5E1A-44A7-0012-A8782AB51329}"/>
              </a:ext>
            </a:extLst>
          </p:cNvPr>
          <p:cNvCxnSpPr/>
          <p:nvPr/>
        </p:nvCxnSpPr>
        <p:spPr>
          <a:xfrm>
            <a:off x="6355613" y="1633801"/>
            <a:ext cx="648072" cy="0"/>
          </a:xfrm>
          <a:prstGeom prst="straightConnector1">
            <a:avLst/>
          </a:prstGeom>
          <a:ln w="57150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6">
            <a:extLst>
              <a:ext uri="{FF2B5EF4-FFF2-40B4-BE49-F238E27FC236}">
                <a16:creationId xmlns:a16="http://schemas.microsoft.com/office/drawing/2014/main" id="{54CA82E8-0C6F-2CB0-DC99-A809729BD0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8413" y="222034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63E24470-E235-5F1E-27FB-5A962ED73E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50813" y="237274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3" name="Рисунок 22" descr="Изображение выглядит как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4376314-0AFA-ED64-E86C-D2CA7FFCF0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392" y="1124605"/>
            <a:ext cx="1872208" cy="12481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6221E5D-9037-B116-8B39-392816FE3DC5}"/>
                  </a:ext>
                </a:extLst>
              </p:cNvPr>
              <p:cNvSpPr txBox="1"/>
              <p:nvPr/>
            </p:nvSpPr>
            <p:spPr>
              <a:xfrm>
                <a:off x="4139410" y="3131355"/>
                <a:ext cx="2266819" cy="4741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4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6221E5D-9037-B116-8B39-392816FE3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410" y="3131355"/>
                <a:ext cx="2266819" cy="4741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568C301-4156-E569-DFD8-F302617FFCC7}"/>
                  </a:ext>
                </a:extLst>
              </p:cNvPr>
              <p:cNvSpPr txBox="1"/>
              <p:nvPr/>
            </p:nvSpPr>
            <p:spPr>
              <a:xfrm>
                <a:off x="6877181" y="3151967"/>
                <a:ext cx="2266819" cy="472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 b="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568C301-4156-E569-DFD8-F302617FF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181" y="3151967"/>
                <a:ext cx="2266819" cy="4726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7AD1C575-E438-A78B-9EA1-EE08ADC85B19}"/>
              </a:ext>
            </a:extLst>
          </p:cNvPr>
          <p:cNvCxnSpPr/>
          <p:nvPr/>
        </p:nvCxnSpPr>
        <p:spPr>
          <a:xfrm>
            <a:off x="6431496" y="3407727"/>
            <a:ext cx="648072" cy="0"/>
          </a:xfrm>
          <a:prstGeom prst="straightConnector1">
            <a:avLst/>
          </a:prstGeom>
          <a:ln w="57150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33191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933B2E-748A-5DA8-65CC-F16B78D1BCC1}"/>
                  </a:ext>
                </a:extLst>
              </p:cNvPr>
              <p:cNvSpPr txBox="1"/>
              <p:nvPr/>
            </p:nvSpPr>
            <p:spPr>
              <a:xfrm>
                <a:off x="4750886" y="1562644"/>
                <a:ext cx="4270272" cy="10148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4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x</m:t>
                          </m:r>
                        </m:sub>
                        <m:sup>
                          <m: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sSub>
                        <m:sSubPr>
                          <m:ctrlPr>
                            <a:rPr lang="ru-RU" sz="2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ru-RU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ru-RU" sz="24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Ш</m:t>
                          </m:r>
                          <m:d>
                            <m:dPr>
                              <m:ctrlP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933B2E-748A-5DA8-65CC-F16B78D1B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886" y="1562644"/>
                <a:ext cx="4270272" cy="10148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81FEF1A-DF2A-FF44-E2E2-191C5F59EAF8}"/>
              </a:ext>
            </a:extLst>
          </p:cNvPr>
          <p:cNvSpPr txBox="1"/>
          <p:nvPr/>
        </p:nvSpPr>
        <p:spPr>
          <a:xfrm>
            <a:off x="5074108" y="999880"/>
            <a:ext cx="4358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u="sng" dirty="0"/>
              <a:t>Приближение дифференциального оператора:</a:t>
            </a:r>
            <a:r>
              <a:rPr lang="ru-RU" sz="1600" dirty="0"/>
              <a:t> </a:t>
            </a:r>
          </a:p>
        </p:txBody>
      </p:sp>
      <p:sp>
        <p:nvSpPr>
          <p:cNvPr id="9" name="Содержимое 2">
            <a:extLst>
              <a:ext uri="{FF2B5EF4-FFF2-40B4-BE49-F238E27FC236}">
                <a16:creationId xmlns:a16="http://schemas.microsoft.com/office/drawing/2014/main" id="{3FF201E0-B5C9-52F3-EBFF-E5BD8B2DF702}"/>
              </a:ext>
            </a:extLst>
          </p:cNvPr>
          <p:cNvSpPr txBox="1">
            <a:spLocks/>
          </p:cNvSpPr>
          <p:nvPr/>
        </p:nvSpPr>
        <p:spPr>
          <a:xfrm>
            <a:off x="199803" y="951885"/>
            <a:ext cx="6152731" cy="390875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/>
              <a:buNone/>
            </a:pPr>
            <a:r>
              <a:rPr lang="ru-RU" sz="2000" u="sng" dirty="0"/>
              <a:t>Примеры дискретизации сетки: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dirty="0"/>
              <a:t>Равномерная сетка на отрезке</a:t>
            </a:r>
          </a:p>
          <a:p>
            <a:pPr marL="457200" indent="-457200">
              <a:buFont typeface="+mj-lt"/>
              <a:buAutoNum type="arabicPeriod"/>
            </a:pPr>
            <a:endParaRPr lang="ru-RU" sz="1800" dirty="0"/>
          </a:p>
          <a:p>
            <a:pPr marL="457200" indent="-457200">
              <a:buFont typeface="+mj-lt"/>
              <a:buAutoNum type="arabicPeriod"/>
            </a:pPr>
            <a:endParaRPr lang="ru-RU" sz="1800" dirty="0"/>
          </a:p>
          <a:p>
            <a:pPr marL="457200" indent="-457200">
              <a:buFont typeface="+mj-lt"/>
              <a:buAutoNum type="arabicPeriod"/>
            </a:pPr>
            <a:endParaRPr lang="ru-RU" sz="1800" dirty="0"/>
          </a:p>
          <a:p>
            <a:pPr marL="457200" indent="-457200">
              <a:buFont typeface="+mj-lt"/>
              <a:buAutoNum type="arabicPeriod"/>
            </a:pPr>
            <a:r>
              <a:rPr lang="ru-RU" sz="1800" dirty="0"/>
              <a:t>Равномерная сетка на плоскости</a:t>
            </a:r>
          </a:p>
          <a:p>
            <a:pPr marL="457200" indent="-457200">
              <a:buFont typeface="+mj-lt"/>
              <a:buAutoNum type="arabicPeriod"/>
            </a:pPr>
            <a:endParaRPr lang="ru-RU" sz="2000" dirty="0"/>
          </a:p>
          <a:p>
            <a:pPr marL="457200" indent="-457200">
              <a:buFont typeface="+mj-lt"/>
              <a:buAutoNum type="arabicPeriod"/>
            </a:pPr>
            <a:endParaRPr lang="ru-RU" sz="2000" dirty="0"/>
          </a:p>
          <a:p>
            <a:pPr marL="0" indent="0">
              <a:buFont typeface="Wingdings 2"/>
              <a:buNone/>
            </a:pPr>
            <a:r>
              <a:rPr lang="ru-RU" sz="2000" dirty="0"/>
              <a:t>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4D00C74-300C-1C80-64BD-BC566B059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53" y="1817239"/>
            <a:ext cx="2233796" cy="54037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5528C05-EA27-D429-55FD-84F59ED22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22" y="3539490"/>
            <a:ext cx="1674329" cy="11006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E68427-3528-E84D-CD5D-E6660570C42D}"/>
                  </a:ext>
                </a:extLst>
              </p:cNvPr>
              <p:cNvSpPr txBox="1"/>
              <p:nvPr/>
            </p:nvSpPr>
            <p:spPr>
              <a:xfrm>
                <a:off x="4828834" y="3069757"/>
                <a:ext cx="4676776" cy="1706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i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den>
                    </m:f>
                  </m:oMath>
                </a14:m>
                <a:endParaRPr lang="ru-RU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ru-RU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den>
                    </m:f>
                  </m:oMath>
                </a14:m>
                <a:endParaRPr lang="ru-RU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ru-RU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+4</m:t>
                        </m:r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+2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den>
                    </m:f>
                  </m:oMath>
                </a14:m>
                <a:endParaRPr lang="ru-RU" sz="24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E68427-3528-E84D-CD5D-E6660570C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834" y="3069757"/>
                <a:ext cx="4676776" cy="17061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4E31BD2-6900-A107-092F-8FB3D0522A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5861" y="3376871"/>
            <a:ext cx="2065199" cy="1263263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AFB5CD0-71B5-432B-9C02-B8697BD32A32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МКР – метод конечных разностей (2/5)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5F4305-7BDE-94F7-F45E-EC29BCCD46C1}"/>
                  </a:ext>
                </a:extLst>
              </p:cNvPr>
              <p:cNvSpPr txBox="1"/>
              <p:nvPr/>
            </p:nvSpPr>
            <p:spPr>
              <a:xfrm>
                <a:off x="5091142" y="2500901"/>
                <a:ext cx="4152161" cy="637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600" u="sng" dirty="0"/>
                  <a:t>Примеры разностной схемы для оператора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800" i="1" u="sng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800" i="1" u="sng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1800" i="1" u="sng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ru-RU" sz="1800" i="1" u="sng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sSub>
                      <m:sSubPr>
                        <m:ctrlPr>
                          <a:rPr lang="ru-RU" sz="1800" i="1" u="sng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u="sng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i="1" u="sng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i="1" u="sng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600" u="sng" dirty="0"/>
                  <a:t>:</a:t>
                </a:r>
                <a:endParaRPr lang="ru-RU" sz="1600" u="sng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5F4305-7BDE-94F7-F45E-EC29BCCD4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142" y="2500901"/>
                <a:ext cx="4152161" cy="637867"/>
              </a:xfrm>
              <a:prstGeom prst="rect">
                <a:avLst/>
              </a:prstGeom>
              <a:blipFill>
                <a:blip r:embed="rId7"/>
                <a:stretch>
                  <a:fillRect l="-734" t="-2857"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Номер слайда 1">
            <a:extLst>
              <a:ext uri="{FF2B5EF4-FFF2-40B4-BE49-F238E27FC236}">
                <a16:creationId xmlns:a16="http://schemas.microsoft.com/office/drawing/2014/main" id="{A10E8CC2-2734-8B36-A285-47FE85158F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00336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02B51F5-F759-17BC-D290-F663F25453CA}"/>
              </a:ext>
            </a:extLst>
          </p:cNvPr>
          <p:cNvSpPr/>
          <p:nvPr/>
        </p:nvSpPr>
        <p:spPr>
          <a:xfrm>
            <a:off x="2688133" y="1725199"/>
            <a:ext cx="3957613" cy="2462435"/>
          </a:xfrm>
          <a:prstGeom prst="round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94822" y="4667632"/>
            <a:ext cx="548700" cy="393600"/>
          </a:xfrm>
        </p:spPr>
        <p:txBody>
          <a:bodyPr/>
          <a:lstStyle/>
          <a:p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: скругленные углы 18">
                <a:extLst>
                  <a:ext uri="{FF2B5EF4-FFF2-40B4-BE49-F238E27FC236}">
                    <a16:creationId xmlns:a16="http://schemas.microsoft.com/office/drawing/2014/main" id="{C859F06A-86D8-4174-AF9A-EB3166BF27DA}"/>
                  </a:ext>
                </a:extLst>
              </p:cNvPr>
              <p:cNvSpPr/>
              <p:nvPr/>
            </p:nvSpPr>
            <p:spPr>
              <a:xfrm>
                <a:off x="296126" y="2439187"/>
                <a:ext cx="1576031" cy="420822"/>
              </a:xfrm>
              <a:prstGeom prst="roundRect">
                <a:avLst/>
              </a:prstGeom>
              <a:solidFill>
                <a:srgbClr val="BDD7EE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" name="Прямоугольник: скругленные углы 18">
                <a:extLst>
                  <a:ext uri="{FF2B5EF4-FFF2-40B4-BE49-F238E27FC236}">
                    <a16:creationId xmlns:a16="http://schemas.microsoft.com/office/drawing/2014/main" id="{C859F06A-86D8-4174-AF9A-EB3166BF27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26" y="2439187"/>
                <a:ext cx="1576031" cy="42082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BDD7EE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FFBF8FCA-DFB3-43BD-B313-94E4A29C5A27}"/>
              </a:ext>
            </a:extLst>
          </p:cNvPr>
          <p:cNvSpPr txBox="1"/>
          <p:nvPr/>
        </p:nvSpPr>
        <p:spPr>
          <a:xfrm>
            <a:off x="56754" y="2948137"/>
            <a:ext cx="22218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dirty="0"/>
              <a:t>1) Постановка задачи</a:t>
            </a:r>
          </a:p>
        </p:txBody>
      </p:sp>
      <p:sp>
        <p:nvSpPr>
          <p:cNvPr id="30" name="Стрелка: вниз 29">
            <a:extLst>
              <a:ext uri="{FF2B5EF4-FFF2-40B4-BE49-F238E27FC236}">
                <a16:creationId xmlns:a16="http://schemas.microsoft.com/office/drawing/2014/main" id="{FC2778F4-EAFA-4A20-BBCC-F5ED8B80978D}"/>
              </a:ext>
            </a:extLst>
          </p:cNvPr>
          <p:cNvSpPr/>
          <p:nvPr/>
        </p:nvSpPr>
        <p:spPr>
          <a:xfrm rot="16200000" flipH="1">
            <a:off x="2092293" y="2347808"/>
            <a:ext cx="375968" cy="603581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4779FB-8582-1F39-6F2F-671310191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427" y="2197376"/>
            <a:ext cx="1512253" cy="1013678"/>
          </a:xfrm>
          <a:prstGeom prst="rect">
            <a:avLst/>
          </a:prstGeom>
        </p:spPr>
      </p:pic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3A45A75C-ADA1-66FB-E5A2-69368798FBEC}"/>
              </a:ext>
            </a:extLst>
          </p:cNvPr>
          <p:cNvCxnSpPr>
            <a:cxnSpLocks/>
          </p:cNvCxnSpPr>
          <p:nvPr/>
        </p:nvCxnSpPr>
        <p:spPr>
          <a:xfrm>
            <a:off x="4508147" y="2673757"/>
            <a:ext cx="367766" cy="0"/>
          </a:xfrm>
          <a:prstGeom prst="straightConnector1">
            <a:avLst/>
          </a:prstGeom>
          <a:ln w="57150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 descr="Изображение выглядит как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525D111-5C93-9F89-DA19-60492EADC6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545" y="2236091"/>
            <a:ext cx="1462445" cy="9749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874BEB-93D9-8BC4-8DF4-F0483E699301}"/>
                  </a:ext>
                </a:extLst>
              </p:cNvPr>
              <p:cNvSpPr txBox="1"/>
              <p:nvPr/>
            </p:nvSpPr>
            <p:spPr>
              <a:xfrm>
                <a:off x="2874972" y="3382607"/>
                <a:ext cx="953101" cy="6015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6874BEB-93D9-8BC4-8DF4-F0483E699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972" y="3382607"/>
                <a:ext cx="953101" cy="601575"/>
              </a:xfrm>
              <a:prstGeom prst="rect">
                <a:avLst/>
              </a:prstGeom>
              <a:blipFill>
                <a:blip r:embed="rId5"/>
                <a:stretch>
                  <a:fillRect r="-217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12555C-3FC3-D1EE-637F-C94BE372EBAC}"/>
                  </a:ext>
                </a:extLst>
              </p:cNvPr>
              <p:cNvSpPr txBox="1"/>
              <p:nvPr/>
            </p:nvSpPr>
            <p:spPr>
              <a:xfrm>
                <a:off x="4627420" y="3405275"/>
                <a:ext cx="2266819" cy="6015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ru-RU" sz="32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12555C-3FC3-D1EE-637F-C94BE372E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420" y="3405275"/>
                <a:ext cx="2266819" cy="6015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97CF6796-7C3B-AFD9-F952-AF5109CAB6B3}"/>
              </a:ext>
            </a:extLst>
          </p:cNvPr>
          <p:cNvCxnSpPr>
            <a:cxnSpLocks/>
          </p:cNvCxnSpPr>
          <p:nvPr/>
        </p:nvCxnSpPr>
        <p:spPr>
          <a:xfrm>
            <a:off x="4508147" y="3713437"/>
            <a:ext cx="367766" cy="0"/>
          </a:xfrm>
          <a:prstGeom prst="straightConnector1">
            <a:avLst/>
          </a:prstGeom>
          <a:ln w="57150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ECA9089-F075-9C59-35EA-789653C1E529}"/>
              </a:ext>
            </a:extLst>
          </p:cNvPr>
          <p:cNvSpPr txBox="1"/>
          <p:nvPr/>
        </p:nvSpPr>
        <p:spPr>
          <a:xfrm>
            <a:off x="3068249" y="4296352"/>
            <a:ext cx="29546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dirty="0"/>
              <a:t>2) Дискретизация пространства и операторов</a:t>
            </a:r>
          </a:p>
        </p:txBody>
      </p:sp>
      <p:sp>
        <p:nvSpPr>
          <p:cNvPr id="12" name="Стрелка: вниз 11">
            <a:extLst>
              <a:ext uri="{FF2B5EF4-FFF2-40B4-BE49-F238E27FC236}">
                <a16:creationId xmlns:a16="http://schemas.microsoft.com/office/drawing/2014/main" id="{F9A4A43A-0221-5D79-29C1-C86272320E74}"/>
              </a:ext>
            </a:extLst>
          </p:cNvPr>
          <p:cNvSpPr/>
          <p:nvPr/>
        </p:nvSpPr>
        <p:spPr>
          <a:xfrm rot="16200000" flipH="1">
            <a:off x="6846134" y="2421782"/>
            <a:ext cx="375968" cy="603581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: скругленные углы 13">
                <a:extLst>
                  <a:ext uri="{FF2B5EF4-FFF2-40B4-BE49-F238E27FC236}">
                    <a16:creationId xmlns:a16="http://schemas.microsoft.com/office/drawing/2014/main" id="{AC996FD7-3310-3BC5-B9F9-2BCF46D91F9D}"/>
                  </a:ext>
                </a:extLst>
              </p:cNvPr>
              <p:cNvSpPr/>
              <p:nvPr/>
            </p:nvSpPr>
            <p:spPr>
              <a:xfrm>
                <a:off x="7438675" y="2424917"/>
                <a:ext cx="1572922" cy="523220"/>
              </a:xfrm>
              <a:prstGeom prst="roundRect">
                <a:avLst/>
              </a:prstGeom>
              <a:solidFill>
                <a:srgbClr val="BDD7EE"/>
              </a:solidFill>
              <a:ln>
                <a:solidFill>
                  <a:srgbClr val="BDD7E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Прямоугольник: скругленные углы 13">
                <a:extLst>
                  <a:ext uri="{FF2B5EF4-FFF2-40B4-BE49-F238E27FC236}">
                    <a16:creationId xmlns:a16="http://schemas.microsoft.com/office/drawing/2014/main" id="{AC996FD7-3310-3BC5-B9F9-2BCF46D91F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8675" y="2424917"/>
                <a:ext cx="1572922" cy="52322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BDD7EE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EF2F176C-95E5-2C7A-B841-6D8B60393288}"/>
              </a:ext>
            </a:extLst>
          </p:cNvPr>
          <p:cNvSpPr txBox="1"/>
          <p:nvPr/>
        </p:nvSpPr>
        <p:spPr>
          <a:xfrm>
            <a:off x="6767815" y="3029506"/>
            <a:ext cx="29546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/>
              <a:t>3</a:t>
            </a:r>
            <a:r>
              <a:rPr lang="ru-RU" dirty="0"/>
              <a:t>) Решение СЛАУ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41F7B912-BE86-CBF6-CDA9-3D05FC293D4C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МКР – метод конечных разностей (3/6)</a:t>
            </a:r>
          </a:p>
          <a:p>
            <a:pPr algn="ctr"/>
            <a:r>
              <a:rPr lang="ru-RU" sz="2400" dirty="0">
                <a:solidFill>
                  <a:srgbClr val="58519F"/>
                </a:solidFill>
              </a:rPr>
              <a:t>Алгоритм</a:t>
            </a:r>
          </a:p>
        </p:txBody>
      </p:sp>
    </p:spTree>
    <p:extLst>
      <p:ext uri="{BB962C8B-B14F-4D97-AF65-F5344CB8AC3E}">
        <p14:creationId xmlns:p14="http://schemas.microsoft.com/office/powerpoint/2010/main" val="341178069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62FD711-6656-AD6D-C545-FA21CBDFEC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87B50EA-55B9-0EA1-33F6-D1978CB764CC}"/>
              </a:ext>
            </a:extLst>
          </p:cNvPr>
          <p:cNvSpPr txBox="1">
            <a:spLocks/>
          </p:cNvSpPr>
          <p:nvPr/>
        </p:nvSpPr>
        <p:spPr>
          <a:xfrm>
            <a:off x="1560910" y="708345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Требования к разностной схеме</a:t>
            </a:r>
          </a:p>
        </p:txBody>
      </p:sp>
      <p:cxnSp>
        <p:nvCxnSpPr>
          <p:cNvPr id="28" name="Соединитель: уступ 27">
            <a:extLst>
              <a:ext uri="{FF2B5EF4-FFF2-40B4-BE49-F238E27FC236}">
                <a16:creationId xmlns:a16="http://schemas.microsoft.com/office/drawing/2014/main" id="{97B1A878-3115-B409-1DD3-AA7F5AB72094}"/>
              </a:ext>
            </a:extLst>
          </p:cNvPr>
          <p:cNvCxnSpPr>
            <a:cxnSpLocks/>
            <a:stCxn id="3" idx="1"/>
            <a:endCxn id="7" idx="0"/>
          </p:cNvCxnSpPr>
          <p:nvPr/>
        </p:nvCxnSpPr>
        <p:spPr>
          <a:xfrm rot="10800000" flipV="1">
            <a:off x="1785208" y="1562517"/>
            <a:ext cx="1406189" cy="41308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FC9B0280-BE55-405D-A61B-F98AF75F542B}"/>
              </a:ext>
            </a:extLst>
          </p:cNvPr>
          <p:cNvCxnSpPr>
            <a:cxnSpLocks/>
            <a:stCxn id="3" idx="3"/>
            <a:endCxn id="5" idx="0"/>
          </p:cNvCxnSpPr>
          <p:nvPr/>
        </p:nvCxnSpPr>
        <p:spPr>
          <a:xfrm>
            <a:off x="5946026" y="1562517"/>
            <a:ext cx="1527560" cy="44285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12D5EAD-FF19-B8EE-703E-800946BF0320}"/>
                  </a:ext>
                </a:extLst>
              </p:cNvPr>
              <p:cNvSpPr txBox="1"/>
              <p:nvPr/>
            </p:nvSpPr>
            <p:spPr>
              <a:xfrm>
                <a:off x="190971" y="2662194"/>
                <a:ext cx="3066241" cy="1209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1800" dirty="0">
                    <a:latin typeface="Cambria Math" panose="02040503050406030204" pitchFamily="18" charset="0"/>
                  </a:rPr>
                  <a:t>Погрешность разностой схемы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1800" dirty="0">
                    <a:latin typeface="Cambria Math" panose="02040503050406030204" pitchFamily="18" charset="0"/>
                  </a:rPr>
                  <a:t> можно оценить порядком аппроксимации разностной схемы.</a:t>
                </a:r>
                <a:endParaRPr lang="ru-RU" sz="1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12D5EAD-FF19-B8EE-703E-800946BF0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71" y="2662194"/>
                <a:ext cx="3066241" cy="1209755"/>
              </a:xfrm>
              <a:prstGeom prst="rect">
                <a:avLst/>
              </a:prstGeom>
              <a:blipFill>
                <a:blip r:embed="rId2"/>
                <a:stretch>
                  <a:fillRect l="-1590" t="-3535" r="-1789" b="-70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4844BCB5-A012-F965-7735-3563A631A551}"/>
              </a:ext>
            </a:extLst>
          </p:cNvPr>
          <p:cNvSpPr txBox="1"/>
          <p:nvPr/>
        </p:nvSpPr>
        <p:spPr>
          <a:xfrm>
            <a:off x="4463705" y="3745773"/>
            <a:ext cx="45574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dirty="0">
                <a:latin typeface="Cambria Math" panose="02040503050406030204" pitchFamily="18" charset="0"/>
              </a:rPr>
              <a:t>Другими словами, на любой вычислительной процедуре малая ошибка приводит к меньшей конечной ошибке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04B955C-4F97-45D7-88C6-CCB442D92412}"/>
              </a:ext>
            </a:extLst>
          </p:cNvPr>
          <p:cNvSpPr/>
          <p:nvPr/>
        </p:nvSpPr>
        <p:spPr>
          <a:xfrm>
            <a:off x="3191396" y="1300907"/>
            <a:ext cx="2754630" cy="5232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</a:rPr>
              <a:t>Основные свойства разностной схемы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4EBADC4-2F3E-4EB4-859A-04330409B446}"/>
              </a:ext>
            </a:extLst>
          </p:cNvPr>
          <p:cNvSpPr/>
          <p:nvPr/>
        </p:nvSpPr>
        <p:spPr>
          <a:xfrm>
            <a:off x="6769190" y="2005373"/>
            <a:ext cx="1408791" cy="3673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Устойчивость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B8007D8-3838-30F2-36B7-DEF056BF7E00}"/>
              </a:ext>
            </a:extLst>
          </p:cNvPr>
          <p:cNvSpPr/>
          <p:nvPr/>
        </p:nvSpPr>
        <p:spPr>
          <a:xfrm>
            <a:off x="612887" y="1975605"/>
            <a:ext cx="2344639" cy="3673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Порядок аппроксимации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2C548F-FA9C-AB7D-3990-931B43629E9F}"/>
                  </a:ext>
                </a:extLst>
              </p:cNvPr>
              <p:cNvSpPr txBox="1"/>
              <p:nvPr/>
            </p:nvSpPr>
            <p:spPr>
              <a:xfrm>
                <a:off x="4896465" y="2515102"/>
                <a:ext cx="4247535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>
                    <a:latin typeface="Cambria Math" panose="02040503050406030204" pitchFamily="18" charset="0"/>
                  </a:rPr>
                  <a:t>Считаем, что задача </a:t>
                </a:r>
                <a:r>
                  <a:rPr lang="ru-RU" sz="1800" b="1" dirty="0">
                    <a:latin typeface="Cambria Math" panose="02040503050406030204" pitchFamily="18" charset="0"/>
                  </a:rPr>
                  <a:t>устойчива</a:t>
                </a:r>
                <a:r>
                  <a:rPr lang="ru-RU" sz="1800" dirty="0">
                    <a:latin typeface="Cambria Math" panose="02040503050406030204" pitchFamily="18" charset="0"/>
                  </a:rPr>
                  <a:t> к возмущению,</a:t>
                </a:r>
                <a:r>
                  <a:rPr lang="en-US" sz="1800" dirty="0">
                    <a:latin typeface="Cambria Math" panose="02040503050406030204" pitchFamily="18" charset="0"/>
                  </a:rPr>
                  <a:t> </a:t>
                </a:r>
                <a:r>
                  <a:rPr lang="ru-RU" sz="1800" dirty="0">
                    <a:latin typeface="Cambria Math" panose="02040503050406030204" pitchFamily="18" charset="0"/>
                  </a:rPr>
                  <a:t>если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800" b="0" dirty="0">
                  <a:latin typeface="Cambria Math" panose="02040503050406030204" pitchFamily="18" charset="0"/>
                </a:endParaRPr>
              </a:p>
              <a:p>
                <a:r>
                  <a:rPr lang="ru-RU" sz="1800" b="0" dirty="0">
                    <a:latin typeface="Cambria Math" panose="02040503050406030204" pitchFamily="18" charset="0"/>
                  </a:rPr>
                  <a:t>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180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b="0" dirty="0">
                    <a:latin typeface="Cambria Math" panose="02040503050406030204" pitchFamily="18" charset="0"/>
                  </a:rPr>
                  <a:t> - </a:t>
                </a:r>
                <a:r>
                  <a:rPr lang="ru-RU" sz="1800" b="0" dirty="0">
                    <a:latin typeface="Cambria Math" panose="02040503050406030204" pitchFamily="18" charset="0"/>
                  </a:rPr>
                  <a:t>невязка на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800" b="0" dirty="0">
                    <a:latin typeface="Cambria Math" panose="02040503050406030204" pitchFamily="18" charset="0"/>
                  </a:rPr>
                  <a:t>-ом шаге</a:t>
                </a:r>
                <a:endParaRPr lang="en-US" sz="1800" b="0" dirty="0">
                  <a:latin typeface="Cambria Math" panose="02040503050406030204" pitchFamily="18" charset="0"/>
                </a:endParaRPr>
              </a:p>
              <a:p>
                <a:endParaRPr lang="ru-RU" sz="1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2C548F-FA9C-AB7D-3990-931B43629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465" y="2515102"/>
                <a:ext cx="4247535" cy="1477328"/>
              </a:xfrm>
              <a:prstGeom prst="rect">
                <a:avLst/>
              </a:prstGeom>
              <a:blipFill>
                <a:blip r:embed="rId3"/>
                <a:stretch>
                  <a:fillRect l="-1148" t="-28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819ECF6-383C-1044-82EF-533E7F83777A}"/>
                  </a:ext>
                </a:extLst>
              </p:cNvPr>
              <p:cNvSpPr txBox="1"/>
              <p:nvPr/>
            </p:nvSpPr>
            <p:spPr>
              <a:xfrm>
                <a:off x="574571" y="3850891"/>
                <a:ext cx="2382955" cy="370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/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819ECF6-383C-1044-82EF-533E7F837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71" y="3850891"/>
                <a:ext cx="2382955" cy="370101"/>
              </a:xfrm>
              <a:prstGeom prst="rect">
                <a:avLst/>
              </a:prstGeom>
              <a:blipFill>
                <a:blip r:embed="rId4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EABDDD-B417-7D91-6506-CB15AD17437C}"/>
                  </a:ext>
                </a:extLst>
              </p:cNvPr>
              <p:cNvSpPr txBox="1"/>
              <p:nvPr/>
            </p:nvSpPr>
            <p:spPr>
              <a:xfrm>
                <a:off x="173388" y="4220992"/>
                <a:ext cx="4572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– порядок аппроксимации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EABDDD-B417-7D91-6506-CB15AD174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88" y="4220992"/>
                <a:ext cx="4572000" cy="307777"/>
              </a:xfrm>
              <a:prstGeom prst="rect">
                <a:avLst/>
              </a:prstGeom>
              <a:blipFill>
                <a:blip r:embed="rId5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6249564-E055-1B75-B199-2A1881160F75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МКР – метод конечных разностей (4/6)</a:t>
            </a:r>
          </a:p>
        </p:txBody>
      </p:sp>
    </p:spTree>
    <p:extLst>
      <p:ext uri="{BB962C8B-B14F-4D97-AF65-F5344CB8AC3E}">
        <p14:creationId xmlns:p14="http://schemas.microsoft.com/office/powerpoint/2010/main" val="180583080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62FD711-6656-AD6D-C545-FA21CBDFEC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87B50EA-55B9-0EA1-33F6-D1978CB764CC}"/>
              </a:ext>
            </a:extLst>
          </p:cNvPr>
          <p:cNvSpPr txBox="1">
            <a:spLocks/>
          </p:cNvSpPr>
          <p:nvPr/>
        </p:nvSpPr>
        <p:spPr>
          <a:xfrm>
            <a:off x="1560910" y="680178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Порядок аппроксимации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496367-6C9E-E633-2DC4-FA036A672B9C}"/>
                  </a:ext>
                </a:extLst>
              </p:cNvPr>
              <p:cNvSpPr txBox="1"/>
              <p:nvPr/>
            </p:nvSpPr>
            <p:spPr>
              <a:xfrm>
                <a:off x="187485" y="997949"/>
                <a:ext cx="8614437" cy="3754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buNone/>
                </a:pPr>
                <a:r>
                  <a:rPr lang="ru-RU" sz="1800" dirty="0">
                    <a:latin typeface="Cambria Math" panose="02040503050406030204" pitchFamily="18" charset="0"/>
                  </a:rPr>
                  <a:t>Рассмотрим разностные схемы для оператора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80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ru-RU" sz="180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endParaRPr lang="ru-RU" sz="1800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ru-RU" sz="1600" b="0" i="0" smtClean="0">
                          <a:latin typeface="Cambria Math" panose="02040503050406030204" pitchFamily="18" charset="0"/>
                        </a:rPr>
                        <m:t>и 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ru-RU" sz="1800" dirty="0">
                    <a:latin typeface="Cambria Math" panose="02040503050406030204" pitchFamily="18" charset="0"/>
                  </a:rPr>
                  <a:t>Раскладывая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и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ru-RU" sz="1800" dirty="0">
                    <a:latin typeface="Cambria Math" panose="02040503050406030204" pitchFamily="18" charset="0"/>
                  </a:rPr>
                  <a:t> по формуле Тейлора и подставляя в разностные схемы получаем:</a:t>
                </a:r>
                <a:endParaRPr lang="en-US" sz="1800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600" b="0" dirty="0">
                    <a:latin typeface="Cambria Math" panose="02040503050406030204" pitchFamily="18" charset="0"/>
                  </a:rPr>
                  <a:t> =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600" b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endParaRPr lang="en-US" sz="1600" b="0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sz="1600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1600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ru-RU" sz="1800" dirty="0">
                    <a:latin typeface="Cambria Math" panose="02040503050406030204" pitchFamily="18" charset="0"/>
                  </a:rPr>
                  <a:t>Определим невязку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180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8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8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800"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1800" dirty="0">
                    <a:latin typeface="Cambria Math" panose="02040503050406030204" pitchFamily="18" charset="0"/>
                  </a:rPr>
                  <a:t>, тогда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180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en-US" sz="1800" dirty="0">
                    <a:latin typeface="Cambria Math" panose="02040503050406030204" pitchFamily="18" charset="0"/>
                  </a:rPr>
                  <a:t> </a:t>
                </a:r>
                <a:r>
                  <a:rPr lang="ru-RU" sz="1800" dirty="0">
                    <a:latin typeface="Cambria Math" panose="02040503050406030204" pitchFamily="18" charset="0"/>
                  </a:rPr>
                  <a:t>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1800" dirty="0">
                    <a:latin typeface="Cambria Math" panose="02040503050406030204" pitchFamily="18" charset="0"/>
                  </a:rPr>
                  <a:t>, то есть</a:t>
                </a:r>
                <a:r>
                  <a:rPr lang="en-US" sz="180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1800" b="0" i="0" smtClean="0">
                        <a:latin typeface="Cambria Math" panose="02040503050406030204" pitchFamily="18" charset="0"/>
                      </a:rPr>
                      <m:t>и 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sz="1800" dirty="0">
                    <a:latin typeface="Cambria Math" panose="02040503050406030204" pitchFamily="18" charset="0"/>
                  </a:rPr>
                  <a:t> имеют порядок аппроксимации </a:t>
                </a:r>
                <a:r>
                  <a:rPr lang="en-US" sz="1800" dirty="0">
                    <a:latin typeface="Cambria Math" panose="02040503050406030204" pitchFamily="18" charset="0"/>
                  </a:rPr>
                  <a:t>1 </a:t>
                </a:r>
                <a:r>
                  <a:rPr lang="ru-RU" sz="1800" dirty="0">
                    <a:latin typeface="Cambria Math" panose="02040503050406030204" pitchFamily="18" charset="0"/>
                  </a:rPr>
                  <a:t>и 2 соответственно. </a:t>
                </a:r>
              </a:p>
              <a:p>
                <a:pPr marL="0" indent="0" algn="just">
                  <a:buNone/>
                </a:pPr>
                <a:r>
                  <a:rPr lang="ru-RU" sz="1800" dirty="0">
                    <a:latin typeface="Cambria Math" panose="02040503050406030204" pitchFamily="18" charset="0"/>
                  </a:rPr>
                  <a:t>Итого погрешность разностой схемы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1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1800" dirty="0">
                    <a:latin typeface="Cambria Math" panose="02040503050406030204" pitchFamily="18" charset="0"/>
                  </a:rPr>
                  <a:t> можно оценить порядком аппроксимации, которая определяется о-большим.  </a:t>
                </a:r>
                <a:endParaRPr lang="en-US" sz="1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496367-6C9E-E633-2DC4-FA036A672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85" y="997949"/>
                <a:ext cx="8614437" cy="3754939"/>
              </a:xfrm>
              <a:prstGeom prst="rect">
                <a:avLst/>
              </a:prstGeom>
              <a:blipFill>
                <a:blip r:embed="rId2"/>
                <a:stretch>
                  <a:fillRect l="-637" r="-566" b="-14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BA7763F-ECFB-DBEB-A08B-5FC5EC25944F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МКР – метод конечных разностей (5/6)</a:t>
            </a:r>
          </a:p>
        </p:txBody>
      </p:sp>
    </p:spTree>
    <p:extLst>
      <p:ext uri="{BB962C8B-B14F-4D97-AF65-F5344CB8AC3E}">
        <p14:creationId xmlns:p14="http://schemas.microsoft.com/office/powerpoint/2010/main" val="8796152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48C01C1E-9E19-A800-2383-B5A8394998E5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МКР – метод конечных разностей (6/6)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62FD711-6656-AD6D-C545-FA21CBDFEC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87B50EA-55B9-0EA1-33F6-D1978CB764CC}"/>
              </a:ext>
            </a:extLst>
          </p:cNvPr>
          <p:cNvSpPr txBox="1">
            <a:spLocks/>
          </p:cNvSpPr>
          <p:nvPr/>
        </p:nvSpPr>
        <p:spPr>
          <a:xfrm>
            <a:off x="1560910" y="68132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Устойчивость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496367-6C9E-E633-2DC4-FA036A672B9C}"/>
                  </a:ext>
                </a:extLst>
              </p:cNvPr>
              <p:cNvSpPr txBox="1"/>
              <p:nvPr/>
            </p:nvSpPr>
            <p:spPr>
              <a:xfrm>
                <a:off x="132371" y="1066896"/>
                <a:ext cx="8614437" cy="1253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buNone/>
                </a:pPr>
                <a:r>
                  <a:rPr lang="ru-RU" sz="1800" dirty="0"/>
                  <a:t>Пусть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−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ru-RU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180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18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/>
                    </m:sSubSup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8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80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sz="1800" dirty="0"/>
                  <a:t>где </a:t>
                </a:r>
                <a:r>
                  <a:rPr lang="en-US" sz="1800" dirty="0"/>
                  <a:t>y – </a:t>
                </a:r>
                <a:r>
                  <a:rPr lang="ru-RU" sz="1800" dirty="0"/>
                  <a:t>истинное решение. Тогда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/>
                  <a:t> - </a:t>
                </a:r>
                <a:r>
                  <a:rPr lang="ru-RU" sz="1800" dirty="0"/>
                  <a:t>ошибка на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-</a:t>
                </a:r>
                <a:r>
                  <a:rPr lang="ru-RU" sz="1800" dirty="0"/>
                  <a:t>ом шаге. Тогда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180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ru-RU" sz="1800" dirty="0"/>
                  <a:t>ошибка на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1800" dirty="0"/>
                  <a:t>+1</a:t>
                </a:r>
                <a:r>
                  <a:rPr lang="en-US" sz="1800" dirty="0"/>
                  <a:t>-</a:t>
                </a:r>
                <a:r>
                  <a:rPr lang="ru-RU" sz="1800" dirty="0"/>
                  <a:t>ом шаге.</a:t>
                </a:r>
              </a:p>
              <a:p>
                <a:pPr marL="0" indent="0" algn="just">
                  <a:buNone/>
                </a:pPr>
                <a:r>
                  <a:rPr lang="ru-RU" sz="1800" dirty="0"/>
                  <a:t>Ошибки можно связать между собой: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ru-RU" sz="18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>
                        <a:latin typeface="Cambria Math" panose="02040503050406030204" pitchFamily="18" charset="0"/>
                      </a:rPr>
                      <m:t>|.</m:t>
                    </m:r>
                  </m:oMath>
                </a14:m>
                <a:r>
                  <a:rPr lang="ru-RU" sz="1800" dirty="0"/>
                  <a:t> Тогда из определения следует</a:t>
                </a:r>
                <a:endParaRPr lang="en-US" sz="1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496367-6C9E-E633-2DC4-FA036A672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71" y="1066896"/>
                <a:ext cx="8614437" cy="1253420"/>
              </a:xfrm>
              <a:prstGeom prst="rect">
                <a:avLst/>
              </a:prstGeom>
              <a:blipFill>
                <a:blip r:embed="rId2"/>
                <a:stretch>
                  <a:fillRect l="-637" r="-566" b="-53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432AC9-070A-5D73-5A82-7BC3E1E7C34A}"/>
                  </a:ext>
                </a:extLst>
              </p:cNvPr>
              <p:cNvSpPr txBox="1"/>
              <p:nvPr/>
            </p:nvSpPr>
            <p:spPr>
              <a:xfrm>
                <a:off x="2008243" y="2090518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p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ru-RU" sz="1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432AC9-070A-5D73-5A82-7BC3E1E7C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8243" y="2090518"/>
                <a:ext cx="457200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01D5908-9482-2BCD-21E6-4B30E8EE009B}"/>
              </a:ext>
            </a:extLst>
          </p:cNvPr>
          <p:cNvSpPr txBox="1"/>
          <p:nvPr/>
        </p:nvSpPr>
        <p:spPr>
          <a:xfrm>
            <a:off x="132370" y="2571750"/>
            <a:ext cx="3433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u="sng" dirty="0"/>
              <a:t>Пример</a:t>
            </a:r>
            <a:r>
              <a:rPr lang="ru-RU" sz="1800" dirty="0"/>
              <a:t>: явная схема Эйлера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FF1FC6-7118-C905-8958-9B05FB386344}"/>
                  </a:ext>
                </a:extLst>
              </p:cNvPr>
              <p:cNvSpPr txBox="1"/>
              <p:nvPr/>
            </p:nvSpPr>
            <p:spPr>
              <a:xfrm>
                <a:off x="3361571" y="2492593"/>
                <a:ext cx="5782429" cy="535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𝜏𝜆</m:t>
                        </m:r>
                      </m:e>
                    </m:d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</a:rPr>
                  <a:t> </a:t>
                </a:r>
                <a:endParaRPr lang="ru-RU" sz="1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FF1FC6-7118-C905-8958-9B05FB386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571" y="2492593"/>
                <a:ext cx="5782429" cy="5356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1DDD63B-FECA-7CC8-DEC3-D8DAA9FF8B7E}"/>
                  </a:ext>
                </a:extLst>
              </p:cNvPr>
              <p:cNvSpPr txBox="1"/>
              <p:nvPr/>
            </p:nvSpPr>
            <p:spPr>
              <a:xfrm>
                <a:off x="224469" y="3060995"/>
                <a:ext cx="578242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𝜏𝜆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ru-RU" sz="1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1DDD63B-FECA-7CC8-DEC3-D8DAA9FF8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69" y="3060995"/>
                <a:ext cx="5782429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050EA2-564F-B305-6ADC-4363B8333CC5}"/>
                  </a:ext>
                </a:extLst>
              </p:cNvPr>
              <p:cNvSpPr txBox="1"/>
              <p:nvPr/>
            </p:nvSpPr>
            <p:spPr>
              <a:xfrm>
                <a:off x="6388445" y="2287459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050EA2-564F-B305-6ADC-4363B8333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445" y="2287459"/>
                <a:ext cx="45720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AAF5F13-FBC3-F36A-18CB-394D3ED8A8B1}"/>
                  </a:ext>
                </a:extLst>
              </p:cNvPr>
              <p:cNvSpPr txBox="1"/>
              <p:nvPr/>
            </p:nvSpPr>
            <p:spPr>
              <a:xfrm>
                <a:off x="0" y="3819226"/>
                <a:ext cx="763096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>
                          <a:latin typeface="Cambria Math" panose="02040503050406030204" pitchFamily="18" charset="0"/>
                        </a:rPr>
                        <m:t>То есть от выбора 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𝜏𝜆</m:t>
                      </m:r>
                      <m:r>
                        <a:rPr lang="ru-RU" sz="1800">
                          <a:latin typeface="Cambria Math" panose="02040503050406030204" pitchFamily="18" charset="0"/>
                        </a:rPr>
                        <m:t> зависит устойчивость разностной схемы (ошибка уменьшается</m:t>
                      </m:r>
                    </m:oMath>
                  </m:oMathPara>
                </a14:m>
                <a:endParaRPr lang="ru-RU" sz="1800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ru-RU" sz="1800">
                        <a:latin typeface="Cambria Math" panose="02040503050406030204" pitchFamily="18" charset="0"/>
                      </a:rPr>
                      <m:t>с росто</m:t>
                    </m:r>
                  </m:oMath>
                </a14:m>
                <a:r>
                  <a:rPr lang="ru-RU" sz="1800" dirty="0">
                    <a:latin typeface="Cambria Math" panose="02040503050406030204" pitchFamily="18" charset="0"/>
                  </a:rPr>
                  <a:t>м шага </a:t>
                </a:r>
                <a:r>
                  <a:rPr lang="en-US" sz="1800" dirty="0">
                    <a:latin typeface="Cambria Math" panose="02040503050406030204" pitchFamily="18" charset="0"/>
                  </a:rPr>
                  <a:t>n</a:t>
                </a:r>
                <a:r>
                  <a:rPr lang="ru-RU" sz="1800" dirty="0">
                    <a:latin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AAF5F13-FBC3-F36A-18CB-394D3ED8A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19226"/>
                <a:ext cx="7630964" cy="646331"/>
              </a:xfrm>
              <a:prstGeom prst="rect">
                <a:avLst/>
              </a:prstGeom>
              <a:blipFill>
                <a:blip r:embed="rId8"/>
                <a:stretch>
                  <a:fillRect r="-17891" b="-132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263649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МКЭ – метод конечных элементов (1/</a:t>
            </a:r>
            <a:r>
              <a:rPr lang="en-US" sz="2400" dirty="0">
                <a:solidFill>
                  <a:srgbClr val="58519F"/>
                </a:solidFill>
              </a:rPr>
              <a:t>6</a:t>
            </a:r>
            <a:r>
              <a:rPr lang="ru-RU" sz="2400" dirty="0">
                <a:solidFill>
                  <a:srgbClr val="58519F"/>
                </a:solidFill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7CBA61-28E7-3ABE-D0F8-95709F5C2844}"/>
              </a:ext>
            </a:extLst>
          </p:cNvPr>
          <p:cNvSpPr txBox="1"/>
          <p:nvPr/>
        </p:nvSpPr>
        <p:spPr>
          <a:xfrm>
            <a:off x="231048" y="858762"/>
            <a:ext cx="8515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sz="2000" dirty="0"/>
              <a:t>Более универсальным, но вычислительно затратным считается МКЭ, </a:t>
            </a:r>
            <a:r>
              <a:rPr lang="ru-RU" sz="2000" u="sng" dirty="0"/>
              <a:t>метод конечных элементов</a:t>
            </a:r>
          </a:p>
        </p:txBody>
      </p:sp>
      <p:sp>
        <p:nvSpPr>
          <p:cNvPr id="20" name="AutoShape 6">
            <a:extLst>
              <a:ext uri="{FF2B5EF4-FFF2-40B4-BE49-F238E27FC236}">
                <a16:creationId xmlns:a16="http://schemas.microsoft.com/office/drawing/2014/main" id="{54CA82E8-0C6F-2CB0-DC99-A809729BD0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8413" y="222034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63E24470-E235-5F1E-27FB-5A962ED73E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50813" y="237274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A1531-4551-3887-F241-8570F19A8706}"/>
              </a:ext>
            </a:extLst>
          </p:cNvPr>
          <p:cNvSpPr txBox="1"/>
          <p:nvPr/>
        </p:nvSpPr>
        <p:spPr>
          <a:xfrm>
            <a:off x="321499" y="1657382"/>
            <a:ext cx="77370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Пусть дана дифференциальная задача</a:t>
            </a:r>
            <a:r>
              <a:rPr lang="en-US" sz="2000" dirty="0"/>
              <a:t> </a:t>
            </a:r>
            <a:r>
              <a:rPr lang="ru-RU" sz="2000" dirty="0"/>
              <a:t>с граничным условием: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AF602A-3CD9-CE88-D326-4D8F2DD870C4}"/>
              </a:ext>
            </a:extLst>
          </p:cNvPr>
          <p:cNvSpPr txBox="1"/>
          <p:nvPr/>
        </p:nvSpPr>
        <p:spPr>
          <a:xfrm>
            <a:off x="0" y="255523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Необходимое условие!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A4EC782-DA5B-274D-34F4-CBEEA3E127C8}"/>
                  </a:ext>
                </a:extLst>
              </p:cNvPr>
              <p:cNvSpPr txBox="1"/>
              <p:nvPr/>
            </p:nvSpPr>
            <p:spPr>
              <a:xfrm>
                <a:off x="0" y="2906717"/>
                <a:ext cx="77370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ru-RU" sz="2000" dirty="0"/>
                  <a:t> – решение </a:t>
                </a:r>
                <a:r>
                  <a:rPr lang="ru-RU" sz="2000" dirty="0" err="1"/>
                  <a:t>дифф</a:t>
                </a:r>
                <a:r>
                  <a:rPr lang="ru-RU" sz="2000" dirty="0"/>
                  <a:t>. Задачи, то для </a:t>
                </a:r>
                <a14:m>
                  <m:oMath xmlns:m="http://schemas.openxmlformats.org/officeDocument/2006/math"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выполняется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A4EC782-DA5B-274D-34F4-CBEEA3E12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906717"/>
                <a:ext cx="7737061" cy="400110"/>
              </a:xfrm>
              <a:prstGeom prst="rect">
                <a:avLst/>
              </a:prstGeom>
              <a:blipFill>
                <a:blip r:embed="rId5"/>
                <a:stretch>
                  <a:fillRect l="-788" t="-7692" b="-292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85C64F9-6EC7-FB25-98B3-65A5CF7B2EDA}"/>
                  </a:ext>
                </a:extLst>
              </p:cNvPr>
              <p:cNvSpPr txBox="1"/>
              <p:nvPr/>
            </p:nvSpPr>
            <p:spPr>
              <a:xfrm>
                <a:off x="-1" y="3757515"/>
                <a:ext cx="77370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ru-RU" sz="2000" dirty="0"/>
                  <a:t> – тестовая функция.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85C64F9-6EC7-FB25-98B3-65A5CF7B2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3757515"/>
                <a:ext cx="7737061" cy="400110"/>
              </a:xfrm>
              <a:prstGeom prst="rect">
                <a:avLst/>
              </a:prstGeom>
              <a:blipFill>
                <a:blip r:embed="rId7"/>
                <a:stretch>
                  <a:fillRect l="-788" t="-6061" b="-272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2EC79BB9-AFA1-ACD3-9030-36290BF7132B}"/>
              </a:ext>
            </a:extLst>
          </p:cNvPr>
          <p:cNvSpPr txBox="1"/>
          <p:nvPr/>
        </p:nvSpPr>
        <p:spPr>
          <a:xfrm>
            <a:off x="0" y="4109000"/>
            <a:ext cx="9265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Итого мы можем перейти от </a:t>
            </a:r>
            <a:r>
              <a:rPr lang="ru-RU" sz="2000" u="sng" dirty="0"/>
              <a:t>дифференциальной задачи к вариационной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: скругленные углы 2">
                <a:extLst>
                  <a:ext uri="{FF2B5EF4-FFF2-40B4-BE49-F238E27FC236}">
                    <a16:creationId xmlns:a16="http://schemas.microsoft.com/office/drawing/2014/main" id="{12F88485-B70B-748E-FE1E-8F713A28BD21}"/>
                  </a:ext>
                </a:extLst>
              </p:cNvPr>
              <p:cNvSpPr/>
              <p:nvPr/>
            </p:nvSpPr>
            <p:spPr>
              <a:xfrm>
                <a:off x="3399680" y="2148000"/>
                <a:ext cx="3015868" cy="816134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=0, </m:t>
                      </m:r>
                      <m:r>
                        <m:rPr>
                          <m:sty m:val="p"/>
                        </m:rP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ru-RU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=0, </m:t>
                      </m:r>
                      <m:r>
                        <m:rPr>
                          <m:sty m:val="p"/>
                        </m:rP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ru-RU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𝛤</m:t>
                      </m:r>
                      <m:r>
                        <a:rPr lang="ru-RU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ru-RU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Прямоугольник: скругленные углы 2">
                <a:extLst>
                  <a:ext uri="{FF2B5EF4-FFF2-40B4-BE49-F238E27FC236}">
                    <a16:creationId xmlns:a16="http://schemas.microsoft.com/office/drawing/2014/main" id="{12F88485-B70B-748E-FE1E-8F713A28BD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680" y="2148000"/>
                <a:ext cx="3015868" cy="816134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: скругленные углы 4">
                <a:extLst>
                  <a:ext uri="{FF2B5EF4-FFF2-40B4-BE49-F238E27FC236}">
                    <a16:creationId xmlns:a16="http://schemas.microsoft.com/office/drawing/2014/main" id="{DC1A530E-9C2A-91B3-42C2-DC50692C1555}"/>
                  </a:ext>
                </a:extLst>
              </p:cNvPr>
              <p:cNvSpPr/>
              <p:nvPr/>
            </p:nvSpPr>
            <p:spPr>
              <a:xfrm>
                <a:off x="3608978" y="3419972"/>
                <a:ext cx="3261675" cy="625841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nary>
                    <m:acc>
                      <m:accPr>
                        <m:chr m:val="̂"/>
                        <m:ctrlP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sz="24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+</a:t>
                </a:r>
                <a:r>
                  <a:rPr lang="ru-RU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</m:sub>
                      <m:sup/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nary>
                    <m:acc>
                      <m:accPr>
                        <m:chr m:val="̂"/>
                        <m:ctrlP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endParaRPr lang="ru-RU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Прямоугольник: скругленные углы 4">
                <a:extLst>
                  <a:ext uri="{FF2B5EF4-FFF2-40B4-BE49-F238E27FC236}">
                    <a16:creationId xmlns:a16="http://schemas.microsoft.com/office/drawing/2014/main" id="{DC1A530E-9C2A-91B3-42C2-DC50692C15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978" y="3419972"/>
                <a:ext cx="3261675" cy="625841"/>
              </a:xfrm>
              <a:prstGeom prst="roundRect">
                <a:avLst/>
              </a:prstGeom>
              <a:blipFill>
                <a:blip r:embed="rId9"/>
                <a:stretch>
                  <a:fillRect b="-280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38013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58176A8-7AD3-53B0-8ACE-A4731FB2F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442" y="3172419"/>
            <a:ext cx="3653687" cy="628517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1B2F7E0B-0CFF-E041-CE3E-FED8CDDAE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180" y="3608275"/>
            <a:ext cx="3497618" cy="58927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94F25C1-3F1C-91C3-8F41-F0A8A0D84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5" y="3053785"/>
            <a:ext cx="2839348" cy="1609432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F60F6E7-58CB-943D-10F0-CE7457242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488" y="2549546"/>
            <a:ext cx="1892286" cy="431466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МКЭ – метод конечных элементов (</a:t>
            </a:r>
            <a:r>
              <a:rPr lang="en-US" sz="2400" dirty="0">
                <a:solidFill>
                  <a:srgbClr val="58519F"/>
                </a:solidFill>
              </a:rPr>
              <a:t>2</a:t>
            </a:r>
            <a:r>
              <a:rPr lang="ru-RU" sz="2400" dirty="0">
                <a:solidFill>
                  <a:srgbClr val="58519F"/>
                </a:solidFill>
              </a:rPr>
              <a:t>/</a:t>
            </a:r>
            <a:r>
              <a:rPr lang="en-US" sz="2400" dirty="0">
                <a:solidFill>
                  <a:srgbClr val="58519F"/>
                </a:solidFill>
              </a:rPr>
              <a:t>6</a:t>
            </a:r>
            <a:r>
              <a:rPr lang="ru-RU" sz="2400" dirty="0">
                <a:solidFill>
                  <a:srgbClr val="58519F"/>
                </a:solidFill>
              </a:rPr>
              <a:t>)</a:t>
            </a:r>
          </a:p>
          <a:p>
            <a:pPr algn="ctr"/>
            <a:r>
              <a:rPr lang="ru-RU" sz="2400" dirty="0">
                <a:solidFill>
                  <a:srgbClr val="58519F"/>
                </a:solidFill>
              </a:rPr>
              <a:t>Слабая форма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7CBA61-28E7-3ABE-D0F8-95709F5C2844}"/>
                  </a:ext>
                </a:extLst>
              </p:cNvPr>
              <p:cNvSpPr txBox="1"/>
              <p:nvPr/>
            </p:nvSpPr>
            <p:spPr>
              <a:xfrm>
                <a:off x="231048" y="1002761"/>
                <a:ext cx="851576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buNone/>
                </a:pPr>
                <a:r>
                  <a:rPr lang="ru-RU" sz="2000" dirty="0"/>
                  <a:t>Можно перейти к другой форме, если задать более высокую непрерывность тестовой функции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ru-RU" sz="2000" dirty="0"/>
                  <a:t>: </a:t>
                </a:r>
                <a:endParaRPr lang="ru-RU" sz="2000" u="sng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7CBA61-28E7-3ABE-D0F8-95709F5C2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48" y="1002761"/>
                <a:ext cx="8515760" cy="707886"/>
              </a:xfrm>
              <a:prstGeom prst="rect">
                <a:avLst/>
              </a:prstGeom>
              <a:blipFill>
                <a:blip r:embed="rId6"/>
                <a:stretch>
                  <a:fillRect l="-787" t="-3419" r="-716" b="-145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utoShape 6">
            <a:extLst>
              <a:ext uri="{FF2B5EF4-FFF2-40B4-BE49-F238E27FC236}">
                <a16:creationId xmlns:a16="http://schemas.microsoft.com/office/drawing/2014/main" id="{54CA82E8-0C6F-2CB0-DC99-A809729BD0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8413" y="222034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F10AD9-3DF2-B57E-3E25-6E3E1371ECFC}"/>
                  </a:ext>
                </a:extLst>
              </p:cNvPr>
              <p:cNvSpPr txBox="1"/>
              <p:nvPr/>
            </p:nvSpPr>
            <p:spPr>
              <a:xfrm>
                <a:off x="987084" y="1695710"/>
                <a:ext cx="7325548" cy="532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ru-RU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nary>
                    <m:acc>
                      <m:accPr>
                        <m:chr m:val="̂"/>
                        <m:ctrlP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sz="24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+</a:t>
                </a:r>
                <a:r>
                  <a:rPr lang="ru-RU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</m:sub>
                      <m:sup/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nary>
                    <m:acc>
                      <m:accPr>
                        <m:chr m:val="̂"/>
                        <m:ctrlP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nary>
                      <m:naryPr>
                        <m:supHide m:val="on"/>
                        <m:ctrlP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nary>
                    <m:acc>
                      <m:accPr>
                        <m:chr m:val="̂"/>
                        <m:ctrlP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nor/>
                      </m:rP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ru-RU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ru-RU" sz="2400" dirty="0">
                        <a:solidFill>
                          <a:schemeClr val="tx1"/>
                        </a:solidFill>
                      </a:rPr>
                      <m:t> </m:t>
                    </m:r>
                    <m:nary>
                      <m:naryPr>
                        <m:supHide m:val="on"/>
                        <m:ctrlP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</m:sub>
                      <m:sup/>
                      <m:e>
                        <m:acc>
                          <m:accPr>
                            <m:chr m:val="̃"/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acc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nary>
                    <m:acc>
                      <m:accPr>
                        <m:chr m:val="̂"/>
                        <m:ctrlP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ru-RU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F10AD9-3DF2-B57E-3E25-6E3E1371E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084" y="1695710"/>
                <a:ext cx="7325548" cy="532582"/>
              </a:xfrm>
              <a:prstGeom prst="rect">
                <a:avLst/>
              </a:prstGeom>
              <a:blipFill>
                <a:blip r:embed="rId7"/>
                <a:stretch>
                  <a:fillRect t="-6818" b="-13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7346D5-83FF-B9E0-1D28-E8ECD918A54C}"/>
                  </a:ext>
                </a:extLst>
              </p:cNvPr>
              <p:cNvSpPr txBox="1"/>
              <p:nvPr/>
            </p:nvSpPr>
            <p:spPr>
              <a:xfrm>
                <a:off x="153204" y="2162416"/>
                <a:ext cx="8515760" cy="410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buNone/>
                </a:pPr>
                <a:r>
                  <a:rPr lang="ru-RU" sz="2000" dirty="0"/>
                  <a:t>где операторы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ru-RU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и </m:t>
                    </m:r>
                    <m:acc>
                      <m:accPr>
                        <m:chr m:val="̂"/>
                        <m:ctrlPr>
                          <a:rPr lang="ru-RU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ru-RU" sz="2000" dirty="0"/>
                  <a:t> имеют производные меньшего порядка.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7346D5-83FF-B9E0-1D28-E8ECD918A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04" y="2162416"/>
                <a:ext cx="8515760" cy="410562"/>
              </a:xfrm>
              <a:prstGeom prst="rect">
                <a:avLst/>
              </a:prstGeom>
              <a:blipFill>
                <a:blip r:embed="rId8"/>
                <a:stretch>
                  <a:fillRect l="-716" t="-7463" b="-268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7B5EA3B-2E2A-D269-7714-FAF2DAA459DC}"/>
              </a:ext>
            </a:extLst>
          </p:cNvPr>
          <p:cNvSpPr txBox="1"/>
          <p:nvPr/>
        </p:nvSpPr>
        <p:spPr>
          <a:xfrm>
            <a:off x="153204" y="2639216"/>
            <a:ext cx="8515760" cy="41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sz="2000" u="sng" dirty="0"/>
              <a:t>Пример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F36477-3AB5-84CF-E94A-A47BD2F50B3A}"/>
              </a:ext>
            </a:extLst>
          </p:cNvPr>
          <p:cNvSpPr txBox="1"/>
          <p:nvPr/>
        </p:nvSpPr>
        <p:spPr>
          <a:xfrm>
            <a:off x="2844873" y="2802599"/>
            <a:ext cx="8515760" cy="41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sz="2000" dirty="0"/>
              <a:t>Умножим на пробную функцию и проинтегрируем: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921E47A4-2333-75FF-3C00-B9373EC323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7770" y="4142433"/>
            <a:ext cx="1271345" cy="585322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0868C7D-6FE3-CD86-9308-67640BE009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8972" y="4142433"/>
            <a:ext cx="2407043" cy="589353"/>
          </a:xfrm>
          <a:prstGeom prst="rect">
            <a:avLst/>
          </a:prstGeom>
        </p:spPr>
      </p:pic>
      <p:sp>
        <p:nvSpPr>
          <p:cNvPr id="33" name="Стрелка: вниз 32">
            <a:extLst>
              <a:ext uri="{FF2B5EF4-FFF2-40B4-BE49-F238E27FC236}">
                <a16:creationId xmlns:a16="http://schemas.microsoft.com/office/drawing/2014/main" id="{2EB7901F-C160-3452-59DB-9B16C1900FF5}"/>
              </a:ext>
            </a:extLst>
          </p:cNvPr>
          <p:cNvSpPr/>
          <p:nvPr/>
        </p:nvSpPr>
        <p:spPr>
          <a:xfrm flipH="1">
            <a:off x="3154803" y="3766404"/>
            <a:ext cx="106144" cy="410562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48AC35-2E0E-C6BA-E512-EE9AF07E0966}"/>
              </a:ext>
            </a:extLst>
          </p:cNvPr>
          <p:cNvSpPr txBox="1"/>
          <p:nvPr/>
        </p:nvSpPr>
        <p:spPr>
          <a:xfrm>
            <a:off x="3284311" y="3807105"/>
            <a:ext cx="22004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Интегрирование по частям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99AD983D-6110-809F-9DAC-97D14C3D737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0709" y="4121051"/>
            <a:ext cx="1394129" cy="606704"/>
          </a:xfrm>
          <a:prstGeom prst="rect">
            <a:avLst/>
          </a:prstGeom>
        </p:spPr>
      </p:pic>
      <p:sp>
        <p:nvSpPr>
          <p:cNvPr id="40" name="Стрелка: вниз 39">
            <a:extLst>
              <a:ext uri="{FF2B5EF4-FFF2-40B4-BE49-F238E27FC236}">
                <a16:creationId xmlns:a16="http://schemas.microsoft.com/office/drawing/2014/main" id="{D9152649-C0CF-5420-243D-F5B1BE5FA728}"/>
              </a:ext>
            </a:extLst>
          </p:cNvPr>
          <p:cNvSpPr/>
          <p:nvPr/>
        </p:nvSpPr>
        <p:spPr>
          <a:xfrm rot="14111930" flipH="1">
            <a:off x="6611704" y="4215617"/>
            <a:ext cx="156628" cy="215426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" name="Стрелка: вниз 42">
            <a:extLst>
              <a:ext uri="{FF2B5EF4-FFF2-40B4-BE49-F238E27FC236}">
                <a16:creationId xmlns:a16="http://schemas.microsoft.com/office/drawing/2014/main" id="{CF1AB6EB-ECD4-9EF2-A963-BB276E685758}"/>
              </a:ext>
            </a:extLst>
          </p:cNvPr>
          <p:cNvSpPr/>
          <p:nvPr/>
        </p:nvSpPr>
        <p:spPr>
          <a:xfrm rot="18772414" flipH="1">
            <a:off x="6220814" y="3390238"/>
            <a:ext cx="156628" cy="215426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37036E94-8664-02E0-E996-33F48BADCE54}"/>
              </a:ext>
            </a:extLst>
          </p:cNvPr>
          <p:cNvSpPr/>
          <p:nvPr/>
        </p:nvSpPr>
        <p:spPr>
          <a:xfrm>
            <a:off x="5392994" y="3619999"/>
            <a:ext cx="3628164" cy="55696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8A6C6F-459D-0A3E-1CCC-676E0A9C2CE7}"/>
              </a:ext>
            </a:extLst>
          </p:cNvPr>
          <p:cNvSpPr txBox="1"/>
          <p:nvPr/>
        </p:nvSpPr>
        <p:spPr>
          <a:xfrm>
            <a:off x="6957377" y="3209437"/>
            <a:ext cx="6188352" cy="41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sz="2000" u="sng" dirty="0"/>
              <a:t>Слабая форма</a:t>
            </a:r>
          </a:p>
        </p:txBody>
      </p:sp>
      <p:sp>
        <p:nvSpPr>
          <p:cNvPr id="3" name="Стрелка: вниз 2">
            <a:extLst>
              <a:ext uri="{FF2B5EF4-FFF2-40B4-BE49-F238E27FC236}">
                <a16:creationId xmlns:a16="http://schemas.microsoft.com/office/drawing/2014/main" id="{719761E2-9C9D-6B62-E1E7-640E4C3C2003}"/>
              </a:ext>
            </a:extLst>
          </p:cNvPr>
          <p:cNvSpPr/>
          <p:nvPr/>
        </p:nvSpPr>
        <p:spPr>
          <a:xfrm rot="16200000" flipH="1">
            <a:off x="2721365" y="3227048"/>
            <a:ext cx="102257" cy="254102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66986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15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МКЭ – метод конечных элементов (</a:t>
            </a:r>
            <a:r>
              <a:rPr lang="en-US" sz="2400" dirty="0">
                <a:solidFill>
                  <a:srgbClr val="58519F"/>
                </a:solidFill>
              </a:rPr>
              <a:t>3</a:t>
            </a:r>
            <a:r>
              <a:rPr lang="ru-RU" sz="2400" dirty="0">
                <a:solidFill>
                  <a:srgbClr val="58519F"/>
                </a:solidFill>
              </a:rPr>
              <a:t>/</a:t>
            </a:r>
            <a:r>
              <a:rPr lang="en-US" sz="2400" dirty="0">
                <a:solidFill>
                  <a:srgbClr val="58519F"/>
                </a:solidFill>
              </a:rPr>
              <a:t>6</a:t>
            </a:r>
            <a:r>
              <a:rPr lang="ru-RU" sz="2400" dirty="0">
                <a:solidFill>
                  <a:srgbClr val="58519F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7CBA61-28E7-3ABE-D0F8-95709F5C2844}"/>
                  </a:ext>
                </a:extLst>
              </p:cNvPr>
              <p:cNvSpPr txBox="1"/>
              <p:nvPr/>
            </p:nvSpPr>
            <p:spPr>
              <a:xfrm>
                <a:off x="231048" y="858762"/>
                <a:ext cx="851576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buNone/>
                </a:pPr>
                <a:r>
                  <a:rPr lang="ru-RU" sz="2000" dirty="0"/>
                  <a:t>Можно свести эту задачу к решению СЛАУ</a:t>
                </a:r>
                <a:r>
                  <a:rPr lang="en-US" sz="2000" dirty="0"/>
                  <a:t>.</a:t>
                </a:r>
                <a:r>
                  <a:rPr lang="ru-RU" sz="2000" dirty="0"/>
                  <a:t> Для этого разложим искомую функцию по базису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ru-RU" sz="2000" u="sng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7CBA61-28E7-3ABE-D0F8-95709F5C2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48" y="858762"/>
                <a:ext cx="8515760" cy="707886"/>
              </a:xfrm>
              <a:prstGeom prst="rect">
                <a:avLst/>
              </a:prstGeom>
              <a:blipFill>
                <a:blip r:embed="rId2"/>
                <a:stretch>
                  <a:fillRect l="-787" t="-4310" r="-716" b="-155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E8A524FC-06A7-4E5E-80FD-00884BF3225C}"/>
              </a:ext>
            </a:extLst>
          </p:cNvPr>
          <p:cNvSpPr txBox="1"/>
          <p:nvPr/>
        </p:nvSpPr>
        <p:spPr>
          <a:xfrm>
            <a:off x="142817" y="2474340"/>
            <a:ext cx="55307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sz="2000" dirty="0"/>
              <a:t>После подстановки в вариационную задачу</a:t>
            </a:r>
            <a:r>
              <a:rPr lang="en-US" sz="2000" dirty="0"/>
              <a:t>:</a:t>
            </a:r>
            <a:r>
              <a:rPr lang="ru-RU" sz="2000" dirty="0"/>
              <a:t>  </a:t>
            </a:r>
          </a:p>
        </p:txBody>
      </p:sp>
      <p:sp>
        <p:nvSpPr>
          <p:cNvPr id="44" name="Стрелка: вниз 43">
            <a:extLst>
              <a:ext uri="{FF2B5EF4-FFF2-40B4-BE49-F238E27FC236}">
                <a16:creationId xmlns:a16="http://schemas.microsoft.com/office/drawing/2014/main" id="{9F11C1C8-218A-443F-80F4-B80DB323690D}"/>
              </a:ext>
            </a:extLst>
          </p:cNvPr>
          <p:cNvSpPr/>
          <p:nvPr/>
        </p:nvSpPr>
        <p:spPr>
          <a:xfrm rot="16200000" flipH="1">
            <a:off x="6030411" y="3474196"/>
            <a:ext cx="375968" cy="603581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8B76CC1-894D-4AC8-978E-F6C5D99D6012}"/>
                  </a:ext>
                </a:extLst>
              </p:cNvPr>
              <p:cNvSpPr txBox="1"/>
              <p:nvPr/>
            </p:nvSpPr>
            <p:spPr>
              <a:xfrm>
                <a:off x="6781230" y="3523601"/>
                <a:ext cx="152388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𝑨𝒖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ru-RU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8B76CC1-894D-4AC8-978E-F6C5D99D6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230" y="3523601"/>
                <a:ext cx="1523885" cy="46166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Прямоугольник: скругленные углы 48">
            <a:extLst>
              <a:ext uri="{FF2B5EF4-FFF2-40B4-BE49-F238E27FC236}">
                <a16:creationId xmlns:a16="http://schemas.microsoft.com/office/drawing/2014/main" id="{26652016-4FB3-4162-A2B8-30164E981A15}"/>
              </a:ext>
            </a:extLst>
          </p:cNvPr>
          <p:cNvSpPr/>
          <p:nvPr/>
        </p:nvSpPr>
        <p:spPr>
          <a:xfrm>
            <a:off x="6882062" y="3403003"/>
            <a:ext cx="1335505" cy="7117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0B138DC-5C64-4A2B-9F45-AD94A3CB28C5}"/>
              </a:ext>
            </a:extLst>
          </p:cNvPr>
          <p:cNvSpPr txBox="1"/>
          <p:nvPr/>
        </p:nvSpPr>
        <p:spPr>
          <a:xfrm>
            <a:off x="7016655" y="4171145"/>
            <a:ext cx="1053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sz="2000" b="1" dirty="0"/>
              <a:t>СЛАУ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: скругленные углы 5">
                <a:extLst>
                  <a:ext uri="{FF2B5EF4-FFF2-40B4-BE49-F238E27FC236}">
                    <a16:creationId xmlns:a16="http://schemas.microsoft.com/office/drawing/2014/main" id="{59970CF9-80A6-34A6-7EDB-3C32F0A7F51B}"/>
                  </a:ext>
                </a:extLst>
              </p:cNvPr>
              <p:cNvSpPr/>
              <p:nvPr/>
            </p:nvSpPr>
            <p:spPr>
              <a:xfrm>
                <a:off x="1739593" y="1629390"/>
                <a:ext cx="3308290" cy="832784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)≈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en-US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Прямоугольник: скругленные углы 5">
                <a:extLst>
                  <a:ext uri="{FF2B5EF4-FFF2-40B4-BE49-F238E27FC236}">
                    <a16:creationId xmlns:a16="http://schemas.microsoft.com/office/drawing/2014/main" id="{59970CF9-80A6-34A6-7EDB-3C32F0A7F5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593" y="1629390"/>
                <a:ext cx="3308290" cy="83278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: скругленные углы 6">
                <a:extLst>
                  <a:ext uri="{FF2B5EF4-FFF2-40B4-BE49-F238E27FC236}">
                    <a16:creationId xmlns:a16="http://schemas.microsoft.com/office/drawing/2014/main" id="{373438DB-760C-4AFA-C291-E2D48FA856EA}"/>
                  </a:ext>
                </a:extLst>
              </p:cNvPr>
              <p:cNvSpPr/>
              <p:nvPr/>
            </p:nvSpPr>
            <p:spPr>
              <a:xfrm>
                <a:off x="5653430" y="2181723"/>
                <a:ext cx="3308290" cy="832784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ru-RU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nary>
                      <m:acc>
                        <m:accPr>
                          <m:chr m:val="̂"/>
                          <m:ctrlP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m:rPr>
                          <m:nor/>
                        </m:rPr>
                        <a:rPr lang="en-US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18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ru-RU" sz="1800" dirty="0">
                          <a:solidFill>
                            <a:schemeClr val="tx1"/>
                          </a:solidFill>
                        </a:rPr>
                        <m:t> </m:t>
                      </m:r>
                      <m:nary>
                        <m:naryPr>
                          <m:supHide m:val="on"/>
                          <m:ctrlP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nary>
                      <m:acc>
                        <m:accPr>
                          <m:chr m:val="̂"/>
                          <m:ctrlPr>
                            <a:rPr lang="ru-RU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ru-RU" sz="1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m:rPr>
                          <m:nor/>
                        </m:rPr>
                        <a:rPr lang="en-US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ru-RU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Прямоугольник: скругленные углы 6">
                <a:extLst>
                  <a:ext uri="{FF2B5EF4-FFF2-40B4-BE49-F238E27FC236}">
                    <a16:creationId xmlns:a16="http://schemas.microsoft.com/office/drawing/2014/main" id="{373438DB-760C-4AFA-C291-E2D48FA856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430" y="2181723"/>
                <a:ext cx="3308290" cy="83278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: скругленные углы 7">
                <a:extLst>
                  <a:ext uri="{FF2B5EF4-FFF2-40B4-BE49-F238E27FC236}">
                    <a16:creationId xmlns:a16="http://schemas.microsoft.com/office/drawing/2014/main" id="{1DC7924C-3009-F3D5-BCB2-11D1643BE1A6}"/>
                  </a:ext>
                </a:extLst>
              </p:cNvPr>
              <p:cNvSpPr/>
              <p:nvPr/>
            </p:nvSpPr>
            <p:spPr>
              <a:xfrm>
                <a:off x="122690" y="3307124"/>
                <a:ext cx="5530740" cy="1018802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nary>
                        <m:naryPr>
                          <m:supHide m:val="on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  <m:acc>
                            <m:accPr>
                              <m:chr m:val="̂"/>
                              <m:ctrlPr>
                                <a:rPr lang="ru-RU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nary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nary>
                            <m:naryPr>
                              <m:supHide m:val="on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Г</m:t>
                              </m:r>
                            </m:sub>
                            <m:sup/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ru-RU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Г</m:t>
                              </m:r>
                            </m:e>
                          </m:nary>
                        </m:e>
                      </m:nary>
                      <m:r>
                        <a:rPr lang="ru-RU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Прямоугольник: скругленные углы 7">
                <a:extLst>
                  <a:ext uri="{FF2B5EF4-FFF2-40B4-BE49-F238E27FC236}">
                    <a16:creationId xmlns:a16="http://schemas.microsoft.com/office/drawing/2014/main" id="{1DC7924C-3009-F3D5-BCB2-11D1643BE1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90" y="3307124"/>
                <a:ext cx="5530740" cy="101880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69264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16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МКЭ – метод конечных элементов (</a:t>
            </a:r>
            <a:r>
              <a:rPr lang="en-US" sz="2400" dirty="0">
                <a:solidFill>
                  <a:srgbClr val="58519F"/>
                </a:solidFill>
              </a:rPr>
              <a:t>4</a:t>
            </a:r>
            <a:r>
              <a:rPr lang="ru-RU" sz="2400" dirty="0">
                <a:solidFill>
                  <a:srgbClr val="58519F"/>
                </a:solidFill>
              </a:rPr>
              <a:t>/</a:t>
            </a:r>
            <a:r>
              <a:rPr lang="en-US" sz="2400" dirty="0">
                <a:solidFill>
                  <a:srgbClr val="58519F"/>
                </a:solidFill>
              </a:rPr>
              <a:t>6</a:t>
            </a:r>
            <a:r>
              <a:rPr lang="ru-RU" sz="2400" dirty="0">
                <a:solidFill>
                  <a:srgbClr val="58519F"/>
                </a:solidFill>
              </a:rPr>
              <a:t>)</a:t>
            </a:r>
          </a:p>
          <a:p>
            <a:pPr algn="ctr"/>
            <a:r>
              <a:rPr lang="ru-RU" sz="2400" dirty="0">
                <a:solidFill>
                  <a:srgbClr val="58519F"/>
                </a:solidFill>
              </a:rPr>
              <a:t>Сетка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7CBA61-28E7-3ABE-D0F8-95709F5C2844}"/>
                  </a:ext>
                </a:extLst>
              </p:cNvPr>
              <p:cNvSpPr txBox="1"/>
              <p:nvPr/>
            </p:nvSpPr>
            <p:spPr>
              <a:xfrm>
                <a:off x="231048" y="1062692"/>
                <a:ext cx="851576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buNone/>
                </a:pPr>
                <a:r>
                  <a:rPr lang="ru-RU" sz="2000" dirty="0"/>
                  <a:t>Вариационная задача верна для любых тестовых функций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000" dirty="0"/>
                  <a:t>. То есть мы вольны выбирать разбиение на подмножества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000" dirty="0"/>
                  <a:t> сетку.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7CBA61-28E7-3ABE-D0F8-95709F5C2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48" y="1062692"/>
                <a:ext cx="8515760" cy="707886"/>
              </a:xfrm>
              <a:prstGeom prst="rect">
                <a:avLst/>
              </a:prstGeom>
              <a:blipFill>
                <a:blip r:embed="rId2"/>
                <a:stretch>
                  <a:fillRect l="-787" t="-3448" r="-716" b="-155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8A524FC-06A7-4E5E-80FD-00884BF3225C}"/>
                  </a:ext>
                </a:extLst>
              </p:cNvPr>
              <p:cNvSpPr txBox="1"/>
              <p:nvPr/>
            </p:nvSpPr>
            <p:spPr>
              <a:xfrm>
                <a:off x="3826042" y="1771986"/>
                <a:ext cx="4905538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just">
                  <a:buNone/>
                </a:pPr>
                <a:r>
                  <a:rPr lang="ru-RU" sz="2000" b="1" dirty="0"/>
                  <a:t>Сетка</a:t>
                </a:r>
                <a:r>
                  <a:rPr lang="ru-RU" sz="2000" dirty="0"/>
                  <a:t> – представление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ru-RU" sz="2000" dirty="0"/>
                  <a:t> в виде конечного набора однотипных множеств (неравномерные треугольные/прямоугольные), </a:t>
                </a:r>
                <a:r>
                  <a:rPr lang="ru-RU" sz="2000" b="1" dirty="0"/>
                  <a:t>на каждом</a:t>
                </a:r>
                <a:r>
                  <a:rPr lang="ru-RU" sz="2000" dirty="0"/>
                  <a:t> из котором определена </a:t>
                </a:r>
                <a:r>
                  <a:rPr lang="ru-RU" sz="2000" b="1" dirty="0"/>
                  <a:t>своя базисная функция</a:t>
                </a:r>
                <a:r>
                  <a:rPr lang="ru-RU" sz="2000" dirty="0"/>
                  <a:t>.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8A524FC-06A7-4E5E-80FD-00884BF32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6042" y="1771986"/>
                <a:ext cx="4905538" cy="1938992"/>
              </a:xfrm>
              <a:prstGeom prst="rect">
                <a:avLst/>
              </a:prstGeom>
              <a:blipFill>
                <a:blip r:embed="rId3"/>
                <a:stretch>
                  <a:fillRect l="-1368" t="-1572" r="-1244" b="-50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78B76CC1-894D-4AC8-978E-F6C5D99D6012}"/>
              </a:ext>
            </a:extLst>
          </p:cNvPr>
          <p:cNvSpPr txBox="1"/>
          <p:nvPr/>
        </p:nvSpPr>
        <p:spPr>
          <a:xfrm>
            <a:off x="4692782" y="3486430"/>
            <a:ext cx="5700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2400" b="1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EEFE16B-11BB-4987-A8F1-7596D5DC3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48" y="1771986"/>
            <a:ext cx="2627568" cy="246860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015C9BD-80E9-41FD-80E1-022A495AE44A}"/>
              </a:ext>
            </a:extLst>
          </p:cNvPr>
          <p:cNvSpPr txBox="1"/>
          <p:nvPr/>
        </p:nvSpPr>
        <p:spPr>
          <a:xfrm>
            <a:off x="1791606" y="1786984"/>
            <a:ext cx="182411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Сетка в тонком оксидном слое и в</a:t>
            </a:r>
          </a:p>
          <a:p>
            <a:pPr algn="ctr"/>
            <a:r>
              <a:rPr lang="ru-RU" dirty="0"/>
              <a:t>прилегающих к нему слоях</a:t>
            </a:r>
          </a:p>
          <a:p>
            <a:pPr algn="ctr"/>
            <a:r>
              <a:rPr lang="ru-RU" dirty="0"/>
              <a:t>поликремния и кремния (</a:t>
            </a:r>
            <a:r>
              <a:rPr lang="en-US" dirty="0" err="1"/>
              <a:t>Sentaurus</a:t>
            </a:r>
            <a:r>
              <a:rPr lang="en-US" dirty="0"/>
              <a:t> TCAD)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5CBA73-31C6-4E61-91A6-84C6B81730FE}"/>
              </a:ext>
            </a:extLst>
          </p:cNvPr>
          <p:cNvSpPr txBox="1"/>
          <p:nvPr/>
        </p:nvSpPr>
        <p:spPr>
          <a:xfrm>
            <a:off x="3181792" y="3905301"/>
            <a:ext cx="51440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Задавая сетку, мы переходим от </a:t>
            </a:r>
            <a:r>
              <a:rPr lang="ru-RU" sz="2000" b="1" dirty="0"/>
              <a:t>одного</a:t>
            </a:r>
            <a:r>
              <a:rPr lang="ru-RU" sz="2000" dirty="0"/>
              <a:t> уравнения ко </a:t>
            </a:r>
            <a:r>
              <a:rPr lang="ru-RU" sz="2000" b="1" dirty="0"/>
              <a:t>многим</a:t>
            </a:r>
            <a:r>
              <a:rPr lang="ru-RU" sz="2000" dirty="0"/>
              <a:t> на каждом «кусочке» (элементе).</a:t>
            </a:r>
          </a:p>
        </p:txBody>
      </p:sp>
    </p:spTree>
    <p:extLst>
      <p:ext uri="{BB962C8B-B14F-4D97-AF65-F5344CB8AC3E}">
        <p14:creationId xmlns:p14="http://schemas.microsoft.com/office/powerpoint/2010/main" val="112687200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17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МКЭ – метод конечных элементов (</a:t>
            </a:r>
            <a:r>
              <a:rPr lang="en-US" sz="2400" dirty="0">
                <a:solidFill>
                  <a:srgbClr val="58519F"/>
                </a:solidFill>
              </a:rPr>
              <a:t>5</a:t>
            </a:r>
            <a:r>
              <a:rPr lang="ru-RU" sz="2400" dirty="0">
                <a:solidFill>
                  <a:srgbClr val="58519F"/>
                </a:solidFill>
              </a:rPr>
              <a:t>/</a:t>
            </a:r>
            <a:r>
              <a:rPr lang="en-US" sz="2400" dirty="0">
                <a:solidFill>
                  <a:srgbClr val="58519F"/>
                </a:solidFill>
              </a:rPr>
              <a:t>6</a:t>
            </a:r>
            <a:r>
              <a:rPr lang="ru-RU" sz="2400" dirty="0">
                <a:solidFill>
                  <a:srgbClr val="58519F"/>
                </a:solidFill>
              </a:rPr>
              <a:t>)</a:t>
            </a:r>
          </a:p>
          <a:p>
            <a:pPr algn="ctr"/>
            <a:r>
              <a:rPr lang="ru-RU" sz="2400" dirty="0">
                <a:solidFill>
                  <a:srgbClr val="58519F"/>
                </a:solidFill>
              </a:rPr>
              <a:t>Базис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7CBA61-28E7-3ABE-D0F8-95709F5C2844}"/>
              </a:ext>
            </a:extLst>
          </p:cNvPr>
          <p:cNvSpPr txBox="1"/>
          <p:nvPr/>
        </p:nvSpPr>
        <p:spPr>
          <a:xfrm>
            <a:off x="231048" y="1122543"/>
            <a:ext cx="8515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sz="2000" dirty="0"/>
              <a:t>Выбираем </a:t>
            </a:r>
            <a:r>
              <a:rPr lang="en-US" sz="2000" dirty="0"/>
              <a:t>“</a:t>
            </a:r>
            <a:r>
              <a:rPr lang="ru-RU" sz="2000" dirty="0"/>
              <a:t>удобный</a:t>
            </a:r>
            <a:r>
              <a:rPr lang="en-US" sz="2000" dirty="0"/>
              <a:t>”</a:t>
            </a:r>
            <a:r>
              <a:rPr lang="ru-RU" sz="2000" dirty="0"/>
              <a:t> базис, чтобы можно было аналитически взять интегралы в СЛАУ.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B6D971-5072-4E67-9D95-D4168BD26CD5}"/>
              </a:ext>
            </a:extLst>
          </p:cNvPr>
          <p:cNvSpPr txBox="1"/>
          <p:nvPr/>
        </p:nvSpPr>
        <p:spPr>
          <a:xfrm>
            <a:off x="231048" y="1830429"/>
            <a:ext cx="13298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sz="2000" b="1" dirty="0"/>
              <a:t>Пример: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047F12-E857-488E-A4BD-2447E6A46EC6}"/>
                  </a:ext>
                </a:extLst>
              </p:cNvPr>
              <p:cNvSpPr txBox="1"/>
              <p:nvPr/>
            </p:nvSpPr>
            <p:spPr>
              <a:xfrm>
                <a:off x="1385054" y="2538315"/>
                <a:ext cx="3186946" cy="1726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0, 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∉[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]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∈[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047F12-E857-488E-A4BD-2447E6A46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054" y="2538315"/>
                <a:ext cx="3186946" cy="17266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36808A-3425-4DD2-AEC9-6526763851E9}"/>
                  </a:ext>
                </a:extLst>
              </p:cNvPr>
              <p:cNvSpPr txBox="1"/>
              <p:nvPr/>
            </p:nvSpPr>
            <p:spPr>
              <a:xfrm>
                <a:off x="235642" y="2979850"/>
                <a:ext cx="101706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36808A-3425-4DD2-AEC9-652676385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42" y="2979850"/>
                <a:ext cx="1017065" cy="461665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Левая фигурная скобка 3">
            <a:extLst>
              <a:ext uri="{FF2B5EF4-FFF2-40B4-BE49-F238E27FC236}">
                <a16:creationId xmlns:a16="http://schemas.microsoft.com/office/drawing/2014/main" id="{E80E64B4-2038-4CC7-B8D4-DEE1DA6EC927}"/>
              </a:ext>
            </a:extLst>
          </p:cNvPr>
          <p:cNvSpPr/>
          <p:nvPr/>
        </p:nvSpPr>
        <p:spPr>
          <a:xfrm>
            <a:off x="6714534" y="3965971"/>
            <a:ext cx="123970" cy="68450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BEB69B8-1E0E-4BE6-9E03-4E2B9B77E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7585" y="1745976"/>
            <a:ext cx="3103344" cy="147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907E3BC-1940-47AA-9FD8-548FA000E794}"/>
              </a:ext>
            </a:extLst>
          </p:cNvPr>
          <p:cNvSpPr txBox="1"/>
          <p:nvPr/>
        </p:nvSpPr>
        <p:spPr>
          <a:xfrm>
            <a:off x="0" y="4883448"/>
            <a:ext cx="76881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/>
              <a:t>https://studfile.net/html/2706/349/html_ot7M7HHC7m.ImIE/htmlconvd-6SCOXB8x1.jpg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AC8113-F20F-4796-A4D6-053E5AC1D51D}"/>
                  </a:ext>
                </a:extLst>
              </p:cNvPr>
              <p:cNvSpPr txBox="1"/>
              <p:nvPr/>
            </p:nvSpPr>
            <p:spPr>
              <a:xfrm>
                <a:off x="6732415" y="2716824"/>
                <a:ext cx="65532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9AC8113-F20F-4796-A4D6-053E5AC1D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415" y="2716824"/>
                <a:ext cx="65532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781FEE-0333-43F6-B337-9A2775381F33}"/>
                  </a:ext>
                </a:extLst>
              </p:cNvPr>
              <p:cNvSpPr txBox="1"/>
              <p:nvPr/>
            </p:nvSpPr>
            <p:spPr>
              <a:xfrm>
                <a:off x="5749435" y="2716824"/>
                <a:ext cx="65532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781FEE-0333-43F6-B337-9A2775381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435" y="2716824"/>
                <a:ext cx="65532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C26F782-A599-4A01-8E2D-66430CDEE682}"/>
                  </a:ext>
                </a:extLst>
              </p:cNvPr>
              <p:cNvSpPr txBox="1"/>
              <p:nvPr/>
            </p:nvSpPr>
            <p:spPr>
              <a:xfrm>
                <a:off x="6201065" y="2716824"/>
                <a:ext cx="65532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C26F782-A599-4A01-8E2D-66430CDEE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065" y="2716824"/>
                <a:ext cx="655320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A77C3EB2-1E76-4D0A-ADA4-DB33CF16B59F}"/>
              </a:ext>
            </a:extLst>
          </p:cNvPr>
          <p:cNvSpPr txBox="1"/>
          <p:nvPr/>
        </p:nvSpPr>
        <p:spPr>
          <a:xfrm>
            <a:off x="4684295" y="3061951"/>
            <a:ext cx="39534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sz="2000" b="1" dirty="0"/>
              <a:t>Главное:</a:t>
            </a:r>
            <a:r>
              <a:rPr lang="en-US" sz="2000" dirty="0"/>
              <a:t> </a:t>
            </a:r>
            <a:r>
              <a:rPr lang="ru-RU" sz="2000" dirty="0"/>
              <a:t>должно выполняться: в своем узле - 1, в других - 0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E5E20D4-ABAC-4D49-AC86-1D08FBF5AA38}"/>
                  </a:ext>
                </a:extLst>
              </p:cNvPr>
              <p:cNvSpPr txBox="1"/>
              <p:nvPr/>
            </p:nvSpPr>
            <p:spPr>
              <a:xfrm>
                <a:off x="5322819" y="4009997"/>
                <a:ext cx="1499091" cy="491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ru-RU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E5E20D4-ABAC-4D49-AC86-1D08FBF5A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819" y="4009997"/>
                <a:ext cx="1499091" cy="491417"/>
              </a:xfrm>
              <a:prstGeom prst="rect">
                <a:avLst/>
              </a:prstGeom>
              <a:blipFill>
                <a:blip r:embed="rId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Левая фигурная скобка 27">
            <a:extLst>
              <a:ext uri="{FF2B5EF4-FFF2-40B4-BE49-F238E27FC236}">
                <a16:creationId xmlns:a16="http://schemas.microsoft.com/office/drawing/2014/main" id="{5D75E9E6-91FE-4DFE-A710-23C646E316CC}"/>
              </a:ext>
            </a:extLst>
          </p:cNvPr>
          <p:cNvSpPr/>
          <p:nvPr/>
        </p:nvSpPr>
        <p:spPr>
          <a:xfrm>
            <a:off x="1272759" y="2766990"/>
            <a:ext cx="264695" cy="143583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8FDECA-319D-41C7-9946-BF09A2CECF0F}"/>
                  </a:ext>
                </a:extLst>
              </p:cNvPr>
              <p:cNvSpPr txBox="1"/>
              <p:nvPr/>
            </p:nvSpPr>
            <p:spPr>
              <a:xfrm>
                <a:off x="6714534" y="3879029"/>
                <a:ext cx="1196707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98FDECA-319D-41C7-9946-BF09A2CEC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4534" y="3879029"/>
                <a:ext cx="1196707" cy="15696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550624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94822" y="4667632"/>
            <a:ext cx="548700" cy="393600"/>
          </a:xfrm>
        </p:spPr>
        <p:txBody>
          <a:bodyPr/>
          <a:lstStyle/>
          <a:p>
            <a:fld id="{00000000-1234-1234-1234-123412341234}" type="slidenum">
              <a:rPr lang="en-US" smtClean="0"/>
              <a:t>18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МКЭ – метод конечных элементов (6/</a:t>
            </a:r>
            <a:r>
              <a:rPr lang="en-US" sz="2400" dirty="0">
                <a:solidFill>
                  <a:srgbClr val="58519F"/>
                </a:solidFill>
              </a:rPr>
              <a:t>6</a:t>
            </a:r>
            <a:r>
              <a:rPr lang="ru-RU" sz="2400" dirty="0">
                <a:solidFill>
                  <a:srgbClr val="58519F"/>
                </a:solidFill>
              </a:rPr>
              <a:t>)</a:t>
            </a:r>
          </a:p>
          <a:p>
            <a:pPr algn="ctr"/>
            <a:r>
              <a:rPr lang="ru-RU" sz="2400" dirty="0">
                <a:solidFill>
                  <a:srgbClr val="58519F"/>
                </a:solidFill>
              </a:rPr>
              <a:t>Алгоритм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F8FCA-DFB3-43BD-B313-94E4A29C5A27}"/>
              </a:ext>
            </a:extLst>
          </p:cNvPr>
          <p:cNvSpPr txBox="1"/>
          <p:nvPr/>
        </p:nvSpPr>
        <p:spPr>
          <a:xfrm>
            <a:off x="227313" y="1880887"/>
            <a:ext cx="22218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dirty="0"/>
              <a:t>1) Постановка задачи</a:t>
            </a:r>
          </a:p>
        </p:txBody>
      </p:sp>
      <p:sp>
        <p:nvSpPr>
          <p:cNvPr id="30" name="Стрелка: вниз 29">
            <a:extLst>
              <a:ext uri="{FF2B5EF4-FFF2-40B4-BE49-F238E27FC236}">
                <a16:creationId xmlns:a16="http://schemas.microsoft.com/office/drawing/2014/main" id="{FC2778F4-EAFA-4A20-BBCC-F5ED8B80978D}"/>
              </a:ext>
            </a:extLst>
          </p:cNvPr>
          <p:cNvSpPr/>
          <p:nvPr/>
        </p:nvSpPr>
        <p:spPr>
          <a:xfrm rot="16200000" flipH="1">
            <a:off x="2384495" y="1210110"/>
            <a:ext cx="375968" cy="603581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89AF4E-2DD4-4561-B735-99F0B4B20434}"/>
              </a:ext>
            </a:extLst>
          </p:cNvPr>
          <p:cNvSpPr txBox="1"/>
          <p:nvPr/>
        </p:nvSpPr>
        <p:spPr>
          <a:xfrm>
            <a:off x="2642042" y="1811043"/>
            <a:ext cx="3512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dirty="0"/>
              <a:t>2) Переход к вариационной форме</a:t>
            </a:r>
          </a:p>
        </p:txBody>
      </p:sp>
      <p:sp>
        <p:nvSpPr>
          <p:cNvPr id="38" name="Стрелка: вниз 37">
            <a:extLst>
              <a:ext uri="{FF2B5EF4-FFF2-40B4-BE49-F238E27FC236}">
                <a16:creationId xmlns:a16="http://schemas.microsoft.com/office/drawing/2014/main" id="{3AFE4F04-4120-4377-9D65-746CEC39B0FC}"/>
              </a:ext>
            </a:extLst>
          </p:cNvPr>
          <p:cNvSpPr/>
          <p:nvPr/>
        </p:nvSpPr>
        <p:spPr>
          <a:xfrm rot="16200000" flipH="1">
            <a:off x="5954284" y="1264621"/>
            <a:ext cx="375968" cy="603581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41A5EB-22C4-4CCE-99B8-1F6C08D5BE2D}"/>
              </a:ext>
            </a:extLst>
          </p:cNvPr>
          <p:cNvSpPr txBox="1"/>
          <p:nvPr/>
        </p:nvSpPr>
        <p:spPr>
          <a:xfrm>
            <a:off x="6716217" y="2263973"/>
            <a:ext cx="3512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dirty="0"/>
              <a:t>3) Построение сетки</a:t>
            </a:r>
          </a:p>
        </p:txBody>
      </p:sp>
      <p:pic>
        <p:nvPicPr>
          <p:cNvPr id="41" name="Picture 2" descr="Picture background">
            <a:extLst>
              <a:ext uri="{FF2B5EF4-FFF2-40B4-BE49-F238E27FC236}">
                <a16:creationId xmlns:a16="http://schemas.microsoft.com/office/drawing/2014/main" id="{E51253A9-2119-5506-7FAD-B909234FF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580" y="874127"/>
            <a:ext cx="2458430" cy="1372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Стрелка: вниз 41">
            <a:extLst>
              <a:ext uri="{FF2B5EF4-FFF2-40B4-BE49-F238E27FC236}">
                <a16:creationId xmlns:a16="http://schemas.microsoft.com/office/drawing/2014/main" id="{645BB7F6-C10E-48B9-AC1C-6FE451DB37A8}"/>
              </a:ext>
            </a:extLst>
          </p:cNvPr>
          <p:cNvSpPr/>
          <p:nvPr/>
        </p:nvSpPr>
        <p:spPr>
          <a:xfrm flipH="1">
            <a:off x="7391135" y="2736382"/>
            <a:ext cx="375968" cy="307777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6833F4-3431-48F8-BDEB-761D2B2E1688}"/>
              </a:ext>
            </a:extLst>
          </p:cNvPr>
          <p:cNvSpPr txBox="1"/>
          <p:nvPr/>
        </p:nvSpPr>
        <p:spPr>
          <a:xfrm>
            <a:off x="6778061" y="3742411"/>
            <a:ext cx="3512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dirty="0"/>
              <a:t>4) Выбор базиса</a:t>
            </a:r>
          </a:p>
        </p:txBody>
      </p:sp>
      <p:sp>
        <p:nvSpPr>
          <p:cNvPr id="45" name="Стрелка: вниз 44">
            <a:extLst>
              <a:ext uri="{FF2B5EF4-FFF2-40B4-BE49-F238E27FC236}">
                <a16:creationId xmlns:a16="http://schemas.microsoft.com/office/drawing/2014/main" id="{7BC3E8F3-5B85-4721-A3FB-90FFC73E33AC}"/>
              </a:ext>
            </a:extLst>
          </p:cNvPr>
          <p:cNvSpPr/>
          <p:nvPr/>
        </p:nvSpPr>
        <p:spPr>
          <a:xfrm rot="7148898" flipH="1">
            <a:off x="5935724" y="2505398"/>
            <a:ext cx="375968" cy="603581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781B54-C1BF-4884-88FA-3F5F5122F479}"/>
              </a:ext>
            </a:extLst>
          </p:cNvPr>
          <p:cNvSpPr txBox="1"/>
          <p:nvPr/>
        </p:nvSpPr>
        <p:spPr>
          <a:xfrm>
            <a:off x="3048289" y="2989759"/>
            <a:ext cx="21563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dirty="0"/>
              <a:t>5) Составление СЛУ</a:t>
            </a:r>
          </a:p>
        </p:txBody>
      </p:sp>
      <p:sp>
        <p:nvSpPr>
          <p:cNvPr id="49" name="Стрелка: вниз 48">
            <a:extLst>
              <a:ext uri="{FF2B5EF4-FFF2-40B4-BE49-F238E27FC236}">
                <a16:creationId xmlns:a16="http://schemas.microsoft.com/office/drawing/2014/main" id="{2E23A7C0-F934-4E9E-B9B2-5E23C8291D48}"/>
              </a:ext>
            </a:extLst>
          </p:cNvPr>
          <p:cNvSpPr/>
          <p:nvPr/>
        </p:nvSpPr>
        <p:spPr>
          <a:xfrm flipH="1">
            <a:off x="1210149" y="3019795"/>
            <a:ext cx="375968" cy="603581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10209A-2C33-4635-925A-CF729C596E55}"/>
              </a:ext>
            </a:extLst>
          </p:cNvPr>
          <p:cNvSpPr txBox="1"/>
          <p:nvPr/>
        </p:nvSpPr>
        <p:spPr>
          <a:xfrm>
            <a:off x="2256092" y="3905310"/>
            <a:ext cx="3512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dirty="0"/>
              <a:t>6) Решение СЛУ</a:t>
            </a:r>
          </a:p>
        </p:txBody>
      </p:sp>
      <p:sp>
        <p:nvSpPr>
          <p:cNvPr id="54" name="Стрелка: вниз 53">
            <a:extLst>
              <a:ext uri="{FF2B5EF4-FFF2-40B4-BE49-F238E27FC236}">
                <a16:creationId xmlns:a16="http://schemas.microsoft.com/office/drawing/2014/main" id="{7B871CFC-3094-484B-834D-B44351FE7774}"/>
              </a:ext>
            </a:extLst>
          </p:cNvPr>
          <p:cNvSpPr/>
          <p:nvPr/>
        </p:nvSpPr>
        <p:spPr>
          <a:xfrm rot="16369147" flipH="1">
            <a:off x="3483482" y="4138120"/>
            <a:ext cx="375968" cy="603581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F3B4F1C-5979-4CB3-A956-F336A2240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72" y="3439733"/>
            <a:ext cx="2194085" cy="1560304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AAD56B1-F0DA-4CAE-AF8E-BAFCF4908C12}"/>
              </a:ext>
            </a:extLst>
          </p:cNvPr>
          <p:cNvSpPr txBox="1"/>
          <p:nvPr/>
        </p:nvSpPr>
        <p:spPr>
          <a:xfrm>
            <a:off x="6444058" y="4276358"/>
            <a:ext cx="20135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dirty="0"/>
              <a:t>7) Обработка и оценка результата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: скругленные углы 4">
                <a:extLst>
                  <a:ext uri="{FF2B5EF4-FFF2-40B4-BE49-F238E27FC236}">
                    <a16:creationId xmlns:a16="http://schemas.microsoft.com/office/drawing/2014/main" id="{705CDF0D-1332-CF83-489B-1F3114943393}"/>
                  </a:ext>
                </a:extLst>
              </p:cNvPr>
              <p:cNvSpPr/>
              <p:nvPr/>
            </p:nvSpPr>
            <p:spPr>
              <a:xfrm>
                <a:off x="72363" y="1195278"/>
                <a:ext cx="2112547" cy="621967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ru-RU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=0, </m:t>
                      </m:r>
                      <m:r>
                        <m:rPr>
                          <m:sty m:val="p"/>
                        </m:rP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ru-RU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𝛤</m:t>
                      </m:r>
                      <m:r>
                        <a:rPr lang="ru-RU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ru-RU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Прямоугольник: скругленные углы 4">
                <a:extLst>
                  <a:ext uri="{FF2B5EF4-FFF2-40B4-BE49-F238E27FC236}">
                    <a16:creationId xmlns:a16="http://schemas.microsoft.com/office/drawing/2014/main" id="{705CDF0D-1332-CF83-489B-1F3114943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3" y="1195278"/>
                <a:ext cx="2112547" cy="62196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: скругленные углы 5">
                <a:extLst>
                  <a:ext uri="{FF2B5EF4-FFF2-40B4-BE49-F238E27FC236}">
                    <a16:creationId xmlns:a16="http://schemas.microsoft.com/office/drawing/2014/main" id="{EE81D514-8067-C0ED-50C1-99149D5B418A}"/>
                  </a:ext>
                </a:extLst>
              </p:cNvPr>
              <p:cNvSpPr/>
              <p:nvPr/>
            </p:nvSpPr>
            <p:spPr>
              <a:xfrm>
                <a:off x="2934217" y="1217396"/>
                <a:ext cx="2834356" cy="621967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nary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16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ru-RU" sz="16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+</a:t>
                </a:r>
                <a:r>
                  <a:rPr lang="ru-RU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𝛤</m:t>
                        </m:r>
                      </m:sub>
                      <m:sup/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nary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ru-RU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ru-RU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Прямоугольник: скругленные углы 5">
                <a:extLst>
                  <a:ext uri="{FF2B5EF4-FFF2-40B4-BE49-F238E27FC236}">
                    <a16:creationId xmlns:a16="http://schemas.microsoft.com/office/drawing/2014/main" id="{EE81D514-8067-C0ED-50C1-99149D5B41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217" y="1217396"/>
                <a:ext cx="2834356" cy="621967"/>
              </a:xfrm>
              <a:prstGeom prst="roundRect">
                <a:avLst/>
              </a:prstGeom>
              <a:blipFill>
                <a:blip r:embed="rId5"/>
                <a:stretch>
                  <a:fillRect l="-10661" t="-51887" b="-86792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: скругленные углы 6">
                <a:extLst>
                  <a:ext uri="{FF2B5EF4-FFF2-40B4-BE49-F238E27FC236}">
                    <a16:creationId xmlns:a16="http://schemas.microsoft.com/office/drawing/2014/main" id="{B72C46BB-F32F-2C31-180E-FFEE32E56BB8}"/>
                  </a:ext>
                </a:extLst>
              </p:cNvPr>
              <p:cNvSpPr/>
              <p:nvPr/>
            </p:nvSpPr>
            <p:spPr>
              <a:xfrm>
                <a:off x="6565142" y="3082301"/>
                <a:ext cx="2327305" cy="621967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)≈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Прямоугольник: скругленные углы 6">
                <a:extLst>
                  <a:ext uri="{FF2B5EF4-FFF2-40B4-BE49-F238E27FC236}">
                    <a16:creationId xmlns:a16="http://schemas.microsoft.com/office/drawing/2014/main" id="{B72C46BB-F32F-2C31-180E-FFEE32E56B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142" y="3082301"/>
                <a:ext cx="2327305" cy="621967"/>
              </a:xfrm>
              <a:prstGeom prst="roundRect">
                <a:avLst/>
              </a:prstGeom>
              <a:blipFill>
                <a:blip r:embed="rId6"/>
                <a:stretch>
                  <a:fillRect t="-107547" b="-15660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: скругленные углы 8">
                <a:extLst>
                  <a:ext uri="{FF2B5EF4-FFF2-40B4-BE49-F238E27FC236}">
                    <a16:creationId xmlns:a16="http://schemas.microsoft.com/office/drawing/2014/main" id="{FF93F9E9-5225-C560-485A-9CA730C8B736}"/>
                  </a:ext>
                </a:extLst>
              </p:cNvPr>
              <p:cNvSpPr/>
              <p:nvPr/>
            </p:nvSpPr>
            <p:spPr>
              <a:xfrm>
                <a:off x="1893063" y="2278793"/>
                <a:ext cx="3680071" cy="621967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nary>
                        <m:naryPr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  <m:acc>
                            <m:accPr>
                              <m:chr m:val="̂"/>
                              <m:ctrlP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nary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nary>
                            <m:naryPr>
                              <m:supHide m:val="o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Г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acc>
                                <m:accPr>
                                  <m:chr m:val="̂"/>
                                  <m:ctrlP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Г</m:t>
                              </m:r>
                            </m:e>
                          </m:nary>
                        </m:e>
                      </m:nary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Прямоугольник: скругленные углы 8">
                <a:extLst>
                  <a:ext uri="{FF2B5EF4-FFF2-40B4-BE49-F238E27FC236}">
                    <a16:creationId xmlns:a16="http://schemas.microsoft.com/office/drawing/2014/main" id="{FF93F9E9-5225-C560-485A-9CA730C8B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063" y="2278793"/>
                <a:ext cx="3680071" cy="621967"/>
              </a:xfrm>
              <a:prstGeom prst="roundRect">
                <a:avLst/>
              </a:prstGeom>
              <a:blipFill>
                <a:blip r:embed="rId7"/>
                <a:stretch>
                  <a:fillRect l="-9555" t="-128302" b="-18207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: скругленные углы 11">
                <a:extLst>
                  <a:ext uri="{FF2B5EF4-FFF2-40B4-BE49-F238E27FC236}">
                    <a16:creationId xmlns:a16="http://schemas.microsoft.com/office/drawing/2014/main" id="{48967530-CED8-CEC2-D5BF-3D260B28AC05}"/>
                  </a:ext>
                </a:extLst>
              </p:cNvPr>
              <p:cNvSpPr/>
              <p:nvPr/>
            </p:nvSpPr>
            <p:spPr>
              <a:xfrm>
                <a:off x="636310" y="3742411"/>
                <a:ext cx="1523647" cy="558566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𝑨𝒖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ru-RU" sz="28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Прямоугольник: скругленные углы 11">
                <a:extLst>
                  <a:ext uri="{FF2B5EF4-FFF2-40B4-BE49-F238E27FC236}">
                    <a16:creationId xmlns:a16="http://schemas.microsoft.com/office/drawing/2014/main" id="{48967530-CED8-CEC2-D5BF-3D260B28AC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10" y="3742411"/>
                <a:ext cx="1523647" cy="55856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842685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94822" y="4667632"/>
            <a:ext cx="548700" cy="393600"/>
          </a:xfrm>
        </p:spPr>
        <p:txBody>
          <a:bodyPr/>
          <a:lstStyle/>
          <a:p>
            <a:fld id="{00000000-1234-1234-1234-123412341234}" type="slidenum">
              <a:rPr lang="en-US" smtClean="0"/>
              <a:t>19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Свойства МКЭ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1137C8-903D-4343-A0A4-68686ED21D3C}"/>
              </a:ext>
            </a:extLst>
          </p:cNvPr>
          <p:cNvSpPr txBox="1"/>
          <p:nvPr/>
        </p:nvSpPr>
        <p:spPr>
          <a:xfrm>
            <a:off x="2858926" y="843389"/>
            <a:ext cx="28869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/>
              <a:t>Основные свойства</a:t>
            </a:r>
          </a:p>
          <a:p>
            <a:pPr algn="ctr"/>
            <a:r>
              <a:rPr lang="ru-RU" sz="1800" dirty="0"/>
              <a:t>МКЭ</a:t>
            </a:r>
            <a:endParaRPr lang="en-US" sz="1800" dirty="0"/>
          </a:p>
          <a:p>
            <a:r>
              <a:rPr lang="en-US" sz="2400" dirty="0"/>
              <a:t> </a:t>
            </a:r>
            <a:endParaRPr lang="ru-RU" sz="2400" dirty="0"/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A4634BE2-19E1-4A6C-A873-219860C53E52}"/>
              </a:ext>
            </a:extLst>
          </p:cNvPr>
          <p:cNvSpPr/>
          <p:nvPr/>
        </p:nvSpPr>
        <p:spPr>
          <a:xfrm>
            <a:off x="3195501" y="835555"/>
            <a:ext cx="2233137" cy="6355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cxnSp>
        <p:nvCxnSpPr>
          <p:cNvPr id="51" name="Соединитель: уступ 50">
            <a:extLst>
              <a:ext uri="{FF2B5EF4-FFF2-40B4-BE49-F238E27FC236}">
                <a16:creationId xmlns:a16="http://schemas.microsoft.com/office/drawing/2014/main" id="{ADC49A93-65F3-4624-9DEC-647F1CE393B2}"/>
              </a:ext>
            </a:extLst>
          </p:cNvPr>
          <p:cNvCxnSpPr>
            <a:cxnSpLocks/>
            <a:stCxn id="39" idx="3"/>
            <a:endCxn id="57" idx="0"/>
          </p:cNvCxnSpPr>
          <p:nvPr/>
        </p:nvCxnSpPr>
        <p:spPr>
          <a:xfrm>
            <a:off x="5428638" y="1153326"/>
            <a:ext cx="1216003" cy="580111"/>
          </a:xfrm>
          <a:prstGeom prst="bentConnector2">
            <a:avLst/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31178F4-01B6-4821-99EC-B427944459D5}"/>
              </a:ext>
            </a:extLst>
          </p:cNvPr>
          <p:cNvSpPr txBox="1"/>
          <p:nvPr/>
        </p:nvSpPr>
        <p:spPr>
          <a:xfrm>
            <a:off x="5191762" y="1733437"/>
            <a:ext cx="28869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Аппроксимация</a:t>
            </a:r>
            <a:endParaRPr lang="en-US" sz="2400" dirty="0"/>
          </a:p>
          <a:p>
            <a:r>
              <a:rPr lang="en-US" sz="2400" dirty="0"/>
              <a:t> </a:t>
            </a:r>
            <a:endParaRPr lang="ru-RU" sz="2400" dirty="0"/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8A60F9E8-E78D-4D1B-8A55-A68B1BADDF24}"/>
              </a:ext>
            </a:extLst>
          </p:cNvPr>
          <p:cNvSpPr/>
          <p:nvPr/>
        </p:nvSpPr>
        <p:spPr>
          <a:xfrm>
            <a:off x="5455921" y="1733437"/>
            <a:ext cx="2377439" cy="4616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362EFC-F210-492C-8529-563DA51570B4}"/>
              </a:ext>
            </a:extLst>
          </p:cNvPr>
          <p:cNvSpPr txBox="1"/>
          <p:nvPr/>
        </p:nvSpPr>
        <p:spPr>
          <a:xfrm>
            <a:off x="511198" y="1733437"/>
            <a:ext cx="28869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Устойчивость</a:t>
            </a:r>
            <a:endParaRPr lang="en-US" sz="2400" dirty="0"/>
          </a:p>
          <a:p>
            <a:r>
              <a:rPr lang="en-US" sz="2400" dirty="0"/>
              <a:t> </a:t>
            </a:r>
            <a:endParaRPr lang="ru-RU" sz="2400" dirty="0"/>
          </a:p>
        </p:txBody>
      </p:sp>
      <p:sp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686984CE-34BB-4F4E-A6F1-81BB61A7B812}"/>
              </a:ext>
            </a:extLst>
          </p:cNvPr>
          <p:cNvSpPr/>
          <p:nvPr/>
        </p:nvSpPr>
        <p:spPr>
          <a:xfrm>
            <a:off x="923050" y="1750069"/>
            <a:ext cx="2063232" cy="4616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F9B3F2A9-A1DB-4B7B-BB18-002F5DF0C4E6}"/>
              </a:ext>
            </a:extLst>
          </p:cNvPr>
          <p:cNvCxnSpPr>
            <a:cxnSpLocks/>
            <a:stCxn id="39" idx="1"/>
            <a:endCxn id="58" idx="0"/>
          </p:cNvCxnSpPr>
          <p:nvPr/>
        </p:nvCxnSpPr>
        <p:spPr>
          <a:xfrm rot="10800000" flipV="1">
            <a:off x="1954669" y="1153325"/>
            <a:ext cx="1240833" cy="580111"/>
          </a:xfrm>
          <a:prstGeom prst="bentConnector2">
            <a:avLst/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C48CAEB-FDF2-4B69-A75D-CAD5F37DE745}"/>
              </a:ext>
            </a:extLst>
          </p:cNvPr>
          <p:cNvSpPr txBox="1"/>
          <p:nvPr/>
        </p:nvSpPr>
        <p:spPr>
          <a:xfrm>
            <a:off x="5242934" y="2394398"/>
            <a:ext cx="28034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dirty="0"/>
              <a:t>Аппроксимация определяется базисной функцией (полином степени </a:t>
            </a:r>
            <a:r>
              <a:rPr lang="en-US" sz="1800" dirty="0"/>
              <a:t>n)</a:t>
            </a:r>
          </a:p>
          <a:p>
            <a:r>
              <a:rPr lang="en-US" sz="2400" dirty="0"/>
              <a:t> 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E181278-5930-4DD7-BA3D-D9B78ABABF9F}"/>
                  </a:ext>
                </a:extLst>
              </p:cNvPr>
              <p:cNvSpPr txBox="1"/>
              <p:nvPr/>
            </p:nvSpPr>
            <p:spPr>
              <a:xfrm>
                <a:off x="4988366" y="3530983"/>
                <a:ext cx="3701629" cy="4023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sub>
                      </m:sSub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ru-RU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E181278-5930-4DD7-BA3D-D9B78ABAB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366" y="3530983"/>
                <a:ext cx="3701629" cy="402354"/>
              </a:xfrm>
              <a:prstGeom prst="rect">
                <a:avLst/>
              </a:prstGeom>
              <a:blipFill>
                <a:blip r:embed="rId2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EB06A9D-7B48-4322-AE05-0970AAEDE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479" y="3933337"/>
            <a:ext cx="3571998" cy="85728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21A8C265-1074-4267-B48A-594D28BB30AB}"/>
              </a:ext>
            </a:extLst>
          </p:cNvPr>
          <p:cNvSpPr txBox="1"/>
          <p:nvPr/>
        </p:nvSpPr>
        <p:spPr>
          <a:xfrm>
            <a:off x="4868648" y="4217968"/>
            <a:ext cx="588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где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3ABEC4-3A03-47DE-916D-66D5C2013787}"/>
              </a:ext>
            </a:extLst>
          </p:cNvPr>
          <p:cNvSpPr txBox="1"/>
          <p:nvPr/>
        </p:nvSpPr>
        <p:spPr>
          <a:xfrm>
            <a:off x="657954" y="2323097"/>
            <a:ext cx="28034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dirty="0"/>
              <a:t>Устойчивость определяется решением системы уравнений (могут быть не линейные функции)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825E8C8-CAEE-42A5-9B5F-647112B44FE0}"/>
                  </a:ext>
                </a:extLst>
              </p:cNvPr>
              <p:cNvSpPr txBox="1"/>
              <p:nvPr/>
            </p:nvSpPr>
            <p:spPr>
              <a:xfrm>
                <a:off x="1217314" y="3780491"/>
                <a:ext cx="1280937" cy="378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𝑨𝒖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lang="ru-RU" sz="18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825E8C8-CAEE-42A5-9B5F-647112B44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314" y="3780491"/>
                <a:ext cx="1280937" cy="378758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700259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20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МКО – метод конечных объемов (1/5)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7CBA61-28E7-3ABE-D0F8-95709F5C2844}"/>
              </a:ext>
            </a:extLst>
          </p:cNvPr>
          <p:cNvSpPr txBox="1"/>
          <p:nvPr/>
        </p:nvSpPr>
        <p:spPr>
          <a:xfrm>
            <a:off x="231048" y="858762"/>
            <a:ext cx="85157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ru-RU" sz="2000" dirty="0"/>
              <a:t>Метод для решения уравнений сохранения (диффузия, теплопроводность, гидродинамика) – МКЭ, </a:t>
            </a:r>
            <a:r>
              <a:rPr lang="ru-RU" sz="2000" u="sng" dirty="0"/>
              <a:t>метод конечных элементов</a:t>
            </a:r>
          </a:p>
        </p:txBody>
      </p:sp>
      <p:sp>
        <p:nvSpPr>
          <p:cNvPr id="20" name="AutoShape 6">
            <a:extLst>
              <a:ext uri="{FF2B5EF4-FFF2-40B4-BE49-F238E27FC236}">
                <a16:creationId xmlns:a16="http://schemas.microsoft.com/office/drawing/2014/main" id="{54CA82E8-0C6F-2CB0-DC99-A809729BD0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8794" y="25578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63E24470-E235-5F1E-27FB-5A962ED73E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64836" y="253460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A1531-4551-3887-F241-8570F19A8706}"/>
              </a:ext>
            </a:extLst>
          </p:cNvPr>
          <p:cNvSpPr txBox="1"/>
          <p:nvPr/>
        </p:nvSpPr>
        <p:spPr>
          <a:xfrm>
            <a:off x="231048" y="1924663"/>
            <a:ext cx="8515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/>
              <a:t>Пусть дана дифференциальная задача</a:t>
            </a:r>
            <a:r>
              <a:rPr lang="en-US" sz="2000"/>
              <a:t> </a:t>
            </a:r>
            <a:r>
              <a:rPr lang="ru-RU" sz="2000"/>
              <a:t>параболического типа (кинетического уравнение):</a:t>
            </a:r>
            <a:endParaRPr lang="ru-RU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147FC0-182E-6259-5963-AC29344BE598}"/>
                  </a:ext>
                </a:extLst>
              </p:cNvPr>
              <p:cNvSpPr txBox="1"/>
              <p:nvPr/>
            </p:nvSpPr>
            <p:spPr>
              <a:xfrm>
                <a:off x="4069636" y="2939754"/>
                <a:ext cx="4609314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sz="2000" dirty="0"/>
                  <a:t> – температура/концентрация, </a:t>
                </a:r>
                <a14:m>
                  <m:oMath xmlns:m="http://schemas.openxmlformats.org/officeDocument/2006/math">
                    <m:r>
                      <a:rPr lang="en-US" sz="2000" b="1" dirty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ru-RU" sz="2000" dirty="0"/>
                  <a:t> – поток частиц, температуры,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сток/исток/генерация/рекомбинация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147FC0-182E-6259-5963-AC29344BE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9636" y="2939754"/>
                <a:ext cx="4609314" cy="1015663"/>
              </a:xfrm>
              <a:prstGeom prst="rect">
                <a:avLst/>
              </a:prstGeom>
              <a:blipFill>
                <a:blip r:embed="rId4"/>
                <a:stretch>
                  <a:fillRect l="-1455" t="-2395" b="-101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9E553E-074E-EAA8-4CA2-C8813EEFA035}"/>
                  </a:ext>
                </a:extLst>
              </p:cNvPr>
              <p:cNvSpPr txBox="1"/>
              <p:nvPr/>
            </p:nvSpPr>
            <p:spPr>
              <a:xfrm>
                <a:off x="970966" y="3830870"/>
                <a:ext cx="214785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dirty="0" smtClean="0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ru-RU" sz="2800" b="0" i="0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ru-RU" sz="2800" dirty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9E553E-074E-EAA8-4CA2-C8813EEFA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966" y="3830870"/>
                <a:ext cx="214785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1B333E-D838-7F3C-F0F3-03958B01954E}"/>
                  </a:ext>
                </a:extLst>
              </p:cNvPr>
              <p:cNvSpPr txBox="1"/>
              <p:nvPr/>
            </p:nvSpPr>
            <p:spPr>
              <a:xfrm>
                <a:off x="662430" y="4342870"/>
                <a:ext cx="27649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dirty="0" smtClean="0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ru-RU" sz="28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dirty="0" smtClean="0">
                          <a:latin typeface="Cambria Math" panose="02040503050406030204" pitchFamily="18" charset="0"/>
                        </a:rPr>
                        <m:t>𝐯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ru-RU" sz="2800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ru-RU" sz="2800" dirty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m:rPr>
                          <m:sty m:val="p"/>
                        </m:rPr>
                        <a:rPr lang="en-US" sz="2800" b="0" i="0" dirty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1B333E-D838-7F3C-F0F3-03958B019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30" y="4342870"/>
                <a:ext cx="276492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: скругленные углы 8">
                <a:extLst>
                  <a:ext uri="{FF2B5EF4-FFF2-40B4-BE49-F238E27FC236}">
                    <a16:creationId xmlns:a16="http://schemas.microsoft.com/office/drawing/2014/main" id="{BB26ADE8-BEC4-3C85-1FF4-78B977D68205}"/>
                  </a:ext>
                </a:extLst>
              </p:cNvPr>
              <p:cNvSpPr/>
              <p:nvPr/>
            </p:nvSpPr>
            <p:spPr>
              <a:xfrm>
                <a:off x="662430" y="2719476"/>
                <a:ext cx="3102406" cy="1015662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ru-RU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ru-RU" sz="28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</m:d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RU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Прямоугольник: скругленные углы 8">
                <a:extLst>
                  <a:ext uri="{FF2B5EF4-FFF2-40B4-BE49-F238E27FC236}">
                    <a16:creationId xmlns:a16="http://schemas.microsoft.com/office/drawing/2014/main" id="{BB26ADE8-BEC4-3C85-1FF4-78B977D682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30" y="2719476"/>
                <a:ext cx="3102406" cy="101566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793695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21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98052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МКО – метод конечных объемов (2/5)</a:t>
            </a:r>
          </a:p>
        </p:txBody>
      </p:sp>
      <p:sp>
        <p:nvSpPr>
          <p:cNvPr id="20" name="AutoShape 6">
            <a:extLst>
              <a:ext uri="{FF2B5EF4-FFF2-40B4-BE49-F238E27FC236}">
                <a16:creationId xmlns:a16="http://schemas.microsoft.com/office/drawing/2014/main" id="{54CA82E8-0C6F-2CB0-DC99-A809729BD0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55456" y="246863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63E24470-E235-5F1E-27FB-5A962ED73E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01498" y="24453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252C31-F9ED-7544-634F-35E1B397AAEA}"/>
                  </a:ext>
                </a:extLst>
              </p:cNvPr>
              <p:cNvSpPr txBox="1"/>
              <p:nvPr/>
            </p:nvSpPr>
            <p:spPr>
              <a:xfrm>
                <a:off x="2652745" y="1457972"/>
                <a:ext cx="4174007" cy="975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ru-RU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ru-RU" sz="2800" dirty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nary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𝑑𝑉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grow m:val="on"/>
                          <m:subHide m:val="on"/>
                          <m:supHide m:val="on"/>
                          <m:ctrlPr>
                            <a:rPr lang="ru-RU" sz="2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e>
                      </m:nary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252C31-F9ED-7544-634F-35E1B397A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745" y="1457972"/>
                <a:ext cx="4174007" cy="9757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3435402-19E3-22E2-259E-C9D43121F2FA}"/>
              </a:ext>
            </a:extLst>
          </p:cNvPr>
          <p:cNvSpPr txBox="1"/>
          <p:nvPr/>
        </p:nvSpPr>
        <p:spPr>
          <a:xfrm>
            <a:off x="2512417" y="933594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Теорема Гаусса</a:t>
            </a:r>
            <a:r>
              <a:rPr lang="en-US" sz="2000" b="1" dirty="0"/>
              <a:t>-</a:t>
            </a:r>
            <a:r>
              <a:rPr lang="ru-RU" sz="2000" b="1" dirty="0"/>
              <a:t>Остроградского: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C125234-CC41-61C7-1621-A1E4DAE1EBB6}"/>
              </a:ext>
            </a:extLst>
          </p:cNvPr>
          <p:cNvSpPr/>
          <p:nvPr/>
        </p:nvSpPr>
        <p:spPr>
          <a:xfrm>
            <a:off x="2443693" y="933594"/>
            <a:ext cx="4437332" cy="468504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510E451-AB9E-D0C5-2184-3805A3713FD5}"/>
              </a:ext>
            </a:extLst>
          </p:cNvPr>
          <p:cNvSpPr/>
          <p:nvPr/>
        </p:nvSpPr>
        <p:spPr>
          <a:xfrm>
            <a:off x="2376359" y="1485510"/>
            <a:ext cx="4572000" cy="954056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18072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22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98052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МКО – метод конечных объемов (2/5)</a:t>
            </a:r>
          </a:p>
        </p:txBody>
      </p:sp>
      <p:sp>
        <p:nvSpPr>
          <p:cNvPr id="20" name="AutoShape 6">
            <a:extLst>
              <a:ext uri="{FF2B5EF4-FFF2-40B4-BE49-F238E27FC236}">
                <a16:creationId xmlns:a16="http://schemas.microsoft.com/office/drawing/2014/main" id="{54CA82E8-0C6F-2CB0-DC99-A809729BD0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55456" y="246863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63E24470-E235-5F1E-27FB-5A962ED73E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01498" y="24453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252C31-F9ED-7544-634F-35E1B397AAEA}"/>
                  </a:ext>
                </a:extLst>
              </p:cNvPr>
              <p:cNvSpPr txBox="1"/>
              <p:nvPr/>
            </p:nvSpPr>
            <p:spPr>
              <a:xfrm>
                <a:off x="2652745" y="1457972"/>
                <a:ext cx="4174007" cy="975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ru-RU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ru-RU" sz="2800" dirty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nary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𝑑𝑉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grow m:val="on"/>
                          <m:subHide m:val="on"/>
                          <m:supHide m:val="on"/>
                          <m:ctrlPr>
                            <a:rPr lang="ru-RU" sz="2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e>
                      </m:nary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252C31-F9ED-7544-634F-35E1B397A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745" y="1457972"/>
                <a:ext cx="4174007" cy="9757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3435402-19E3-22E2-259E-C9D43121F2FA}"/>
              </a:ext>
            </a:extLst>
          </p:cNvPr>
          <p:cNvSpPr txBox="1"/>
          <p:nvPr/>
        </p:nvSpPr>
        <p:spPr>
          <a:xfrm>
            <a:off x="2512417" y="933594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Теорема Гаусса</a:t>
            </a:r>
            <a:r>
              <a:rPr lang="en-US" sz="2000" b="1" dirty="0"/>
              <a:t>-</a:t>
            </a:r>
            <a:r>
              <a:rPr lang="ru-RU" sz="2000" b="1" dirty="0"/>
              <a:t>Остроградского: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510E451-AB9E-D0C5-2184-3805A3713FD5}"/>
              </a:ext>
            </a:extLst>
          </p:cNvPr>
          <p:cNvSpPr/>
          <p:nvPr/>
        </p:nvSpPr>
        <p:spPr>
          <a:xfrm>
            <a:off x="2376359" y="1485510"/>
            <a:ext cx="4572000" cy="954056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389444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23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98052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МКО – метод конечных объемов (2/5)</a:t>
            </a:r>
          </a:p>
        </p:txBody>
      </p:sp>
      <p:sp>
        <p:nvSpPr>
          <p:cNvPr id="20" name="AutoShape 6">
            <a:extLst>
              <a:ext uri="{FF2B5EF4-FFF2-40B4-BE49-F238E27FC236}">
                <a16:creationId xmlns:a16="http://schemas.microsoft.com/office/drawing/2014/main" id="{54CA82E8-0C6F-2CB0-DC99-A809729BD0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55456" y="246863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63E24470-E235-5F1E-27FB-5A962ED73E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01498" y="24453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35402-19E3-22E2-259E-C9D43121F2FA}"/>
              </a:ext>
            </a:extLst>
          </p:cNvPr>
          <p:cNvSpPr txBox="1"/>
          <p:nvPr/>
        </p:nvSpPr>
        <p:spPr>
          <a:xfrm>
            <a:off x="2285999" y="84901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Теорема Гаусса</a:t>
            </a:r>
            <a:r>
              <a:rPr lang="en-US" sz="2000" b="1" dirty="0"/>
              <a:t>-</a:t>
            </a:r>
            <a:r>
              <a:rPr lang="ru-RU" sz="2000" b="1" dirty="0"/>
              <a:t>Остроградского: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5CA2C4-C810-27CD-EDF7-4607354D7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519" y="2825866"/>
            <a:ext cx="5068007" cy="20195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6F3D34-9EA1-29E2-27E6-E8BCA9ABCBFC}"/>
              </a:ext>
            </a:extLst>
          </p:cNvPr>
          <p:cNvSpPr txBox="1"/>
          <p:nvPr/>
        </p:nvSpPr>
        <p:spPr>
          <a:xfrm>
            <a:off x="-25826" y="4921134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/>
              <a:t>https://portal.tpu.ru/SHARED/k/KONVAL/Sites/Russian_sites/T_field/manual/18.htm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: скругленные углы 7">
                <a:extLst>
                  <a:ext uri="{FF2B5EF4-FFF2-40B4-BE49-F238E27FC236}">
                    <a16:creationId xmlns:a16="http://schemas.microsoft.com/office/drawing/2014/main" id="{5FEBF066-9600-76EE-7667-B2560F7E2DBF}"/>
                  </a:ext>
                </a:extLst>
              </p:cNvPr>
              <p:cNvSpPr/>
              <p:nvPr/>
            </p:nvSpPr>
            <p:spPr>
              <a:xfrm>
                <a:off x="2703461" y="1432257"/>
                <a:ext cx="3737076" cy="911596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ru-RU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ru-RU" sz="28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nary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𝑑𝑉</m:t>
                      </m:r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grow m:val="on"/>
                          <m:subHide m:val="on"/>
                          <m:supHide m:val="on"/>
                          <m:ctrlPr>
                            <a:rPr lang="ru-RU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US" sz="2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𝑑𝑆</m:t>
                          </m:r>
                        </m:e>
                      </m:nary>
                    </m:oMath>
                  </m:oMathPara>
                </a14:m>
                <a:endParaRPr lang="ru-RU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Прямоугольник: скругленные углы 7">
                <a:extLst>
                  <a:ext uri="{FF2B5EF4-FFF2-40B4-BE49-F238E27FC236}">
                    <a16:creationId xmlns:a16="http://schemas.microsoft.com/office/drawing/2014/main" id="{5FEBF066-9600-76EE-7667-B2560F7E2D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461" y="1432257"/>
                <a:ext cx="3737076" cy="91159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76712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24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98052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МКО – метод конечных объемов (3/5)</a:t>
            </a:r>
          </a:p>
        </p:txBody>
      </p:sp>
      <p:sp>
        <p:nvSpPr>
          <p:cNvPr id="20" name="AutoShape 6">
            <a:extLst>
              <a:ext uri="{FF2B5EF4-FFF2-40B4-BE49-F238E27FC236}">
                <a16:creationId xmlns:a16="http://schemas.microsoft.com/office/drawing/2014/main" id="{54CA82E8-0C6F-2CB0-DC99-A809729BD0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8794" y="255786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: скругленные углы 7">
                <a:extLst>
                  <a:ext uri="{FF2B5EF4-FFF2-40B4-BE49-F238E27FC236}">
                    <a16:creationId xmlns:a16="http://schemas.microsoft.com/office/drawing/2014/main" id="{5949451C-0F51-9060-C278-9B03F19E5CFA}"/>
                  </a:ext>
                </a:extLst>
              </p:cNvPr>
              <p:cNvSpPr/>
              <p:nvPr/>
            </p:nvSpPr>
            <p:spPr>
              <a:xfrm>
                <a:off x="2988189" y="912161"/>
                <a:ext cx="2980848" cy="911596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ru-R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ru-RU" sz="24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</m:d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Прямоугольник: скругленные углы 7">
                <a:extLst>
                  <a:ext uri="{FF2B5EF4-FFF2-40B4-BE49-F238E27FC236}">
                    <a16:creationId xmlns:a16="http://schemas.microsoft.com/office/drawing/2014/main" id="{5949451C-0F51-9060-C278-9B03F19E5C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189" y="912161"/>
                <a:ext cx="2980848" cy="91159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91286755-169C-BE7C-BC1C-6A1625EA8199}"/>
              </a:ext>
            </a:extLst>
          </p:cNvPr>
          <p:cNvSpPr/>
          <p:nvPr/>
        </p:nvSpPr>
        <p:spPr>
          <a:xfrm flipH="1">
            <a:off x="4196031" y="1918034"/>
            <a:ext cx="375968" cy="603581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FE75D-89BF-C6BE-C388-416DA45D783A}"/>
              </a:ext>
            </a:extLst>
          </p:cNvPr>
          <p:cNvSpPr txBox="1"/>
          <p:nvPr/>
        </p:nvSpPr>
        <p:spPr>
          <a:xfrm>
            <a:off x="4886120" y="1982266"/>
            <a:ext cx="851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Интегрируем по объему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: скругленные углы 15">
                <a:extLst>
                  <a:ext uri="{FF2B5EF4-FFF2-40B4-BE49-F238E27FC236}">
                    <a16:creationId xmlns:a16="http://schemas.microsoft.com/office/drawing/2014/main" id="{9D2DC1D3-9020-9DC1-5B4F-BD16F2343DC5}"/>
                  </a:ext>
                </a:extLst>
              </p:cNvPr>
              <p:cNvSpPr/>
              <p:nvPr/>
            </p:nvSpPr>
            <p:spPr>
              <a:xfrm>
                <a:off x="1068386" y="2564404"/>
                <a:ext cx="6398117" cy="911596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ru-RU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ru-RU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𝑆𝑑𝑉</m:t>
                          </m:r>
                        </m:e>
                      </m:nary>
                    </m:oMath>
                  </m:oMathPara>
                </a14:m>
                <a:endParaRPr lang="ru-RU" sz="2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Прямоугольник: скругленные углы 15">
                <a:extLst>
                  <a:ext uri="{FF2B5EF4-FFF2-40B4-BE49-F238E27FC236}">
                    <a16:creationId xmlns:a16="http://schemas.microsoft.com/office/drawing/2014/main" id="{9D2DC1D3-9020-9DC1-5B4F-BD16F2343D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386" y="2564404"/>
                <a:ext cx="6398117" cy="91159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ACC700FA-A87D-836F-6391-48B74068F648}"/>
              </a:ext>
            </a:extLst>
          </p:cNvPr>
          <p:cNvSpPr txBox="1"/>
          <p:nvPr/>
        </p:nvSpPr>
        <p:spPr>
          <a:xfrm>
            <a:off x="4946422" y="3590260"/>
            <a:ext cx="8515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Гаусс-Остроградский</a:t>
            </a:r>
          </a:p>
        </p:txBody>
      </p:sp>
      <p:sp>
        <p:nvSpPr>
          <p:cNvPr id="18" name="Стрелка: вниз 17">
            <a:extLst>
              <a:ext uri="{FF2B5EF4-FFF2-40B4-BE49-F238E27FC236}">
                <a16:creationId xmlns:a16="http://schemas.microsoft.com/office/drawing/2014/main" id="{878F4E47-5379-6C56-DBBF-399B238D9B95}"/>
              </a:ext>
            </a:extLst>
          </p:cNvPr>
          <p:cNvSpPr/>
          <p:nvPr/>
        </p:nvSpPr>
        <p:spPr>
          <a:xfrm flipH="1">
            <a:off x="4200885" y="3548844"/>
            <a:ext cx="375968" cy="603581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: скругленные углы 25">
                <a:extLst>
                  <a:ext uri="{FF2B5EF4-FFF2-40B4-BE49-F238E27FC236}">
                    <a16:creationId xmlns:a16="http://schemas.microsoft.com/office/drawing/2014/main" id="{F705CC0F-F08F-F34F-A11A-803CF7222837}"/>
                  </a:ext>
                </a:extLst>
              </p:cNvPr>
              <p:cNvSpPr/>
              <p:nvPr/>
            </p:nvSpPr>
            <p:spPr>
              <a:xfrm>
                <a:off x="2254710" y="4161233"/>
                <a:ext cx="4258609" cy="911596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ru-RU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∮"/>
                          <m:grow m:val="on"/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nary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𝑆𝑑𝑉</m:t>
                          </m:r>
                        </m:e>
                      </m:nary>
                    </m:oMath>
                  </m:oMathPara>
                </a14:m>
                <a:endParaRPr lang="ru-RU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Прямоугольник: скругленные углы 25">
                <a:extLst>
                  <a:ext uri="{FF2B5EF4-FFF2-40B4-BE49-F238E27FC236}">
                    <a16:creationId xmlns:a16="http://schemas.microsoft.com/office/drawing/2014/main" id="{F705CC0F-F08F-F34F-A11A-803CF72228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710" y="4161233"/>
                <a:ext cx="4258609" cy="91159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1364615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25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98052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МКО – метод конечных объемов (4/5)</a:t>
            </a:r>
          </a:p>
        </p:txBody>
      </p:sp>
      <p:sp>
        <p:nvSpPr>
          <p:cNvPr id="18" name="Стрелка: вниз 17">
            <a:extLst>
              <a:ext uri="{FF2B5EF4-FFF2-40B4-BE49-F238E27FC236}">
                <a16:creationId xmlns:a16="http://schemas.microsoft.com/office/drawing/2014/main" id="{878F4E47-5379-6C56-DBBF-399B238D9B95}"/>
              </a:ext>
            </a:extLst>
          </p:cNvPr>
          <p:cNvSpPr/>
          <p:nvPr/>
        </p:nvSpPr>
        <p:spPr>
          <a:xfrm rot="18677607" flipH="1">
            <a:off x="4843662" y="1852996"/>
            <a:ext cx="187984" cy="419872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B78B24-DC87-47E1-7A0F-400E397BA073}"/>
                  </a:ext>
                </a:extLst>
              </p:cNvPr>
              <p:cNvSpPr txBox="1"/>
              <p:nvPr/>
            </p:nvSpPr>
            <p:spPr>
              <a:xfrm>
                <a:off x="122842" y="845354"/>
                <a:ext cx="4903912" cy="1008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ru-RU" sz="28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sz="2800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∮"/>
                          <m:grow m:val="on"/>
                          <m:subHide m:val="on"/>
                          <m:supHide m:val="on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nary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𝑆𝑑𝑉</m:t>
                          </m:r>
                        </m:e>
                      </m:nary>
                    </m:oMath>
                  </m:oMathPara>
                </a14:m>
                <a:endParaRPr lang="ru-RU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B78B24-DC87-47E1-7A0F-400E397BA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42" y="845354"/>
                <a:ext cx="4903912" cy="10084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705CC0F-F08F-F34F-A11A-803CF7222837}"/>
              </a:ext>
            </a:extLst>
          </p:cNvPr>
          <p:cNvSpPr/>
          <p:nvPr/>
        </p:nvSpPr>
        <p:spPr>
          <a:xfrm>
            <a:off x="309876" y="845354"/>
            <a:ext cx="4529845" cy="100841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98EEE778-E367-8756-ED2D-FA06BC7C7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031" y="962357"/>
            <a:ext cx="1736012" cy="96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54942C-A599-4D66-31E6-9F7A60164020}"/>
              </a:ext>
            </a:extLst>
          </p:cNvPr>
          <p:cNvSpPr txBox="1"/>
          <p:nvPr/>
        </p:nvSpPr>
        <p:spPr>
          <a:xfrm>
            <a:off x="7092659" y="1269031"/>
            <a:ext cx="1928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Пространственная дискретизация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831E88-6019-2187-E88D-CFD6880B9038}"/>
                  </a:ext>
                </a:extLst>
              </p:cNvPr>
              <p:cNvSpPr txBox="1"/>
              <p:nvPr/>
            </p:nvSpPr>
            <p:spPr>
              <a:xfrm>
                <a:off x="4377087" y="2311476"/>
                <a:ext cx="4903912" cy="1135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nary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831E88-6019-2187-E88D-CFD6880B9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087" y="2311476"/>
                <a:ext cx="4903912" cy="11355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0E4F413-1504-F990-FC17-96CD6CBE3867}"/>
              </a:ext>
            </a:extLst>
          </p:cNvPr>
          <p:cNvSpPr/>
          <p:nvPr/>
        </p:nvSpPr>
        <p:spPr>
          <a:xfrm>
            <a:off x="4491313" y="2282713"/>
            <a:ext cx="4529845" cy="116188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C0B70A-2CBE-C9E7-4272-56F33D39E734}"/>
                  </a:ext>
                </a:extLst>
              </p:cNvPr>
              <p:cNvSpPr txBox="1"/>
              <p:nvPr/>
            </p:nvSpPr>
            <p:spPr>
              <a:xfrm>
                <a:off x="-254697" y="3963756"/>
                <a:ext cx="49039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C0B70A-2CBE-C9E7-4272-56F33D39E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4697" y="3963756"/>
                <a:ext cx="490391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F35B9D47-B583-058D-5DEE-B02E1734DE0B}"/>
              </a:ext>
            </a:extLst>
          </p:cNvPr>
          <p:cNvSpPr/>
          <p:nvPr/>
        </p:nvSpPr>
        <p:spPr>
          <a:xfrm>
            <a:off x="1131487" y="3937439"/>
            <a:ext cx="2146741" cy="60797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трелка: вниз 27">
            <a:extLst>
              <a:ext uri="{FF2B5EF4-FFF2-40B4-BE49-F238E27FC236}">
                <a16:creationId xmlns:a16="http://schemas.microsoft.com/office/drawing/2014/main" id="{0E7D2DD2-BB19-1B39-F4F7-2F5FC15E370A}"/>
              </a:ext>
            </a:extLst>
          </p:cNvPr>
          <p:cNvSpPr/>
          <p:nvPr/>
        </p:nvSpPr>
        <p:spPr>
          <a:xfrm rot="2596171" flipH="1">
            <a:off x="3543113" y="3121914"/>
            <a:ext cx="324777" cy="718112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32E66F-2B9D-E716-75FC-1D009EBCA672}"/>
              </a:ext>
            </a:extLst>
          </p:cNvPr>
          <p:cNvSpPr txBox="1"/>
          <p:nvPr/>
        </p:nvSpPr>
        <p:spPr>
          <a:xfrm>
            <a:off x="951465" y="2474964"/>
            <a:ext cx="26425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Временная дискретизация и аппроксимация производных </a:t>
            </a:r>
          </a:p>
        </p:txBody>
      </p:sp>
    </p:spTree>
    <p:extLst>
      <p:ext uri="{BB962C8B-B14F-4D97-AF65-F5344CB8AC3E}">
        <p14:creationId xmlns:p14="http://schemas.microsoft.com/office/powerpoint/2010/main" val="1044765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26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98052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МКО – метод конечных объемов (5/5)</a:t>
            </a:r>
          </a:p>
        </p:txBody>
      </p:sp>
      <p:sp>
        <p:nvSpPr>
          <p:cNvPr id="18" name="Стрелка: вниз 17">
            <a:extLst>
              <a:ext uri="{FF2B5EF4-FFF2-40B4-BE49-F238E27FC236}">
                <a16:creationId xmlns:a16="http://schemas.microsoft.com/office/drawing/2014/main" id="{878F4E47-5379-6C56-DBBF-399B238D9B95}"/>
              </a:ext>
            </a:extLst>
          </p:cNvPr>
          <p:cNvSpPr/>
          <p:nvPr/>
        </p:nvSpPr>
        <p:spPr>
          <a:xfrm rot="16200000" flipH="1">
            <a:off x="3508677" y="1178660"/>
            <a:ext cx="348490" cy="683539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B78B24-DC87-47E1-7A0F-400E397BA073}"/>
                  </a:ext>
                </a:extLst>
              </p:cNvPr>
              <p:cNvSpPr txBox="1"/>
              <p:nvPr/>
            </p:nvSpPr>
            <p:spPr>
              <a:xfrm>
                <a:off x="4649215" y="2237566"/>
                <a:ext cx="4903912" cy="7466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∮"/>
                          <m:grow m:val="on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nary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𝑆𝑑𝑉</m:t>
                          </m:r>
                        </m:e>
                      </m:nary>
                    </m:oMath>
                  </m:oMathPara>
                </a14:m>
                <a:endParaRPr lang="ru-RU" sz="4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9B78B24-DC87-47E1-7A0F-400E397BA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215" y="2237566"/>
                <a:ext cx="4903912" cy="7466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854942C-A599-4D66-31E6-9F7A60164020}"/>
              </a:ext>
            </a:extLst>
          </p:cNvPr>
          <p:cNvSpPr txBox="1"/>
          <p:nvPr/>
        </p:nvSpPr>
        <p:spPr>
          <a:xfrm>
            <a:off x="5080090" y="4552240"/>
            <a:ext cx="33726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4) Пространственная дискретизация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831E88-6019-2187-E88D-CFD6880B9038}"/>
                  </a:ext>
                </a:extLst>
              </p:cNvPr>
              <p:cNvSpPr txBox="1"/>
              <p:nvPr/>
            </p:nvSpPr>
            <p:spPr>
              <a:xfrm>
                <a:off x="4138428" y="3594913"/>
                <a:ext cx="4958979" cy="988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)=−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nary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831E88-6019-2187-E88D-CFD6880B9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428" y="3594913"/>
                <a:ext cx="4958979" cy="9889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C0B70A-2CBE-C9E7-4272-56F33D39E734}"/>
                  </a:ext>
                </a:extLst>
              </p:cNvPr>
              <p:cNvSpPr txBox="1"/>
              <p:nvPr/>
            </p:nvSpPr>
            <p:spPr>
              <a:xfrm>
                <a:off x="-254697" y="3963756"/>
                <a:ext cx="490391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C0B70A-2CBE-C9E7-4272-56F33D39E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4697" y="3963756"/>
                <a:ext cx="490391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Стрелка: вниз 27">
            <a:extLst>
              <a:ext uri="{FF2B5EF4-FFF2-40B4-BE49-F238E27FC236}">
                <a16:creationId xmlns:a16="http://schemas.microsoft.com/office/drawing/2014/main" id="{0E7D2DD2-BB19-1B39-F4F7-2F5FC15E370A}"/>
              </a:ext>
            </a:extLst>
          </p:cNvPr>
          <p:cNvSpPr/>
          <p:nvPr/>
        </p:nvSpPr>
        <p:spPr>
          <a:xfrm rot="4248308" flipH="1">
            <a:off x="3897568" y="3898017"/>
            <a:ext cx="254248" cy="441757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32E66F-2B9D-E716-75FC-1D009EBCA672}"/>
              </a:ext>
            </a:extLst>
          </p:cNvPr>
          <p:cNvSpPr txBox="1"/>
          <p:nvPr/>
        </p:nvSpPr>
        <p:spPr>
          <a:xfrm>
            <a:off x="709187" y="3022178"/>
            <a:ext cx="27530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5) Временная дискретизация и аппроксимация производных. Решение нелинейности и СЛАУ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2A9A51-5542-10F1-2143-55F7D60A60F7}"/>
                  </a:ext>
                </a:extLst>
              </p:cNvPr>
              <p:cNvSpPr txBox="1"/>
              <p:nvPr/>
            </p:nvSpPr>
            <p:spPr>
              <a:xfrm>
                <a:off x="-11434" y="1082903"/>
                <a:ext cx="2980848" cy="677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0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ru-RU" sz="2000" dirty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0" dirty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2A9A51-5542-10F1-2143-55F7D60A6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434" y="1082903"/>
                <a:ext cx="2980848" cy="6775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6CD506-801B-E3B5-1E5B-C5F0D32E8DF0}"/>
                  </a:ext>
                </a:extLst>
              </p:cNvPr>
              <p:cNvSpPr txBox="1"/>
              <p:nvPr/>
            </p:nvSpPr>
            <p:spPr>
              <a:xfrm>
                <a:off x="4590912" y="1121608"/>
                <a:ext cx="4282829" cy="6813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80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ru-RU" sz="180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sz="180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ru-RU" sz="1800" dirty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1800" dirty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800" dirty="0"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US" sz="1800" dirty="0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sz="18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1800" dirty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1800" dirty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dirty="0"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</m:d>
                      <m:r>
                        <a:rPr lang="en-US" sz="1800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𝑆𝑑𝑉</m:t>
                          </m:r>
                        </m:e>
                      </m:nary>
                    </m:oMath>
                  </m:oMathPara>
                </a14:m>
                <a:endParaRPr lang="ru-RU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D6CD506-801B-E3B5-1E5B-C5F0D32E8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912" y="1121608"/>
                <a:ext cx="4282829" cy="6813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Стрелка: вниз 12">
            <a:extLst>
              <a:ext uri="{FF2B5EF4-FFF2-40B4-BE49-F238E27FC236}">
                <a16:creationId xmlns:a16="http://schemas.microsoft.com/office/drawing/2014/main" id="{9F136876-7D0D-6C35-A44F-470BACBDC382}"/>
              </a:ext>
            </a:extLst>
          </p:cNvPr>
          <p:cNvSpPr/>
          <p:nvPr/>
        </p:nvSpPr>
        <p:spPr>
          <a:xfrm flipH="1">
            <a:off x="6981095" y="1881813"/>
            <a:ext cx="240152" cy="413243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Стрелка: вниз 13">
            <a:extLst>
              <a:ext uri="{FF2B5EF4-FFF2-40B4-BE49-F238E27FC236}">
                <a16:creationId xmlns:a16="http://schemas.microsoft.com/office/drawing/2014/main" id="{380882C2-853B-3446-4AC0-25C7167508EB}"/>
              </a:ext>
            </a:extLst>
          </p:cNvPr>
          <p:cNvSpPr/>
          <p:nvPr/>
        </p:nvSpPr>
        <p:spPr>
          <a:xfrm flipH="1">
            <a:off x="6688995" y="3039233"/>
            <a:ext cx="240152" cy="413243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860332-391F-0597-5202-E3A4433FAB23}"/>
              </a:ext>
            </a:extLst>
          </p:cNvPr>
          <p:cNvSpPr txBox="1"/>
          <p:nvPr/>
        </p:nvSpPr>
        <p:spPr>
          <a:xfrm>
            <a:off x="185820" y="1780658"/>
            <a:ext cx="2313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1) Постановка задачи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C06418-8795-E43E-64E2-8F69602FEA7D}"/>
              </a:ext>
            </a:extLst>
          </p:cNvPr>
          <p:cNvSpPr txBox="1"/>
          <p:nvPr/>
        </p:nvSpPr>
        <p:spPr>
          <a:xfrm>
            <a:off x="3988695" y="1837112"/>
            <a:ext cx="2933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2) Интегрирования по области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51EB10-5CD3-8468-B7FF-CBF299EB5B62}"/>
              </a:ext>
            </a:extLst>
          </p:cNvPr>
          <p:cNvSpPr txBox="1"/>
          <p:nvPr/>
        </p:nvSpPr>
        <p:spPr>
          <a:xfrm>
            <a:off x="2671490" y="2494930"/>
            <a:ext cx="2933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3) Остроградский-Гаусс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21C6FB9-2DA9-DE4B-49A1-646465110781}"/>
              </a:ext>
            </a:extLst>
          </p:cNvPr>
          <p:cNvSpPr/>
          <p:nvPr/>
        </p:nvSpPr>
        <p:spPr>
          <a:xfrm>
            <a:off x="1131487" y="3937439"/>
            <a:ext cx="2146741" cy="60797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31B64ABC-2214-C193-949A-2D5AE51F433B}"/>
              </a:ext>
            </a:extLst>
          </p:cNvPr>
          <p:cNvSpPr/>
          <p:nvPr/>
        </p:nvSpPr>
        <p:spPr>
          <a:xfrm>
            <a:off x="353058" y="1071877"/>
            <a:ext cx="2251995" cy="74063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6518F241-856F-D471-5890-6D2DA65ED639}"/>
              </a:ext>
            </a:extLst>
          </p:cNvPr>
          <p:cNvSpPr/>
          <p:nvPr/>
        </p:nvSpPr>
        <p:spPr>
          <a:xfrm>
            <a:off x="4585809" y="1110105"/>
            <a:ext cx="4282829" cy="6905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185DE4F4-CFFA-3848-8DEE-5BE0A5D10AE6}"/>
              </a:ext>
            </a:extLst>
          </p:cNvPr>
          <p:cNvSpPr/>
          <p:nvPr/>
        </p:nvSpPr>
        <p:spPr>
          <a:xfrm>
            <a:off x="5455632" y="2235721"/>
            <a:ext cx="3313398" cy="74667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569F87A-53B8-A700-FA9B-25B5496C59BE}"/>
              </a:ext>
            </a:extLst>
          </p:cNvPr>
          <p:cNvSpPr/>
          <p:nvPr/>
        </p:nvSpPr>
        <p:spPr>
          <a:xfrm>
            <a:off x="4699114" y="3605689"/>
            <a:ext cx="3773343" cy="98892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527518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98052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Методы дискретизации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: скругленные углы 8">
                <a:extLst>
                  <a:ext uri="{FF2B5EF4-FFF2-40B4-BE49-F238E27FC236}">
                    <a16:creationId xmlns:a16="http://schemas.microsoft.com/office/drawing/2014/main" id="{852EEC50-39DA-E2C2-8A99-6A629E9EA8F7}"/>
                  </a:ext>
                </a:extLst>
              </p:cNvPr>
              <p:cNvSpPr/>
              <p:nvPr/>
            </p:nvSpPr>
            <p:spPr>
              <a:xfrm>
                <a:off x="3379634" y="858025"/>
                <a:ext cx="2251995" cy="740635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u="sng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Прямоугольник: скругленные углы 8">
                <a:extLst>
                  <a:ext uri="{FF2B5EF4-FFF2-40B4-BE49-F238E27FC236}">
                    <a16:creationId xmlns:a16="http://schemas.microsoft.com/office/drawing/2014/main" id="{852EEC50-39DA-E2C2-8A99-6A629E9EA8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634" y="858025"/>
                <a:ext cx="2251995" cy="74063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CB16A135-730B-91A3-BAF1-2231CD9BBA90}"/>
              </a:ext>
            </a:extLst>
          </p:cNvPr>
          <p:cNvCxnSpPr>
            <a:cxnSpLocks/>
            <a:stCxn id="9" idx="1"/>
            <a:endCxn id="26" idx="0"/>
          </p:cNvCxnSpPr>
          <p:nvPr/>
        </p:nvCxnSpPr>
        <p:spPr>
          <a:xfrm rot="10800000" flipV="1">
            <a:off x="1524020" y="1228342"/>
            <a:ext cx="1855614" cy="1256921"/>
          </a:xfrm>
          <a:prstGeom prst="bentConnector2">
            <a:avLst/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: скругленные углы 25">
                <a:extLst>
                  <a:ext uri="{FF2B5EF4-FFF2-40B4-BE49-F238E27FC236}">
                    <a16:creationId xmlns:a16="http://schemas.microsoft.com/office/drawing/2014/main" id="{7CB39593-0B3C-3ED6-BE7E-EF949C2ABA63}"/>
                  </a:ext>
                </a:extLst>
              </p:cNvPr>
              <p:cNvSpPr/>
              <p:nvPr/>
            </p:nvSpPr>
            <p:spPr>
              <a:xfrm>
                <a:off x="272641" y="2485264"/>
                <a:ext cx="2502758" cy="740635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ru-RU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6" name="Прямоугольник: скругленные углы 25">
                <a:extLst>
                  <a:ext uri="{FF2B5EF4-FFF2-40B4-BE49-F238E27FC236}">
                    <a16:creationId xmlns:a16="http://schemas.microsoft.com/office/drawing/2014/main" id="{7CB39593-0B3C-3ED6-BE7E-EF949C2ABA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41" y="2485264"/>
                <a:ext cx="2502758" cy="74063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Прямоугольник: скругленные углы 26">
                <a:extLst>
                  <a:ext uri="{FF2B5EF4-FFF2-40B4-BE49-F238E27FC236}">
                    <a16:creationId xmlns:a16="http://schemas.microsoft.com/office/drawing/2014/main" id="{31AE85F8-2365-4874-24F8-4F9A207AE6A9}"/>
                  </a:ext>
                </a:extLst>
              </p:cNvPr>
              <p:cNvSpPr/>
              <p:nvPr/>
            </p:nvSpPr>
            <p:spPr>
              <a:xfrm>
                <a:off x="3254253" y="2423421"/>
                <a:ext cx="2502758" cy="1054988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ru-RU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nary>
                      <m:acc>
                        <m:accPr>
                          <m:chr m:val="̂"/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m:rPr>
                          <m:nor/>
                        </m:rP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ru-RU" dirty="0">
                          <a:solidFill>
                            <a:schemeClr val="tx1"/>
                          </a:solidFill>
                        </a:rPr>
                        <m:t> </m:t>
                      </m:r>
                      <m:nary>
                        <m:naryPr>
                          <m:supHide m:val="on"/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nary>
                      <m:acc>
                        <m:accPr>
                          <m:chr m:val="̂"/>
                          <m:ctrlP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ru-RU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)≈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Прямоугольник: скругленные углы 26">
                <a:extLst>
                  <a:ext uri="{FF2B5EF4-FFF2-40B4-BE49-F238E27FC236}">
                    <a16:creationId xmlns:a16="http://schemas.microsoft.com/office/drawing/2014/main" id="{31AE85F8-2365-4874-24F8-4F9A207AE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253" y="2423421"/>
                <a:ext cx="2502758" cy="1054988"/>
              </a:xfrm>
              <a:prstGeom prst="roundRect">
                <a:avLst/>
              </a:prstGeom>
              <a:blipFill>
                <a:blip r:embed="rId5"/>
                <a:stretch>
                  <a:fillRect l="-23913" t="-79661" b="-9322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Прямоугольник: скругленные углы 30">
                <a:extLst>
                  <a:ext uri="{FF2B5EF4-FFF2-40B4-BE49-F238E27FC236}">
                    <a16:creationId xmlns:a16="http://schemas.microsoft.com/office/drawing/2014/main" id="{21174674-C84A-7832-44F6-C183D2380B61}"/>
                  </a:ext>
                </a:extLst>
              </p:cNvPr>
              <p:cNvSpPr/>
              <p:nvPr/>
            </p:nvSpPr>
            <p:spPr>
              <a:xfrm>
                <a:off x="6390724" y="2485263"/>
                <a:ext cx="2502758" cy="1054988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∮"/>
                          <m:grow m:val="on"/>
                          <m:subHide m:val="on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</m:nary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𝑆𝑑𝑉</m:t>
                          </m:r>
                        </m:e>
                      </m:nary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</m:nary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Прямоугольник: скругленные углы 30">
                <a:extLst>
                  <a:ext uri="{FF2B5EF4-FFF2-40B4-BE49-F238E27FC236}">
                    <a16:creationId xmlns:a16="http://schemas.microsoft.com/office/drawing/2014/main" id="{21174674-C84A-7832-44F6-C183D2380B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724" y="2485263"/>
                <a:ext cx="2502758" cy="1054988"/>
              </a:xfrm>
              <a:prstGeom prst="roundRect">
                <a:avLst/>
              </a:prstGeom>
              <a:blipFill>
                <a:blip r:embed="rId6"/>
                <a:stretch>
                  <a:fillRect l="-22892" t="-78531" r="-23855" b="-9435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Соединитель: уступ 36">
            <a:extLst>
              <a:ext uri="{FF2B5EF4-FFF2-40B4-BE49-F238E27FC236}">
                <a16:creationId xmlns:a16="http://schemas.microsoft.com/office/drawing/2014/main" id="{7ED8115C-8B9C-761D-904E-71AD0EF94D73}"/>
              </a:ext>
            </a:extLst>
          </p:cNvPr>
          <p:cNvCxnSpPr>
            <a:cxnSpLocks/>
            <a:stCxn id="9" idx="3"/>
            <a:endCxn id="31" idx="0"/>
          </p:cNvCxnSpPr>
          <p:nvPr/>
        </p:nvCxnSpPr>
        <p:spPr>
          <a:xfrm>
            <a:off x="5631629" y="1228343"/>
            <a:ext cx="2010474" cy="1256920"/>
          </a:xfrm>
          <a:prstGeom prst="bentConnector2">
            <a:avLst/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3D6737B6-10B4-E706-26A7-250506E69121}"/>
              </a:ext>
            </a:extLst>
          </p:cNvPr>
          <p:cNvCxnSpPr>
            <a:cxnSpLocks/>
            <a:stCxn id="9" idx="2"/>
            <a:endCxn id="27" idx="0"/>
          </p:cNvCxnSpPr>
          <p:nvPr/>
        </p:nvCxnSpPr>
        <p:spPr>
          <a:xfrm>
            <a:off x="4505632" y="1598660"/>
            <a:ext cx="0" cy="824761"/>
          </a:xfrm>
          <a:prstGeom prst="straightConnector1">
            <a:avLst/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9B3EA3B-1395-BADF-FF6B-066D4EF145AC}"/>
              </a:ext>
            </a:extLst>
          </p:cNvPr>
          <p:cNvSpPr txBox="1"/>
          <p:nvPr/>
        </p:nvSpPr>
        <p:spPr>
          <a:xfrm>
            <a:off x="915458" y="1595193"/>
            <a:ext cx="23139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МКР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Прямоугольник: скругленные углы 56">
                <a:extLst>
                  <a:ext uri="{FF2B5EF4-FFF2-40B4-BE49-F238E27FC236}">
                    <a16:creationId xmlns:a16="http://schemas.microsoft.com/office/drawing/2014/main" id="{CE01D020-7F82-316A-9682-ABB32DD9F463}"/>
                  </a:ext>
                </a:extLst>
              </p:cNvPr>
              <p:cNvSpPr/>
              <p:nvPr/>
            </p:nvSpPr>
            <p:spPr>
              <a:xfrm>
                <a:off x="3379635" y="4035962"/>
                <a:ext cx="2251995" cy="740635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R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Прямоугольник: скругленные углы 56">
                <a:extLst>
                  <a:ext uri="{FF2B5EF4-FFF2-40B4-BE49-F238E27FC236}">
                    <a16:creationId xmlns:a16="http://schemas.microsoft.com/office/drawing/2014/main" id="{CE01D020-7F82-316A-9682-ABB32DD9F4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635" y="4035962"/>
                <a:ext cx="2251995" cy="74063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DE1E3537-08C2-0AE4-C11A-7C904A0139CB}"/>
              </a:ext>
            </a:extLst>
          </p:cNvPr>
          <p:cNvCxnSpPr>
            <a:cxnSpLocks/>
            <a:stCxn id="26" idx="2"/>
            <a:endCxn id="57" idx="1"/>
          </p:cNvCxnSpPr>
          <p:nvPr/>
        </p:nvCxnSpPr>
        <p:spPr>
          <a:xfrm rot="16200000" flipH="1">
            <a:off x="1861637" y="2888281"/>
            <a:ext cx="1180381" cy="1855615"/>
          </a:xfrm>
          <a:prstGeom prst="bentConnector2">
            <a:avLst/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Соединитель: уступ 60">
            <a:extLst>
              <a:ext uri="{FF2B5EF4-FFF2-40B4-BE49-F238E27FC236}">
                <a16:creationId xmlns:a16="http://schemas.microsoft.com/office/drawing/2014/main" id="{B7F8FB49-192F-F884-BFE6-324F4853876E}"/>
              </a:ext>
            </a:extLst>
          </p:cNvPr>
          <p:cNvCxnSpPr>
            <a:cxnSpLocks/>
            <a:stCxn id="31" idx="2"/>
            <a:endCxn id="57" idx="3"/>
          </p:cNvCxnSpPr>
          <p:nvPr/>
        </p:nvCxnSpPr>
        <p:spPr>
          <a:xfrm rot="5400000">
            <a:off x="6203853" y="2968029"/>
            <a:ext cx="866029" cy="2010473"/>
          </a:xfrm>
          <a:prstGeom prst="bentConnector2">
            <a:avLst/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Соединитель: уступ 63">
            <a:extLst>
              <a:ext uri="{FF2B5EF4-FFF2-40B4-BE49-F238E27FC236}">
                <a16:creationId xmlns:a16="http://schemas.microsoft.com/office/drawing/2014/main" id="{E2D04FE7-F80B-BFC5-5EAD-B6EAF2492AC6}"/>
              </a:ext>
            </a:extLst>
          </p:cNvPr>
          <p:cNvCxnSpPr>
            <a:cxnSpLocks/>
            <a:stCxn id="27" idx="2"/>
            <a:endCxn id="57" idx="0"/>
          </p:cNvCxnSpPr>
          <p:nvPr/>
        </p:nvCxnSpPr>
        <p:spPr>
          <a:xfrm rot="16200000" flipH="1">
            <a:off x="4226856" y="3757184"/>
            <a:ext cx="557553" cy="1"/>
          </a:xfrm>
          <a:prstGeom prst="bentConnector3">
            <a:avLst>
              <a:gd name="adj1" fmla="val 50000"/>
            </a:avLst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62D37EA2-C56A-D716-51EB-B94531935B99}"/>
              </a:ext>
            </a:extLst>
          </p:cNvPr>
          <p:cNvSpPr txBox="1"/>
          <p:nvPr/>
        </p:nvSpPr>
        <p:spPr>
          <a:xfrm>
            <a:off x="3964272" y="1747502"/>
            <a:ext cx="23139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МКЭ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3B1CEC-BB6E-591C-FFA6-4D71E1CC1A87}"/>
              </a:ext>
            </a:extLst>
          </p:cNvPr>
          <p:cNvSpPr txBox="1"/>
          <p:nvPr/>
        </p:nvSpPr>
        <p:spPr>
          <a:xfrm>
            <a:off x="5953813" y="1708362"/>
            <a:ext cx="23139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МКО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4BAC9C-9A6E-432F-E9AF-578438689D70}"/>
              </a:ext>
            </a:extLst>
          </p:cNvPr>
          <p:cNvSpPr txBox="1"/>
          <p:nvPr/>
        </p:nvSpPr>
        <p:spPr>
          <a:xfrm>
            <a:off x="3105062" y="4776597"/>
            <a:ext cx="2933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Решение СЛАУ</a:t>
            </a:r>
          </a:p>
        </p:txBody>
      </p:sp>
      <p:sp>
        <p:nvSpPr>
          <p:cNvPr id="74" name="Номер слайда 1">
            <a:extLst>
              <a:ext uri="{FF2B5EF4-FFF2-40B4-BE49-F238E27FC236}">
                <a16:creationId xmlns:a16="http://schemas.microsoft.com/office/drawing/2014/main" id="{2A314984-8451-13AC-CADE-A3103A9B71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/>
          <a:lstStyle/>
          <a:p>
            <a:fld id="{00000000-1234-1234-1234-123412341234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45668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94822" y="4667632"/>
            <a:ext cx="548700" cy="393600"/>
          </a:xfrm>
        </p:spPr>
        <p:txBody>
          <a:bodyPr/>
          <a:lstStyle/>
          <a:p>
            <a:fld id="{00000000-1234-1234-1234-123412341234}" type="slidenum">
              <a:rPr lang="en-US" smtClean="0"/>
              <a:t>28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Промежуточные методы решения ДУЧП</a:t>
            </a:r>
            <a:endParaRPr lang="en-US" sz="2400" dirty="0">
              <a:solidFill>
                <a:srgbClr val="58519F"/>
              </a:solidFill>
            </a:endParaRPr>
          </a:p>
          <a:p>
            <a:pPr algn="ctr"/>
            <a:endParaRPr lang="ru-RU" sz="2400" dirty="0">
              <a:solidFill>
                <a:srgbClr val="58519F"/>
              </a:solidFill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A4634BE2-19E1-4A6C-A873-219860C53E52}"/>
              </a:ext>
            </a:extLst>
          </p:cNvPr>
          <p:cNvSpPr/>
          <p:nvPr/>
        </p:nvSpPr>
        <p:spPr>
          <a:xfrm>
            <a:off x="2559117" y="1225617"/>
            <a:ext cx="3946938" cy="3693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3652D-52E0-74C7-B327-EC99C0F9BE59}"/>
              </a:ext>
            </a:extLst>
          </p:cNvPr>
          <p:cNvSpPr txBox="1"/>
          <p:nvPr/>
        </p:nvSpPr>
        <p:spPr>
          <a:xfrm>
            <a:off x="2537425" y="1232673"/>
            <a:ext cx="40186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dirty="0"/>
              <a:t>Промежуточные методы решения ДУЧП</a:t>
            </a:r>
            <a:endParaRPr lang="en-US" sz="1600" dirty="0"/>
          </a:p>
        </p:txBody>
      </p:sp>
      <p:cxnSp>
        <p:nvCxnSpPr>
          <p:cNvPr id="4" name="Соединитель: уступ 3">
            <a:extLst>
              <a:ext uri="{FF2B5EF4-FFF2-40B4-BE49-F238E27FC236}">
                <a16:creationId xmlns:a16="http://schemas.microsoft.com/office/drawing/2014/main" id="{868E4E58-4E6D-18CE-3112-A6D86C14C403}"/>
              </a:ext>
            </a:extLst>
          </p:cNvPr>
          <p:cNvCxnSpPr>
            <a:cxnSpLocks/>
            <a:stCxn id="3" idx="1"/>
            <a:endCxn id="7" idx="0"/>
          </p:cNvCxnSpPr>
          <p:nvPr/>
        </p:nvCxnSpPr>
        <p:spPr>
          <a:xfrm rot="10800000" flipV="1">
            <a:off x="1443471" y="1401949"/>
            <a:ext cx="1093955" cy="708127"/>
          </a:xfrm>
          <a:prstGeom prst="bentConnector2">
            <a:avLst/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04B748F-766C-1684-858A-660927EE2A77}"/>
              </a:ext>
            </a:extLst>
          </p:cNvPr>
          <p:cNvSpPr txBox="1"/>
          <p:nvPr/>
        </p:nvSpPr>
        <p:spPr>
          <a:xfrm>
            <a:off x="0" y="2110077"/>
            <a:ext cx="28869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Решение СЛАУ</a:t>
            </a:r>
            <a:endParaRPr lang="en-US" sz="2400" dirty="0"/>
          </a:p>
          <a:p>
            <a:r>
              <a:rPr lang="en-US" sz="2400" dirty="0"/>
              <a:t> </a:t>
            </a:r>
            <a:endParaRPr lang="ru-RU" sz="2400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EBF147F-5F1A-BD8C-BFCC-5C0D22320AE5}"/>
              </a:ext>
            </a:extLst>
          </p:cNvPr>
          <p:cNvSpPr/>
          <p:nvPr/>
        </p:nvSpPr>
        <p:spPr>
          <a:xfrm>
            <a:off x="296989" y="2110077"/>
            <a:ext cx="2292962" cy="4616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AC07AA-6549-37BF-BA6D-5575B67A5243}"/>
              </a:ext>
            </a:extLst>
          </p:cNvPr>
          <p:cNvSpPr txBox="1"/>
          <p:nvPr/>
        </p:nvSpPr>
        <p:spPr>
          <a:xfrm>
            <a:off x="5294720" y="1989884"/>
            <a:ext cx="39185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Решение нелинейных уравнений</a:t>
            </a:r>
            <a:endParaRPr lang="en-US" sz="2400" dirty="0"/>
          </a:p>
          <a:p>
            <a:r>
              <a:rPr lang="en-US" sz="2400" dirty="0"/>
              <a:t> </a:t>
            </a:r>
            <a:endParaRPr lang="ru-RU" sz="2400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FABD16D-D03B-3BB1-E14C-EC94531559FB}"/>
              </a:ext>
            </a:extLst>
          </p:cNvPr>
          <p:cNvSpPr/>
          <p:nvPr/>
        </p:nvSpPr>
        <p:spPr>
          <a:xfrm>
            <a:off x="5525895" y="1989885"/>
            <a:ext cx="3321116" cy="82330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cxnSp>
        <p:nvCxnSpPr>
          <p:cNvPr id="13" name="Соединитель: уступ 12">
            <a:extLst>
              <a:ext uri="{FF2B5EF4-FFF2-40B4-BE49-F238E27FC236}">
                <a16:creationId xmlns:a16="http://schemas.microsoft.com/office/drawing/2014/main" id="{CE3B6CE2-8E26-7471-89E7-4A0432E45BD8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506054" y="1410281"/>
            <a:ext cx="747964" cy="579603"/>
          </a:xfrm>
          <a:prstGeom prst="bentConnector2">
            <a:avLst/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3B79472-CFBC-F65A-45F3-4D438AED9D4A}"/>
              </a:ext>
            </a:extLst>
          </p:cNvPr>
          <p:cNvSpPr txBox="1"/>
          <p:nvPr/>
        </p:nvSpPr>
        <p:spPr>
          <a:xfrm>
            <a:off x="5525894" y="2941595"/>
            <a:ext cx="351762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Метод Ньютона-</a:t>
            </a:r>
            <a:r>
              <a:rPr lang="ru-RU" sz="2000" dirty="0" err="1"/>
              <a:t>Рафсона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Метод простой итерации (релаксации)</a:t>
            </a:r>
          </a:p>
          <a:p>
            <a:endParaRPr lang="ru-RU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2A5FCC-28D0-41AC-1DA9-C0F384253290}"/>
              </a:ext>
            </a:extLst>
          </p:cNvPr>
          <p:cNvSpPr txBox="1"/>
          <p:nvPr/>
        </p:nvSpPr>
        <p:spPr>
          <a:xfrm>
            <a:off x="296989" y="2825260"/>
            <a:ext cx="294866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Метод Гаусса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LU</a:t>
            </a:r>
            <a:r>
              <a:rPr lang="ru-RU" sz="2000" dirty="0"/>
              <a:t> разложение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PARDISO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Итерационные схемы</a:t>
            </a:r>
          </a:p>
        </p:txBody>
      </p:sp>
    </p:spTree>
    <p:extLst>
      <p:ext uri="{BB962C8B-B14F-4D97-AF65-F5344CB8AC3E}">
        <p14:creationId xmlns:p14="http://schemas.microsoft.com/office/powerpoint/2010/main" val="3460636019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BB2DA6AF-924F-9408-3D16-3C5F62C09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545" y="2665021"/>
            <a:ext cx="3300295" cy="1452762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94822" y="4667632"/>
            <a:ext cx="548700" cy="393600"/>
          </a:xfrm>
        </p:spPr>
        <p:txBody>
          <a:bodyPr/>
          <a:lstStyle/>
          <a:p>
            <a:fld id="{00000000-1234-1234-1234-123412341234}" type="slidenum">
              <a:rPr lang="en-US" smtClean="0"/>
              <a:t>29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Решение СЛАУ. Метод Гаусса</a:t>
            </a:r>
          </a:p>
          <a:p>
            <a:pPr algn="ctr"/>
            <a:endParaRPr lang="ru-RU" sz="2400" dirty="0">
              <a:solidFill>
                <a:srgbClr val="58519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B1E9A4-F52A-C548-597A-5FC135515870}"/>
              </a:ext>
            </a:extLst>
          </p:cNvPr>
          <p:cNvSpPr txBox="1"/>
          <p:nvPr/>
        </p:nvSpPr>
        <p:spPr>
          <a:xfrm>
            <a:off x="161170" y="93640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58519F"/>
                </a:solidFill>
              </a:rPr>
              <a:t>Метод Гаусса</a:t>
            </a:r>
            <a:endParaRPr lang="ru-RU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D5DC29-6A00-619B-F5DE-CC407C9247B2}"/>
              </a:ext>
            </a:extLst>
          </p:cNvPr>
          <p:cNvSpPr txBox="1"/>
          <p:nvPr/>
        </p:nvSpPr>
        <p:spPr>
          <a:xfrm>
            <a:off x="161171" y="1344582"/>
            <a:ext cx="55670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/>
              <a:t>Пусть дана произвольная матрица A. Тогда элементарными преобразованиями ее можно привести к матрице ступенчатого вида A′ .</a:t>
            </a:r>
            <a:endParaRPr lang="ru-RU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99DC58-46C2-D856-D759-B82573EF347F}"/>
                  </a:ext>
                </a:extLst>
              </p:cNvPr>
              <p:cNvSpPr txBox="1"/>
              <p:nvPr/>
            </p:nvSpPr>
            <p:spPr>
              <a:xfrm>
                <a:off x="161172" y="3130014"/>
                <a:ext cx="175462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99DC58-46C2-D856-D759-B82573EF3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72" y="3130014"/>
                <a:ext cx="1754622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Стрелка: вниз 24">
            <a:extLst>
              <a:ext uri="{FF2B5EF4-FFF2-40B4-BE49-F238E27FC236}">
                <a16:creationId xmlns:a16="http://schemas.microsoft.com/office/drawing/2014/main" id="{065C5A0C-765D-2A45-67EE-77C4D43A8D95}"/>
              </a:ext>
            </a:extLst>
          </p:cNvPr>
          <p:cNvSpPr/>
          <p:nvPr/>
        </p:nvSpPr>
        <p:spPr>
          <a:xfrm rot="16200000" flipH="1">
            <a:off x="2004019" y="3200851"/>
            <a:ext cx="291053" cy="443100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4C7DDA9-C995-35C9-E16E-DA7856872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978" y="2834673"/>
            <a:ext cx="2099844" cy="1175456"/>
          </a:xfrm>
          <a:prstGeom prst="rect">
            <a:avLst/>
          </a:prstGeom>
        </p:spPr>
      </p:pic>
      <p:sp>
        <p:nvSpPr>
          <p:cNvPr id="36" name="Стрелка: вниз 35">
            <a:extLst>
              <a:ext uri="{FF2B5EF4-FFF2-40B4-BE49-F238E27FC236}">
                <a16:creationId xmlns:a16="http://schemas.microsoft.com/office/drawing/2014/main" id="{D1E76430-DA8F-16DC-D121-9B79A69468F0}"/>
              </a:ext>
            </a:extLst>
          </p:cNvPr>
          <p:cNvSpPr/>
          <p:nvPr/>
        </p:nvSpPr>
        <p:spPr>
          <a:xfrm rot="16200000" flipH="1">
            <a:off x="5758953" y="3200852"/>
            <a:ext cx="291053" cy="443100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E49DED-7F3F-F14C-F0F9-50C8BC77B1A1}"/>
              </a:ext>
            </a:extLst>
          </p:cNvPr>
          <p:cNvSpPr txBox="1"/>
          <p:nvPr/>
        </p:nvSpPr>
        <p:spPr>
          <a:xfrm>
            <a:off x="5028945" y="2572318"/>
            <a:ext cx="16924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Элементарные преобразования</a:t>
            </a: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615CCD62-9025-F6F5-26C4-B12985DFB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442" y="2014759"/>
            <a:ext cx="814760" cy="2524229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6F414C71-33EB-068E-EDEC-7A2791E8C1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9341" y="2837837"/>
            <a:ext cx="211202" cy="302533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76E98970-10AE-3490-25B8-7011E444C7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2780" y="3202721"/>
            <a:ext cx="161200" cy="148304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A50A2974-BB69-9A42-2435-A1F7B26972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9341" y="3657492"/>
            <a:ext cx="267169" cy="302792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7BA4FCB2-D27B-67C3-E799-DBD87741C1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6808" y="2770613"/>
            <a:ext cx="285837" cy="1289932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7787D12E-0214-239B-6391-1FB36510BD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3382" y="3467931"/>
            <a:ext cx="119996" cy="199993"/>
          </a:xfrm>
          <a:prstGeom prst="rect">
            <a:avLst/>
          </a:prstGeom>
        </p:spPr>
      </p:pic>
      <p:sp>
        <p:nvSpPr>
          <p:cNvPr id="58" name="Стрелка: вниз 57">
            <a:extLst>
              <a:ext uri="{FF2B5EF4-FFF2-40B4-BE49-F238E27FC236}">
                <a16:creationId xmlns:a16="http://schemas.microsoft.com/office/drawing/2014/main" id="{04ECF823-0DB6-E5F1-A84C-020DBDB61E5B}"/>
              </a:ext>
            </a:extLst>
          </p:cNvPr>
          <p:cNvSpPr/>
          <p:nvPr/>
        </p:nvSpPr>
        <p:spPr>
          <a:xfrm rot="10800000" flipH="1">
            <a:off x="7583090" y="2305814"/>
            <a:ext cx="291053" cy="443100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C993B32-FCCB-C720-101A-B264C051017F}"/>
                  </a:ext>
                </a:extLst>
              </p:cNvPr>
              <p:cNvSpPr txBox="1"/>
              <p:nvPr/>
            </p:nvSpPr>
            <p:spPr>
              <a:xfrm>
                <a:off x="6674047" y="1618838"/>
                <a:ext cx="175462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3200" dirty="0"/>
                  <a:t>’</a:t>
                </a:r>
                <a:endParaRPr lang="ru-RU" sz="3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C993B32-FCCB-C720-101A-B264C0510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047" y="1618838"/>
                <a:ext cx="1754622" cy="584775"/>
              </a:xfrm>
              <a:prstGeom prst="rect">
                <a:avLst/>
              </a:prstGeom>
              <a:blipFill>
                <a:blip r:embed="rId11"/>
                <a:stretch>
                  <a:fillRect t="-13684" r="-1042" b="-347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79A34E34-920F-8B82-38EB-339513C46B6E}"/>
              </a:ext>
            </a:extLst>
          </p:cNvPr>
          <p:cNvSpPr/>
          <p:nvPr/>
        </p:nvSpPr>
        <p:spPr>
          <a:xfrm>
            <a:off x="320044" y="3212736"/>
            <a:ext cx="1374862" cy="4616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63" name="Прямоугольник: скругленные углы 62">
            <a:extLst>
              <a:ext uri="{FF2B5EF4-FFF2-40B4-BE49-F238E27FC236}">
                <a16:creationId xmlns:a16="http://schemas.microsoft.com/office/drawing/2014/main" id="{73060EFD-3166-6C5C-BC26-3120C2226FBC}"/>
              </a:ext>
            </a:extLst>
          </p:cNvPr>
          <p:cNvSpPr/>
          <p:nvPr/>
        </p:nvSpPr>
        <p:spPr>
          <a:xfrm>
            <a:off x="6674046" y="1708347"/>
            <a:ext cx="1588445" cy="4616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</p:spTree>
    <p:extLst>
      <p:ext uri="{BB962C8B-B14F-4D97-AF65-F5344CB8AC3E}">
        <p14:creationId xmlns:p14="http://schemas.microsoft.com/office/powerpoint/2010/main" val="32263378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94822" y="4667632"/>
            <a:ext cx="548700" cy="393600"/>
          </a:xfrm>
        </p:spPr>
        <p:txBody>
          <a:bodyPr/>
          <a:lstStyle/>
          <a:p>
            <a:fld id="{00000000-1234-1234-1234-123412341234}" type="slidenum">
              <a:rPr lang="en-US" smtClean="0"/>
              <a:t>30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Практика. Метод Гаусса</a:t>
            </a:r>
          </a:p>
          <a:p>
            <a:pPr algn="ctr"/>
            <a:endParaRPr lang="ru-RU" sz="2400" dirty="0">
              <a:solidFill>
                <a:srgbClr val="58519F"/>
              </a:solidFill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BC6202C-5658-6EE4-AD60-0EBC97AEE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32" y="1769598"/>
            <a:ext cx="4053309" cy="2279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4EEF41-14BB-F761-89DE-8A9048CEB9E3}"/>
              </a:ext>
            </a:extLst>
          </p:cNvPr>
          <p:cNvSpPr txBox="1"/>
          <p:nvPr/>
        </p:nvSpPr>
        <p:spPr>
          <a:xfrm>
            <a:off x="-49163" y="4795774"/>
            <a:ext cx="6331975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00" dirty="0">
                <a:hlinkClick r:id="rId3"/>
              </a:rPr>
              <a:t>https://i.ytimg.com/vi/_M_iZb6k7Gc/maxresdefault.jpg</a:t>
            </a:r>
            <a:endParaRPr lang="ru-RU" sz="900" dirty="0"/>
          </a:p>
          <a:p>
            <a:r>
              <a:rPr lang="ru-RU" sz="900" dirty="0"/>
              <a:t>https://cf4.ppt-online.org/files4/slide/j/JPr5sUO9blhZVT8mtu3zy7NLwdSjiqYop4k6EH/slide-8.jpg</a:t>
            </a:r>
          </a:p>
          <a:p>
            <a:endParaRPr lang="ru-RU" sz="1050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63B69E53-C0E3-A959-EE86-47951C2E8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306" y="1453802"/>
            <a:ext cx="3887495" cy="2911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509798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94822" y="4667632"/>
            <a:ext cx="548700" cy="393600"/>
          </a:xfrm>
        </p:spPr>
        <p:txBody>
          <a:bodyPr/>
          <a:lstStyle/>
          <a:p>
            <a:fld id="{00000000-1234-1234-1234-123412341234}" type="slidenum">
              <a:rPr lang="en-US" smtClean="0"/>
              <a:t>31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Решение СЛАУ. </a:t>
            </a:r>
            <a:r>
              <a:rPr lang="en-US" sz="2400" dirty="0">
                <a:solidFill>
                  <a:srgbClr val="58519F"/>
                </a:solidFill>
              </a:rPr>
              <a:t>LU-</a:t>
            </a:r>
            <a:r>
              <a:rPr lang="ru-RU" sz="2400" dirty="0">
                <a:solidFill>
                  <a:srgbClr val="58519F"/>
                </a:solidFill>
              </a:rPr>
              <a:t>разложение</a:t>
            </a:r>
          </a:p>
          <a:p>
            <a:pPr algn="ctr"/>
            <a:endParaRPr lang="ru-RU" sz="2400" dirty="0">
              <a:solidFill>
                <a:srgbClr val="58519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B1E9A4-F52A-C548-597A-5FC135515870}"/>
              </a:ext>
            </a:extLst>
          </p:cNvPr>
          <p:cNvSpPr txBox="1"/>
          <p:nvPr/>
        </p:nvSpPr>
        <p:spPr>
          <a:xfrm>
            <a:off x="161170" y="93640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58519F"/>
                </a:solidFill>
              </a:rPr>
              <a:t>LU-</a:t>
            </a:r>
            <a:r>
              <a:rPr lang="ru-RU" sz="2400" b="1" dirty="0">
                <a:solidFill>
                  <a:srgbClr val="58519F"/>
                </a:solidFill>
              </a:rPr>
              <a:t>разложение</a:t>
            </a:r>
            <a:endParaRPr lang="ru-RU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D5DC29-6A00-619B-F5DE-CC407C9247B2}"/>
              </a:ext>
            </a:extLst>
          </p:cNvPr>
          <p:cNvSpPr txBox="1"/>
          <p:nvPr/>
        </p:nvSpPr>
        <p:spPr>
          <a:xfrm>
            <a:off x="161171" y="1344582"/>
            <a:ext cx="55670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dirty="0"/>
              <a:t>Пусть дана произвольная матрица A. Ее можно на произведение двух матриц </a:t>
            </a:r>
            <a:r>
              <a:rPr lang="en-US" sz="1800" dirty="0"/>
              <a:t>L </a:t>
            </a:r>
            <a:r>
              <a:rPr lang="ru-RU" sz="1800" dirty="0"/>
              <a:t>и </a:t>
            </a:r>
            <a:r>
              <a:rPr lang="en-US" sz="1800" dirty="0"/>
              <a:t>U, </a:t>
            </a:r>
            <a:r>
              <a:rPr lang="ru-RU" sz="1800" dirty="0" err="1"/>
              <a:t>нижнетреугольная</a:t>
            </a:r>
            <a:r>
              <a:rPr lang="ru-RU" sz="1800" dirty="0"/>
              <a:t> и </a:t>
            </a:r>
            <a:r>
              <a:rPr lang="ru-RU" sz="1800" dirty="0" err="1"/>
              <a:t>верхнетреугольная</a:t>
            </a:r>
            <a:r>
              <a:rPr lang="ru-RU" sz="1800" dirty="0"/>
              <a:t> матрицы.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99DC58-46C2-D856-D759-B82573EF347F}"/>
                  </a:ext>
                </a:extLst>
              </p:cNvPr>
              <p:cNvSpPr txBox="1"/>
              <p:nvPr/>
            </p:nvSpPr>
            <p:spPr>
              <a:xfrm>
                <a:off x="161172" y="3130014"/>
                <a:ext cx="175462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399DC58-46C2-D856-D759-B82573EF3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72" y="3130014"/>
                <a:ext cx="175462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Стрелка: вниз 24">
            <a:extLst>
              <a:ext uri="{FF2B5EF4-FFF2-40B4-BE49-F238E27FC236}">
                <a16:creationId xmlns:a16="http://schemas.microsoft.com/office/drawing/2014/main" id="{065C5A0C-765D-2A45-67EE-77C4D43A8D95}"/>
              </a:ext>
            </a:extLst>
          </p:cNvPr>
          <p:cNvSpPr/>
          <p:nvPr/>
        </p:nvSpPr>
        <p:spPr>
          <a:xfrm rot="16200000" flipH="1">
            <a:off x="1991818" y="3200851"/>
            <a:ext cx="291053" cy="443100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EE4631-7E2E-A6B0-1D91-62DAB28A99E8}"/>
                  </a:ext>
                </a:extLst>
              </p:cNvPr>
              <p:cNvSpPr txBox="1"/>
              <p:nvPr/>
            </p:nvSpPr>
            <p:spPr>
              <a:xfrm>
                <a:off x="1260033" y="2658743"/>
                <a:ext cx="17546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𝐿𝑈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EE4631-7E2E-A6B0-1D91-62DAB28A9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33" y="2658743"/>
                <a:ext cx="175462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129321-1DEB-0B75-B9C4-91118B98A81F}"/>
                  </a:ext>
                </a:extLst>
              </p:cNvPr>
              <p:cNvSpPr txBox="1"/>
              <p:nvPr/>
            </p:nvSpPr>
            <p:spPr>
              <a:xfrm>
                <a:off x="2447170" y="3092111"/>
                <a:ext cx="175462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𝐿𝑈𝑥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129321-1DEB-0B75-B9C4-91118B98A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70" y="3092111"/>
                <a:ext cx="1754622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Стрелка: вниз 8">
            <a:extLst>
              <a:ext uri="{FF2B5EF4-FFF2-40B4-BE49-F238E27FC236}">
                <a16:creationId xmlns:a16="http://schemas.microsoft.com/office/drawing/2014/main" id="{32D99987-BC79-4479-60F3-BF10953FC8ED}"/>
              </a:ext>
            </a:extLst>
          </p:cNvPr>
          <p:cNvSpPr/>
          <p:nvPr/>
        </p:nvSpPr>
        <p:spPr>
          <a:xfrm rot="16200000" flipH="1">
            <a:off x="4306863" y="3181900"/>
            <a:ext cx="291053" cy="443100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5230E7-35B4-4E6C-E019-E1A1C21B5D7F}"/>
                  </a:ext>
                </a:extLst>
              </p:cNvPr>
              <p:cNvSpPr txBox="1"/>
              <p:nvPr/>
            </p:nvSpPr>
            <p:spPr>
              <a:xfrm>
                <a:off x="4572000" y="3130014"/>
                <a:ext cx="175462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𝐿𝑦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5230E7-35B4-4E6C-E019-E1A1C21B5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130014"/>
                <a:ext cx="1754622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0F498E-E5A6-15C0-E03F-762B65D90641}"/>
                  </a:ext>
                </a:extLst>
              </p:cNvPr>
              <p:cNvSpPr txBox="1"/>
              <p:nvPr/>
            </p:nvSpPr>
            <p:spPr>
              <a:xfrm>
                <a:off x="3634307" y="2609881"/>
                <a:ext cx="17546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𝑈𝑥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0F498E-E5A6-15C0-E03F-762B65D90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307" y="2609881"/>
                <a:ext cx="1754622" cy="461665"/>
              </a:xfrm>
              <a:prstGeom prst="rect">
                <a:avLst/>
              </a:prstGeom>
              <a:blipFill>
                <a:blip r:embed="rId6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DD165C0-C585-9708-31AA-4E048388AC77}"/>
              </a:ext>
            </a:extLst>
          </p:cNvPr>
          <p:cNvSpPr/>
          <p:nvPr/>
        </p:nvSpPr>
        <p:spPr>
          <a:xfrm>
            <a:off x="322341" y="3215213"/>
            <a:ext cx="1505177" cy="4616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867940A2-4693-7A11-267E-2DC9F1CE5694}"/>
              </a:ext>
            </a:extLst>
          </p:cNvPr>
          <p:cNvSpPr/>
          <p:nvPr/>
        </p:nvSpPr>
        <p:spPr>
          <a:xfrm>
            <a:off x="2516519" y="3153661"/>
            <a:ext cx="1588445" cy="4616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1458FC69-1EBC-3C2C-1A55-706ABAC4429F}"/>
              </a:ext>
            </a:extLst>
          </p:cNvPr>
          <p:cNvSpPr/>
          <p:nvPr/>
        </p:nvSpPr>
        <p:spPr>
          <a:xfrm>
            <a:off x="4738177" y="3194160"/>
            <a:ext cx="1406065" cy="5206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23" name="Стрелка: вниз 22">
            <a:extLst>
              <a:ext uri="{FF2B5EF4-FFF2-40B4-BE49-F238E27FC236}">
                <a16:creationId xmlns:a16="http://schemas.microsoft.com/office/drawing/2014/main" id="{8DF68E9F-E98C-71D8-7885-83710CDD7BDF}"/>
              </a:ext>
            </a:extLst>
          </p:cNvPr>
          <p:cNvSpPr/>
          <p:nvPr/>
        </p:nvSpPr>
        <p:spPr>
          <a:xfrm rot="16200000" flipH="1">
            <a:off x="6522257" y="3248258"/>
            <a:ext cx="291053" cy="443100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F1E2127-9C63-D443-118D-1E3101F58AC1}"/>
                  </a:ext>
                </a:extLst>
              </p:cNvPr>
              <p:cNvSpPr txBox="1"/>
              <p:nvPr/>
            </p:nvSpPr>
            <p:spPr>
              <a:xfrm>
                <a:off x="6980022" y="3182365"/>
                <a:ext cx="175462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𝑈𝑥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ru-RU" sz="3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F1E2127-9C63-D443-118D-1E3101F58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0022" y="3182365"/>
                <a:ext cx="1754622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3543D51A-D548-1C82-47A9-85A39AFC1CD4}"/>
              </a:ext>
            </a:extLst>
          </p:cNvPr>
          <p:cNvSpPr/>
          <p:nvPr/>
        </p:nvSpPr>
        <p:spPr>
          <a:xfrm>
            <a:off x="7155272" y="3276874"/>
            <a:ext cx="1404122" cy="48532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7236FC1-5AB3-7EE8-4867-35ECABABBF5F}"/>
                  </a:ext>
                </a:extLst>
              </p:cNvPr>
              <p:cNvSpPr txBox="1"/>
              <p:nvPr/>
            </p:nvSpPr>
            <p:spPr>
              <a:xfrm>
                <a:off x="4780646" y="3775291"/>
                <a:ext cx="13635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/>
                  <a:t>Находим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ru-RU" sz="1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7236FC1-5AB3-7EE8-4867-35ECABABB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646" y="3775291"/>
                <a:ext cx="1363596" cy="369332"/>
              </a:xfrm>
              <a:prstGeom prst="rect">
                <a:avLst/>
              </a:prstGeom>
              <a:blipFill>
                <a:blip r:embed="rId8"/>
                <a:stretch>
                  <a:fillRect l="-3571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CD29BF3-7B03-1960-09B6-475A78348BD0}"/>
                  </a:ext>
                </a:extLst>
              </p:cNvPr>
              <p:cNvSpPr txBox="1"/>
              <p:nvPr/>
            </p:nvSpPr>
            <p:spPr>
              <a:xfrm>
                <a:off x="7261806" y="3858021"/>
                <a:ext cx="13635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/>
                  <a:t>Находим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ru-RU" sz="1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CD29BF3-7B03-1960-09B6-475A78348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806" y="3858021"/>
                <a:ext cx="1363596" cy="369332"/>
              </a:xfrm>
              <a:prstGeom prst="rect">
                <a:avLst/>
              </a:prstGeom>
              <a:blipFill>
                <a:blip r:embed="rId9"/>
                <a:stretch>
                  <a:fillRect l="-3571" t="-10000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70559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94822" y="4667632"/>
            <a:ext cx="548700" cy="393600"/>
          </a:xfrm>
        </p:spPr>
        <p:txBody>
          <a:bodyPr/>
          <a:lstStyle/>
          <a:p>
            <a:fld id="{00000000-1234-1234-1234-123412341234}" type="slidenum">
              <a:rPr lang="en-US" smtClean="0"/>
              <a:t>32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Решение СЛАУ. Итерационные схемы</a:t>
            </a:r>
          </a:p>
          <a:p>
            <a:pPr algn="ctr"/>
            <a:endParaRPr lang="ru-RU" sz="2400" dirty="0">
              <a:solidFill>
                <a:srgbClr val="58519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B1E9A4-F52A-C548-597A-5FC135515870}"/>
              </a:ext>
            </a:extLst>
          </p:cNvPr>
          <p:cNvSpPr txBox="1"/>
          <p:nvPr/>
        </p:nvSpPr>
        <p:spPr>
          <a:xfrm>
            <a:off x="161170" y="93640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58519F"/>
                </a:solidFill>
              </a:rPr>
              <a:t>Итерационный метод</a:t>
            </a:r>
            <a:endParaRPr lang="ru-R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D5DC29-6A00-619B-F5DE-CC407C9247B2}"/>
                  </a:ext>
                </a:extLst>
              </p:cNvPr>
              <p:cNvSpPr txBox="1"/>
              <p:nvPr/>
            </p:nvSpPr>
            <p:spPr>
              <a:xfrm>
                <a:off x="161170" y="1398071"/>
                <a:ext cx="8882352" cy="669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1800" dirty="0"/>
                  <a:t>Решение СЛАУ можно решать итерационным путем, то есть постепенно уточнять решение в зависимости от шага решения</a:t>
                </a:r>
                <a:r>
                  <a:rPr lang="en-US" sz="1800" dirty="0"/>
                  <a:t> </a:t>
                </a:r>
                <a:r>
                  <a:rPr lang="ru-RU" sz="1800" dirty="0"/>
                  <a:t>и требуемой точности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sz="1800" dirty="0"/>
                  <a:t>.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D5DC29-6A00-619B-F5DE-CC407C924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70" y="1398071"/>
                <a:ext cx="8882352" cy="669992"/>
              </a:xfrm>
              <a:prstGeom prst="rect">
                <a:avLst/>
              </a:prstGeom>
              <a:blipFill>
                <a:blip r:embed="rId2"/>
                <a:stretch>
                  <a:fillRect l="-549" t="-4545" r="-549"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0F498E-E5A6-15C0-E03F-762B65D90641}"/>
                  </a:ext>
                </a:extLst>
              </p:cNvPr>
              <p:cNvSpPr txBox="1"/>
              <p:nvPr/>
            </p:nvSpPr>
            <p:spPr>
              <a:xfrm>
                <a:off x="-716306" y="3181966"/>
                <a:ext cx="5318652" cy="832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0F498E-E5A6-15C0-E03F-762B65D90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6306" y="3181966"/>
                <a:ext cx="5318652" cy="832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EBE01F6-E309-157B-1A67-C91455F4F5F2}"/>
              </a:ext>
            </a:extLst>
          </p:cNvPr>
          <p:cNvSpPr txBox="1"/>
          <p:nvPr/>
        </p:nvSpPr>
        <p:spPr>
          <a:xfrm>
            <a:off x="161170" y="1998548"/>
            <a:ext cx="89302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dirty="0"/>
              <a:t>Итерационный метод можно реализовать с помощью двухслойной схемы: текущее приближение (слой) и новое приближение (слой)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0F8A6-9958-956E-9616-BF6F0CD499C8}"/>
              </a:ext>
            </a:extLst>
          </p:cNvPr>
          <p:cNvSpPr txBox="1"/>
          <p:nvPr/>
        </p:nvSpPr>
        <p:spPr>
          <a:xfrm>
            <a:off x="161170" y="257394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/>
              <a:t>В общем виде</a:t>
            </a:r>
            <a:r>
              <a:rPr lang="en-US" sz="1800"/>
              <a:t>: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995EF9-FD2C-5F58-4713-8F189B971CC1}"/>
                  </a:ext>
                </a:extLst>
              </p:cNvPr>
              <p:cNvSpPr txBox="1"/>
              <p:nvPr/>
            </p:nvSpPr>
            <p:spPr>
              <a:xfrm>
                <a:off x="161170" y="4059884"/>
                <a:ext cx="4946970" cy="453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ru-RU" sz="1800" dirty="0"/>
                  <a:t>параметры итерации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C995EF9-FD2C-5F58-4713-8F189B971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70" y="4059884"/>
                <a:ext cx="4946970" cy="453137"/>
              </a:xfrm>
              <a:prstGeom prst="rect">
                <a:avLst/>
              </a:prstGeom>
              <a:blipFill>
                <a:blip r:embed="rId4"/>
                <a:stretch>
                  <a:fillRect l="-246" b="-189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Стрелка: вниз 11">
            <a:extLst>
              <a:ext uri="{FF2B5EF4-FFF2-40B4-BE49-F238E27FC236}">
                <a16:creationId xmlns:a16="http://schemas.microsoft.com/office/drawing/2014/main" id="{251578AA-1DEE-A282-A29F-3245F661EEC1}"/>
              </a:ext>
            </a:extLst>
          </p:cNvPr>
          <p:cNvSpPr/>
          <p:nvPr/>
        </p:nvSpPr>
        <p:spPr>
          <a:xfrm rot="16200000" flipH="1">
            <a:off x="3929803" y="3373615"/>
            <a:ext cx="291053" cy="443100"/>
          </a:xfrm>
          <a:prstGeom prst="downArrow">
            <a:avLst/>
          </a:prstGeom>
          <a:solidFill>
            <a:srgbClr val="5851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455F36C-AC66-70F1-D1AE-F8A5643A3BE0}"/>
              </a:ext>
            </a:extLst>
          </p:cNvPr>
          <p:cNvSpPr/>
          <p:nvPr/>
        </p:nvSpPr>
        <p:spPr>
          <a:xfrm>
            <a:off x="193320" y="3228870"/>
            <a:ext cx="3424809" cy="8326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09D142-4C5E-F05B-3E19-7E5B43B59698}"/>
              </a:ext>
            </a:extLst>
          </p:cNvPr>
          <p:cNvSpPr txBox="1"/>
          <p:nvPr/>
        </p:nvSpPr>
        <p:spPr>
          <a:xfrm>
            <a:off x="2691295" y="2596864"/>
            <a:ext cx="30180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/>
              <a:t>Метод простой итерации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7DEEB3-1913-FEB3-81E3-0B4799426C9D}"/>
                  </a:ext>
                </a:extLst>
              </p:cNvPr>
              <p:cNvSpPr txBox="1"/>
              <p:nvPr/>
            </p:nvSpPr>
            <p:spPr>
              <a:xfrm>
                <a:off x="3176170" y="3401986"/>
                <a:ext cx="53186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7DEEB3-1913-FEB3-81E3-0B4799426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170" y="3401986"/>
                <a:ext cx="531865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C2F8E6F-3B48-16A4-EE55-6E3F5CCA202A}"/>
              </a:ext>
            </a:extLst>
          </p:cNvPr>
          <p:cNvSpPr/>
          <p:nvPr/>
        </p:nvSpPr>
        <p:spPr>
          <a:xfrm>
            <a:off x="4733169" y="3380274"/>
            <a:ext cx="2207061" cy="5048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B570D93-2306-F1D1-4E6C-EDBBF27CF77F}"/>
                  </a:ext>
                </a:extLst>
              </p:cNvPr>
              <p:cNvSpPr txBox="1"/>
              <p:nvPr/>
            </p:nvSpPr>
            <p:spPr>
              <a:xfrm>
                <a:off x="59567" y="2733943"/>
                <a:ext cx="49601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B570D93-2306-F1D1-4E6C-EDBBF27CF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7" y="2733943"/>
                <a:ext cx="4960126" cy="461665"/>
              </a:xfrm>
              <a:prstGeom prst="rect">
                <a:avLst/>
              </a:prstGeom>
              <a:blipFill>
                <a:blip r:embed="rId6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Соединитель: уступ 35">
            <a:extLst>
              <a:ext uri="{FF2B5EF4-FFF2-40B4-BE49-F238E27FC236}">
                <a16:creationId xmlns:a16="http://schemas.microsoft.com/office/drawing/2014/main" id="{E6DF6644-F50B-70CF-DBAC-F360BC398A65}"/>
              </a:ext>
            </a:extLst>
          </p:cNvPr>
          <p:cNvCxnSpPr>
            <a:cxnSpLocks/>
            <a:stCxn id="30" idx="3"/>
            <a:endCxn id="30" idx="1"/>
          </p:cNvCxnSpPr>
          <p:nvPr/>
        </p:nvCxnSpPr>
        <p:spPr>
          <a:xfrm flipH="1">
            <a:off x="4733169" y="3632712"/>
            <a:ext cx="2207061" cy="12700"/>
          </a:xfrm>
          <a:prstGeom prst="bentConnector5">
            <a:avLst>
              <a:gd name="adj1" fmla="val -10358"/>
              <a:gd name="adj2" fmla="val 3787701"/>
              <a:gd name="adj3" fmla="val 110358"/>
            </a:avLst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98A9842-E83F-D7A3-2B65-86076BE21191}"/>
                  </a:ext>
                </a:extLst>
              </p:cNvPr>
              <p:cNvSpPr txBox="1"/>
              <p:nvPr/>
            </p:nvSpPr>
            <p:spPr>
              <a:xfrm>
                <a:off x="3244064" y="4115875"/>
                <a:ext cx="493052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98A9842-E83F-D7A3-2B65-86076BE21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064" y="4115875"/>
                <a:ext cx="4930522" cy="307777"/>
              </a:xfrm>
              <a:prstGeom prst="rect">
                <a:avLst/>
              </a:prstGeom>
              <a:blipFill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Соединитель: уступ 41">
            <a:extLst>
              <a:ext uri="{FF2B5EF4-FFF2-40B4-BE49-F238E27FC236}">
                <a16:creationId xmlns:a16="http://schemas.microsoft.com/office/drawing/2014/main" id="{D94C24DE-0120-A143-657F-13A08BF8CFF1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6940230" y="3632711"/>
            <a:ext cx="642860" cy="1"/>
          </a:xfrm>
          <a:prstGeom prst="bentConnector3">
            <a:avLst>
              <a:gd name="adj1" fmla="val 50000"/>
            </a:avLst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1AFF74D-B1A3-FDF0-7B69-D5F8F112E8F3}"/>
                  </a:ext>
                </a:extLst>
              </p:cNvPr>
              <p:cNvSpPr txBox="1"/>
              <p:nvPr/>
            </p:nvSpPr>
            <p:spPr>
              <a:xfrm>
                <a:off x="5136988" y="3180539"/>
                <a:ext cx="493052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|&lt;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1AFF74D-B1A3-FDF0-7B69-D5F8F112E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988" y="3180539"/>
                <a:ext cx="4930522" cy="307777"/>
              </a:xfrm>
              <a:prstGeom prst="rect">
                <a:avLst/>
              </a:prstGeom>
              <a:blipFill>
                <a:blip r:embed="rId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001A7B5-5B13-6B8B-0CBB-527534377382}"/>
                  </a:ext>
                </a:extLst>
              </p:cNvPr>
              <p:cNvSpPr txBox="1"/>
              <p:nvPr/>
            </p:nvSpPr>
            <p:spPr>
              <a:xfrm>
                <a:off x="5407426" y="3401986"/>
                <a:ext cx="53186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𝑆𝑡𝑜𝑝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001A7B5-5B13-6B8B-0CBB-527534377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426" y="3401986"/>
                <a:ext cx="5318652" cy="461665"/>
              </a:xfrm>
              <a:prstGeom prst="rect">
                <a:avLst/>
              </a:prstGeom>
              <a:blipFill>
                <a:blip r:embed="rId9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3203211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BC328-3D80-59B6-F4E7-F7230F5356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96257" y="4667632"/>
            <a:ext cx="548700" cy="393600"/>
          </a:xfrm>
        </p:spPr>
        <p:txBody>
          <a:bodyPr/>
          <a:lstStyle/>
          <a:p>
            <a:fld id="{00000000-1234-1234-1234-123412341234}" type="slidenum">
              <a:rPr lang="en-US" smtClean="0"/>
              <a:t>33</a:t>
            </a:fld>
            <a:endParaRPr lang="en-US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FD4485A-8AAB-2E49-3A8D-3D11509DF9ED}"/>
              </a:ext>
            </a:extLst>
          </p:cNvPr>
          <p:cNvSpPr txBox="1">
            <a:spLocks/>
          </p:cNvSpPr>
          <p:nvPr/>
        </p:nvSpPr>
        <p:spPr>
          <a:xfrm>
            <a:off x="1477090" y="324232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ru-RU" sz="2400" dirty="0">
                <a:solidFill>
                  <a:srgbClr val="58519F"/>
                </a:solidFill>
              </a:rPr>
              <a:t>Решение нелинейных уравнений. Метод Ньютона-</a:t>
            </a:r>
            <a:r>
              <a:rPr lang="ru-RU" sz="2400" dirty="0" err="1">
                <a:solidFill>
                  <a:srgbClr val="58519F"/>
                </a:solidFill>
              </a:rPr>
              <a:t>Рафсона</a:t>
            </a:r>
            <a:r>
              <a:rPr lang="ru-RU" sz="2400" dirty="0">
                <a:solidFill>
                  <a:srgbClr val="58519F"/>
                </a:solidFill>
              </a:rPr>
              <a:t> и метод релаксации</a:t>
            </a:r>
          </a:p>
          <a:p>
            <a:pPr algn="ctr"/>
            <a:endParaRPr lang="ru-RU" sz="2400" dirty="0">
              <a:solidFill>
                <a:srgbClr val="58519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B1E9A4-F52A-C548-597A-5FC135515870}"/>
              </a:ext>
            </a:extLst>
          </p:cNvPr>
          <p:cNvSpPr txBox="1"/>
          <p:nvPr/>
        </p:nvSpPr>
        <p:spPr>
          <a:xfrm>
            <a:off x="161169" y="170522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58519F"/>
                </a:solidFill>
              </a:rPr>
              <a:t>Метод Ньютона-</a:t>
            </a:r>
            <a:r>
              <a:rPr lang="ru-RU" sz="2400" b="1" dirty="0" err="1">
                <a:solidFill>
                  <a:srgbClr val="58519F"/>
                </a:solidFill>
              </a:rPr>
              <a:t>Рафсона</a:t>
            </a:r>
            <a:endParaRPr lang="ru-R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D5DC29-6A00-619B-F5DE-CC407C9247B2}"/>
                  </a:ext>
                </a:extLst>
              </p:cNvPr>
              <p:cNvSpPr txBox="1"/>
              <p:nvPr/>
            </p:nvSpPr>
            <p:spPr>
              <a:xfrm>
                <a:off x="162605" y="1093490"/>
                <a:ext cx="888235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1800" dirty="0"/>
                  <a:t>Пусть имеется функция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800" dirty="0"/>
                  <a:t> </a:t>
                </a:r>
                <a:r>
                  <a:rPr lang="ru-RU" sz="1800" dirty="0"/>
                  <a:t>Рассмотрим задачу поиска корней данной функции, то есть рассмотрим задачу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 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=0).</m:t>
                    </m:r>
                  </m:oMath>
                </a14:m>
                <a:endParaRPr lang="ru-RU" sz="1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AD5DC29-6A00-619B-F5DE-CC407C924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05" y="1093490"/>
                <a:ext cx="8882352" cy="646331"/>
              </a:xfrm>
              <a:prstGeom prst="rect">
                <a:avLst/>
              </a:prstGeom>
              <a:blipFill>
                <a:blip r:embed="rId2"/>
                <a:stretch>
                  <a:fillRect l="-618" t="-4717" r="-549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7DEEB3-1913-FEB3-81E3-0B4799426C9D}"/>
                  </a:ext>
                </a:extLst>
              </p:cNvPr>
              <p:cNvSpPr txBox="1"/>
              <p:nvPr/>
            </p:nvSpPr>
            <p:spPr>
              <a:xfrm>
                <a:off x="103372" y="3165615"/>
                <a:ext cx="3086941" cy="668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7DEEB3-1913-FEB3-81E3-0B4799426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2" y="3165615"/>
                <a:ext cx="3086941" cy="6685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1C2F8E6F-3B48-16A4-EE55-6E3F5CCA202A}"/>
              </a:ext>
            </a:extLst>
          </p:cNvPr>
          <p:cNvSpPr/>
          <p:nvPr/>
        </p:nvSpPr>
        <p:spPr>
          <a:xfrm>
            <a:off x="519309" y="3165615"/>
            <a:ext cx="2207061" cy="6685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cxnSp>
        <p:nvCxnSpPr>
          <p:cNvPr id="36" name="Соединитель: уступ 35">
            <a:extLst>
              <a:ext uri="{FF2B5EF4-FFF2-40B4-BE49-F238E27FC236}">
                <a16:creationId xmlns:a16="http://schemas.microsoft.com/office/drawing/2014/main" id="{E6DF6644-F50B-70CF-DBAC-F360BC398A65}"/>
              </a:ext>
            </a:extLst>
          </p:cNvPr>
          <p:cNvCxnSpPr>
            <a:cxnSpLocks/>
            <a:stCxn id="30" idx="3"/>
            <a:endCxn id="30" idx="1"/>
          </p:cNvCxnSpPr>
          <p:nvPr/>
        </p:nvCxnSpPr>
        <p:spPr>
          <a:xfrm flipH="1">
            <a:off x="519309" y="3499873"/>
            <a:ext cx="2207061" cy="12700"/>
          </a:xfrm>
          <a:prstGeom prst="bentConnector5">
            <a:avLst>
              <a:gd name="adj1" fmla="val -10358"/>
              <a:gd name="adj2" fmla="val 4431953"/>
              <a:gd name="adj3" fmla="val 110358"/>
            </a:avLst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98A9842-E83F-D7A3-2B65-86076BE21191}"/>
                  </a:ext>
                </a:extLst>
              </p:cNvPr>
              <p:cNvSpPr txBox="1"/>
              <p:nvPr/>
            </p:nvSpPr>
            <p:spPr>
              <a:xfrm>
                <a:off x="843987" y="4104473"/>
                <a:ext cx="157177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98A9842-E83F-D7A3-2B65-86076BE21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87" y="4104473"/>
                <a:ext cx="1571776" cy="307777"/>
              </a:xfrm>
              <a:prstGeom prst="rect">
                <a:avLst/>
              </a:prstGeom>
              <a:blipFill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Соединитель: уступ 41">
            <a:extLst>
              <a:ext uri="{FF2B5EF4-FFF2-40B4-BE49-F238E27FC236}">
                <a16:creationId xmlns:a16="http://schemas.microsoft.com/office/drawing/2014/main" id="{D94C24DE-0120-A143-657F-13A08BF8CFF1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2726370" y="3418052"/>
            <a:ext cx="642860" cy="81821"/>
          </a:xfrm>
          <a:prstGeom prst="bentConnector3">
            <a:avLst>
              <a:gd name="adj1" fmla="val 50000"/>
            </a:avLst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1AFF74D-B1A3-FDF0-7B69-D5F8F112E8F3}"/>
                  </a:ext>
                </a:extLst>
              </p:cNvPr>
              <p:cNvSpPr txBox="1"/>
              <p:nvPr/>
            </p:nvSpPr>
            <p:spPr>
              <a:xfrm>
                <a:off x="2703258" y="3026016"/>
                <a:ext cx="143907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|&lt;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1AFF74D-B1A3-FDF0-7B69-D5F8F112E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258" y="3026016"/>
                <a:ext cx="1439072" cy="307777"/>
              </a:xfrm>
              <a:prstGeom prst="rect">
                <a:avLst/>
              </a:prstGeom>
              <a:blipFill>
                <a:blip r:embed="rId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001A7B5-5B13-6B8B-0CBB-527534377382}"/>
                  </a:ext>
                </a:extLst>
              </p:cNvPr>
              <p:cNvSpPr txBox="1"/>
              <p:nvPr/>
            </p:nvSpPr>
            <p:spPr>
              <a:xfrm>
                <a:off x="3336855" y="3228285"/>
                <a:ext cx="103909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𝑆𝑡𝑜𝑝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001A7B5-5B13-6B8B-0CBB-527534377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855" y="3228285"/>
                <a:ext cx="1039094" cy="461665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35F31A9-48BD-0EC8-7FB9-692FF85460F2}"/>
              </a:ext>
            </a:extLst>
          </p:cNvPr>
          <p:cNvSpPr txBox="1"/>
          <p:nvPr/>
        </p:nvSpPr>
        <p:spPr>
          <a:xfrm>
            <a:off x="4975660" y="171948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58519F"/>
                </a:solidFill>
              </a:rPr>
              <a:t>Метод релаксации</a:t>
            </a:r>
            <a:endParaRPr lang="ru-R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2981D4-3C93-2FFF-A235-09D260E21C43}"/>
                  </a:ext>
                </a:extLst>
              </p:cNvPr>
              <p:cNvSpPr txBox="1"/>
              <p:nvPr/>
            </p:nvSpPr>
            <p:spPr>
              <a:xfrm>
                <a:off x="161170" y="2140882"/>
                <a:ext cx="392913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1800" dirty="0"/>
                  <a:t>Пусть имеем приближение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/>
                  <a:t>. </a:t>
                </a:r>
                <a:r>
                  <a:rPr lang="ru-RU" sz="1800" dirty="0"/>
                  <a:t>Тогда следующее приближение корня ищем следующим образом: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2981D4-3C93-2FFF-A235-09D260E21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70" y="2140882"/>
                <a:ext cx="3929139" cy="923330"/>
              </a:xfrm>
              <a:prstGeom prst="rect">
                <a:avLst/>
              </a:prstGeom>
              <a:blipFill>
                <a:blip r:embed="rId7"/>
                <a:stretch>
                  <a:fillRect l="-1240" t="-3289" r="-1240" b="-9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5BFD26-D1EA-920A-2104-E7FDADEAF5B8}"/>
                  </a:ext>
                </a:extLst>
              </p:cNvPr>
              <p:cNvSpPr txBox="1"/>
              <p:nvPr/>
            </p:nvSpPr>
            <p:spPr>
              <a:xfrm>
                <a:off x="4582331" y="2130426"/>
                <a:ext cx="4249661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dirty="0"/>
                  <a:t> </a:t>
                </a:r>
                <a:r>
                  <a:rPr lang="ru-RU" sz="1800" dirty="0"/>
                  <a:t>можно привести к виду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1800" dirty="0"/>
                  <a:t> где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1800" dirty="0"/>
                  <a:t> сжимающее, то есть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sz="1800" dirty="0"/>
              </a:p>
              <a:p>
                <a:r>
                  <a:rPr lang="ru-RU" sz="1800" dirty="0"/>
                  <a:t>Тогда корень можно найти методом простой итерации: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5BFD26-D1EA-920A-2104-E7FDADEAF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331" y="2130426"/>
                <a:ext cx="4249661" cy="1477328"/>
              </a:xfrm>
              <a:prstGeom prst="rect">
                <a:avLst/>
              </a:prstGeom>
              <a:blipFill>
                <a:blip r:embed="rId8"/>
                <a:stretch>
                  <a:fillRect l="-1291" t="-2058" b="-53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F19345D-D450-2D31-49F9-8E9294632E7A}"/>
                  </a:ext>
                </a:extLst>
              </p:cNvPr>
              <p:cNvSpPr txBox="1"/>
              <p:nvPr/>
            </p:nvSpPr>
            <p:spPr>
              <a:xfrm>
                <a:off x="4432054" y="3589845"/>
                <a:ext cx="30869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F19345D-D450-2D31-49F9-8E9294632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054" y="3589845"/>
                <a:ext cx="3086941" cy="369332"/>
              </a:xfrm>
              <a:prstGeom prst="rect">
                <a:avLst/>
              </a:prstGeom>
              <a:blipFill>
                <a:blip r:embed="rId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72368ADF-2671-4CB9-2FD7-B0AC85BFE13C}"/>
              </a:ext>
            </a:extLst>
          </p:cNvPr>
          <p:cNvSpPr/>
          <p:nvPr/>
        </p:nvSpPr>
        <p:spPr>
          <a:xfrm>
            <a:off x="5231888" y="3607754"/>
            <a:ext cx="1439072" cy="3693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  <p:cxnSp>
        <p:nvCxnSpPr>
          <p:cNvPr id="23" name="Соединитель: уступ 22">
            <a:extLst>
              <a:ext uri="{FF2B5EF4-FFF2-40B4-BE49-F238E27FC236}">
                <a16:creationId xmlns:a16="http://schemas.microsoft.com/office/drawing/2014/main" id="{C1BA3699-B840-C3BE-0BCF-486FCFDC11ED}"/>
              </a:ext>
            </a:extLst>
          </p:cNvPr>
          <p:cNvCxnSpPr>
            <a:cxnSpLocks/>
            <a:stCxn id="22" idx="3"/>
            <a:endCxn id="22" idx="1"/>
          </p:cNvCxnSpPr>
          <p:nvPr/>
        </p:nvCxnSpPr>
        <p:spPr>
          <a:xfrm flipH="1">
            <a:off x="5231888" y="3792420"/>
            <a:ext cx="1439072" cy="12700"/>
          </a:xfrm>
          <a:prstGeom prst="bentConnector5">
            <a:avLst>
              <a:gd name="adj1" fmla="val -15885"/>
              <a:gd name="adj2" fmla="val 3254063"/>
              <a:gd name="adj3" fmla="val 115885"/>
            </a:avLst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C418AB8-59BE-7A3B-201F-923DE2A8BBFB}"/>
                  </a:ext>
                </a:extLst>
              </p:cNvPr>
              <p:cNvSpPr txBox="1"/>
              <p:nvPr/>
            </p:nvSpPr>
            <p:spPr>
              <a:xfrm>
                <a:off x="5189636" y="4258361"/>
                <a:ext cx="157177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C418AB8-59BE-7A3B-201F-923DE2A8B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9636" y="4258361"/>
                <a:ext cx="1571776" cy="307777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Соединитель: уступ 24">
            <a:extLst>
              <a:ext uri="{FF2B5EF4-FFF2-40B4-BE49-F238E27FC236}">
                <a16:creationId xmlns:a16="http://schemas.microsoft.com/office/drawing/2014/main" id="{6E996C61-0C25-5AC8-DC71-964B33EB0BD0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6670960" y="3792420"/>
            <a:ext cx="1026952" cy="67771"/>
          </a:xfrm>
          <a:prstGeom prst="bentConnector3">
            <a:avLst>
              <a:gd name="adj1" fmla="val 50000"/>
            </a:avLst>
          </a:prstGeom>
          <a:ln w="28575">
            <a:solidFill>
              <a:srgbClr val="58519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58F262-75DF-7F6B-0C82-C1A9EC02357D}"/>
                  </a:ext>
                </a:extLst>
              </p:cNvPr>
              <p:cNvSpPr txBox="1"/>
              <p:nvPr/>
            </p:nvSpPr>
            <p:spPr>
              <a:xfrm>
                <a:off x="6879757" y="3382173"/>
                <a:ext cx="143907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|&lt;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58F262-75DF-7F6B-0C82-C1A9EC023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757" y="3382173"/>
                <a:ext cx="1439072" cy="307777"/>
              </a:xfrm>
              <a:prstGeom prst="rect">
                <a:avLst/>
              </a:prstGeom>
              <a:blipFill>
                <a:blip r:embed="rId1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19568F7-23C7-47CE-D9CC-48C805AF60F7}"/>
                  </a:ext>
                </a:extLst>
              </p:cNvPr>
              <p:cNvSpPr txBox="1"/>
              <p:nvPr/>
            </p:nvSpPr>
            <p:spPr>
              <a:xfrm>
                <a:off x="7665537" y="3670424"/>
                <a:ext cx="103909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𝑆𝑡𝑜𝑝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19568F7-23C7-47CE-D9CC-48C805AF6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5537" y="3670424"/>
                <a:ext cx="1039094" cy="461665"/>
              </a:xfrm>
              <a:prstGeom prst="rect">
                <a:avLst/>
              </a:prstGeom>
              <a:blipFill>
                <a:blip r:embed="rId12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C3B8D4D1-9B3A-4405-C5A0-DE7CB5FE06B2}"/>
              </a:ext>
            </a:extLst>
          </p:cNvPr>
          <p:cNvSpPr txBox="1"/>
          <p:nvPr/>
        </p:nvSpPr>
        <p:spPr>
          <a:xfrm>
            <a:off x="2588695" y="4624108"/>
            <a:ext cx="4773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58519F"/>
                </a:solidFill>
              </a:rPr>
              <a:t>Аналогично и для матриц</a:t>
            </a:r>
            <a:endParaRPr lang="ru-RU" sz="1800" dirty="0"/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347B6E02-5CA5-5D6E-2E89-910309B6C31C}"/>
              </a:ext>
            </a:extLst>
          </p:cNvPr>
          <p:cNvSpPr/>
          <p:nvPr/>
        </p:nvSpPr>
        <p:spPr>
          <a:xfrm>
            <a:off x="2639410" y="4623082"/>
            <a:ext cx="3086941" cy="3693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/>
          </a:p>
        </p:txBody>
      </p:sp>
    </p:spTree>
    <p:extLst>
      <p:ext uri="{BB962C8B-B14F-4D97-AF65-F5344CB8AC3E}">
        <p14:creationId xmlns:p14="http://schemas.microsoft.com/office/powerpoint/2010/main" val="2249785222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CF6382D-3B27-4E44-927D-CDF285999217}"/>
              </a:ext>
            </a:extLst>
          </p:cNvPr>
          <p:cNvSpPr/>
          <p:nvPr/>
        </p:nvSpPr>
        <p:spPr>
          <a:xfrm>
            <a:off x="246684" y="1123418"/>
            <a:ext cx="1943100" cy="1221581"/>
          </a:xfrm>
          <a:prstGeom prst="rect">
            <a:avLst/>
          </a:prstGeom>
          <a:solidFill>
            <a:srgbClr val="89C6D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Обзор численных методов (МКЭ, МКР). Примеры программ и области применений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E139C5-BE5F-464B-AC0C-7E7A04437AD0}"/>
              </a:ext>
            </a:extLst>
          </p:cNvPr>
          <p:cNvSpPr txBox="1"/>
          <p:nvPr/>
        </p:nvSpPr>
        <p:spPr>
          <a:xfrm>
            <a:off x="3294661" y="838376"/>
            <a:ext cx="1428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Вторая лекция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24C172D8-93BF-4D58-8558-82A1FE31240F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>
            <a:off x="2189784" y="1734209"/>
            <a:ext cx="847702" cy="44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AFA7F1E-B2C0-4CF3-AB39-2F8371A8B125}"/>
              </a:ext>
            </a:extLst>
          </p:cNvPr>
          <p:cNvSpPr/>
          <p:nvPr/>
        </p:nvSpPr>
        <p:spPr>
          <a:xfrm>
            <a:off x="3037486" y="1127847"/>
            <a:ext cx="1943100" cy="1221581"/>
          </a:xfrm>
          <a:prstGeom prst="rect">
            <a:avLst/>
          </a:prstGeom>
          <a:solidFill>
            <a:srgbClr val="89C6D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МКР. Как МКР устроен в </a:t>
            </a:r>
            <a:r>
              <a:rPr lang="en-US" dirty="0"/>
              <a:t>Ansys </a:t>
            </a:r>
            <a:r>
              <a:rPr lang="en-US" dirty="0" err="1"/>
              <a:t>Lumerical</a:t>
            </a:r>
            <a:r>
              <a:rPr lang="ru-RU" dirty="0"/>
              <a:t>. Базовые знания по </a:t>
            </a:r>
            <a:r>
              <a:rPr lang="en-US" dirty="0"/>
              <a:t>Ansys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30BBFE-76CE-4BE6-A88E-EF2D2295D32E}"/>
              </a:ext>
            </a:extLst>
          </p:cNvPr>
          <p:cNvSpPr txBox="1"/>
          <p:nvPr/>
        </p:nvSpPr>
        <p:spPr>
          <a:xfrm>
            <a:off x="446709" y="815641"/>
            <a:ext cx="17430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Первая лекция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DF12EAFC-FB56-4BF3-9E77-09A1A5F979B6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>
            <a:off x="4980586" y="1738638"/>
            <a:ext cx="533707" cy="41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E71D344-9AA4-437C-84D1-21AB57DE8A8A}"/>
              </a:ext>
            </a:extLst>
          </p:cNvPr>
          <p:cNvSpPr/>
          <p:nvPr/>
        </p:nvSpPr>
        <p:spPr>
          <a:xfrm>
            <a:off x="5514293" y="1132012"/>
            <a:ext cx="1943100" cy="1221581"/>
          </a:xfrm>
          <a:prstGeom prst="rect">
            <a:avLst/>
          </a:prstGeom>
          <a:solidFill>
            <a:srgbClr val="89C6D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МКО. Как МКО устроен в </a:t>
            </a:r>
            <a:r>
              <a:rPr lang="en-US" dirty="0"/>
              <a:t>TCAD.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27A5A7-5408-4143-BF56-B635014455B5}"/>
              </a:ext>
            </a:extLst>
          </p:cNvPr>
          <p:cNvSpPr txBox="1"/>
          <p:nvPr/>
        </p:nvSpPr>
        <p:spPr>
          <a:xfrm>
            <a:off x="5771468" y="824235"/>
            <a:ext cx="1428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Третья лекция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5F13DE1-EB2A-4049-BA9A-E194E07288F2}"/>
              </a:ext>
            </a:extLst>
          </p:cNvPr>
          <p:cNvSpPr/>
          <p:nvPr/>
        </p:nvSpPr>
        <p:spPr>
          <a:xfrm>
            <a:off x="6054898" y="3670618"/>
            <a:ext cx="2035970" cy="1064035"/>
          </a:xfrm>
          <a:prstGeom prst="rect">
            <a:avLst/>
          </a:prstGeom>
          <a:solidFill>
            <a:srgbClr val="89C6D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МКЭ в </a:t>
            </a:r>
            <a:r>
              <a:rPr lang="en-US" dirty="0" err="1"/>
              <a:t>Comsol</a:t>
            </a:r>
            <a:r>
              <a:rPr lang="en-US" dirty="0"/>
              <a:t>. </a:t>
            </a:r>
            <a:r>
              <a:rPr lang="ru-RU" dirty="0"/>
              <a:t>Пример моделирования в </a:t>
            </a:r>
            <a:r>
              <a:rPr lang="en-US" dirty="0" err="1"/>
              <a:t>Comsol</a:t>
            </a:r>
            <a:endParaRPr lang="ru-RU" dirty="0"/>
          </a:p>
        </p:txBody>
      </p:sp>
      <p:cxnSp>
        <p:nvCxnSpPr>
          <p:cNvPr id="24" name="Соединитель: уступ 23">
            <a:extLst>
              <a:ext uri="{FF2B5EF4-FFF2-40B4-BE49-F238E27FC236}">
                <a16:creationId xmlns:a16="http://schemas.microsoft.com/office/drawing/2014/main" id="{8D2811AD-49DA-4B0D-9787-A9D58CE9CF0C}"/>
              </a:ext>
            </a:extLst>
          </p:cNvPr>
          <p:cNvCxnSpPr>
            <a:cxnSpLocks/>
            <a:stCxn id="18" idx="3"/>
            <a:endCxn id="23" idx="3"/>
          </p:cNvCxnSpPr>
          <p:nvPr/>
        </p:nvCxnSpPr>
        <p:spPr>
          <a:xfrm>
            <a:off x="7457393" y="1742803"/>
            <a:ext cx="633475" cy="2459833"/>
          </a:xfrm>
          <a:prstGeom prst="bentConnector3">
            <a:avLst>
              <a:gd name="adj1" fmla="val 18265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24D1E59-EA44-4B09-BD27-F64D1B262F40}"/>
              </a:ext>
            </a:extLst>
          </p:cNvPr>
          <p:cNvSpPr txBox="1"/>
          <p:nvPr/>
        </p:nvSpPr>
        <p:spPr>
          <a:xfrm>
            <a:off x="6485843" y="4761705"/>
            <a:ext cx="2035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Четвертая лекция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E421745-8470-40FE-B26D-C0ACFC5D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лекций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FA42833B-77C5-4664-B03D-0B619D52C107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endParaRPr lang="ru-RU" sz="2400" dirty="0">
              <a:solidFill>
                <a:srgbClr val="58519F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053ACE-DEB9-DE9D-41A4-12C2A551A987}"/>
              </a:ext>
            </a:extLst>
          </p:cNvPr>
          <p:cNvSpPr txBox="1">
            <a:spLocks/>
          </p:cNvSpPr>
          <p:nvPr/>
        </p:nvSpPr>
        <p:spPr>
          <a:xfrm>
            <a:off x="8496257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z="2000" smtClean="0"/>
              <a:pPr/>
              <a:t>34</a:t>
            </a:fld>
            <a:endParaRPr lang="en-US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A555005-727C-B467-B052-7454B8F842FF}"/>
              </a:ext>
            </a:extLst>
          </p:cNvPr>
          <p:cNvSpPr/>
          <p:nvPr/>
        </p:nvSpPr>
        <p:spPr>
          <a:xfrm>
            <a:off x="3349443" y="3670618"/>
            <a:ext cx="2035970" cy="1064035"/>
          </a:xfrm>
          <a:prstGeom prst="rect">
            <a:avLst/>
          </a:prstGeom>
          <a:solidFill>
            <a:srgbClr val="89C6D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Атомистическое моделирование. Метод Монте-Карло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EF5D2B-9C84-815F-8FEC-A536967F599C}"/>
              </a:ext>
            </a:extLst>
          </p:cNvPr>
          <p:cNvSpPr txBox="1"/>
          <p:nvPr/>
        </p:nvSpPr>
        <p:spPr>
          <a:xfrm>
            <a:off x="3616859" y="4761706"/>
            <a:ext cx="2035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Пятая лекция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9256485-9660-A636-BB33-97624AF18B00}"/>
              </a:ext>
            </a:extLst>
          </p:cNvPr>
          <p:cNvSpPr/>
          <p:nvPr/>
        </p:nvSpPr>
        <p:spPr>
          <a:xfrm>
            <a:off x="161268" y="3670618"/>
            <a:ext cx="2035970" cy="1064035"/>
          </a:xfrm>
          <a:prstGeom prst="rect">
            <a:avLst/>
          </a:prstGeom>
          <a:solidFill>
            <a:srgbClr val="89C6D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Применения методов машинного обучения для моделирования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834212-55BD-0644-92F7-2A15C543686F}"/>
              </a:ext>
            </a:extLst>
          </p:cNvPr>
          <p:cNvSpPr txBox="1"/>
          <p:nvPr/>
        </p:nvSpPr>
        <p:spPr>
          <a:xfrm>
            <a:off x="506015" y="4761707"/>
            <a:ext cx="2035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Шестая лекция</a:t>
            </a: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B2C00D9B-616B-5FD3-5620-FF3085D5910C}"/>
              </a:ext>
            </a:extLst>
          </p:cNvPr>
          <p:cNvCxnSpPr>
            <a:cxnSpLocks/>
            <a:stCxn id="23" idx="1"/>
            <a:endCxn id="21" idx="3"/>
          </p:cNvCxnSpPr>
          <p:nvPr/>
        </p:nvCxnSpPr>
        <p:spPr>
          <a:xfrm flipH="1">
            <a:off x="5385413" y="4202636"/>
            <a:ext cx="66948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958E7B22-D453-3E0B-E9D7-A29DB18699AC}"/>
              </a:ext>
            </a:extLst>
          </p:cNvPr>
          <p:cNvCxnSpPr>
            <a:cxnSpLocks/>
            <a:stCxn id="21" idx="1"/>
            <a:endCxn id="26" idx="3"/>
          </p:cNvCxnSpPr>
          <p:nvPr/>
        </p:nvCxnSpPr>
        <p:spPr>
          <a:xfrm flipH="1">
            <a:off x="2197238" y="4202636"/>
            <a:ext cx="11522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9C48ADB5-E917-B69D-CD41-C8BF2799AE5A}"/>
              </a:ext>
            </a:extLst>
          </p:cNvPr>
          <p:cNvCxnSpPr>
            <a:cxnSpLocks/>
            <a:stCxn id="26" idx="0"/>
            <a:endCxn id="31" idx="1"/>
          </p:cNvCxnSpPr>
          <p:nvPr/>
        </p:nvCxnSpPr>
        <p:spPr>
          <a:xfrm rot="5400000" flipH="1" flipV="1">
            <a:off x="1876897" y="2336046"/>
            <a:ext cx="636929" cy="2032216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2237370-33FB-FF18-9960-D84BD90EB153}"/>
              </a:ext>
            </a:extLst>
          </p:cNvPr>
          <p:cNvSpPr/>
          <p:nvPr/>
        </p:nvSpPr>
        <p:spPr>
          <a:xfrm>
            <a:off x="3211469" y="2501671"/>
            <a:ext cx="2035970" cy="1064035"/>
          </a:xfrm>
          <a:prstGeom prst="rect">
            <a:avLst/>
          </a:prstGeom>
          <a:solidFill>
            <a:srgbClr val="89C6D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 be continued</a:t>
            </a:r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AE4CA0-4E14-BC5A-6528-2C5F07E6F2D8}"/>
              </a:ext>
            </a:extLst>
          </p:cNvPr>
          <p:cNvSpPr txBox="1"/>
          <p:nvPr/>
        </p:nvSpPr>
        <p:spPr>
          <a:xfrm>
            <a:off x="5283450" y="2873292"/>
            <a:ext cx="2035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Седьмая лекция</a:t>
            </a:r>
          </a:p>
        </p:txBody>
      </p:sp>
    </p:spTree>
    <p:extLst>
      <p:ext uri="{BB962C8B-B14F-4D97-AF65-F5344CB8AC3E}">
        <p14:creationId xmlns:p14="http://schemas.microsoft.com/office/powerpoint/2010/main" val="143869398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FA42833B-77C5-4664-B03D-0B619D52C107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endParaRPr lang="ru-RU" sz="2400" dirty="0">
              <a:solidFill>
                <a:srgbClr val="58519F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053ACE-DEB9-DE9D-41A4-12C2A551A987}"/>
              </a:ext>
            </a:extLst>
          </p:cNvPr>
          <p:cNvSpPr txBox="1">
            <a:spLocks/>
          </p:cNvSpPr>
          <p:nvPr/>
        </p:nvSpPr>
        <p:spPr>
          <a:xfrm>
            <a:off x="8496257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z="2000" smtClean="0"/>
              <a:pPr/>
              <a:t>35</a:t>
            </a:fld>
            <a:endParaRPr lang="en-US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22A683A-8C5B-745E-903A-36EC659E5785}"/>
              </a:ext>
            </a:extLst>
          </p:cNvPr>
          <p:cNvSpPr txBox="1">
            <a:spLocks/>
          </p:cNvSpPr>
          <p:nvPr/>
        </p:nvSpPr>
        <p:spPr>
          <a:xfrm>
            <a:off x="358014" y="2158378"/>
            <a:ext cx="8535496" cy="635542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2400" b="0" i="0" u="none" strike="noStrike" cap="none">
                <a:solidFill>
                  <a:srgbClr val="58519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ru-RU" sz="44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811130442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E421745-8470-40FE-B26D-C0ACFC5DE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лекций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FA42833B-77C5-4664-B03D-0B619D52C107}"/>
              </a:ext>
            </a:extLst>
          </p:cNvPr>
          <p:cNvSpPr txBox="1">
            <a:spLocks/>
          </p:cNvSpPr>
          <p:nvPr/>
        </p:nvSpPr>
        <p:spPr>
          <a:xfrm>
            <a:off x="1560910" y="277410"/>
            <a:ext cx="6022180" cy="6355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endParaRPr lang="ru-RU" sz="2400" dirty="0">
              <a:solidFill>
                <a:srgbClr val="58519F"/>
              </a:solidFill>
            </a:endParaRPr>
          </a:p>
        </p:txBody>
      </p:sp>
      <p:sp>
        <p:nvSpPr>
          <p:cNvPr id="3" name="Номер слайда 1">
            <a:extLst>
              <a:ext uri="{FF2B5EF4-FFF2-40B4-BE49-F238E27FC236}">
                <a16:creationId xmlns:a16="http://schemas.microsoft.com/office/drawing/2014/main" id="{562EC0F0-0D90-9246-3759-11C49F4BF3FF}"/>
              </a:ext>
            </a:extLst>
          </p:cNvPr>
          <p:cNvSpPr txBox="1">
            <a:spLocks/>
          </p:cNvSpPr>
          <p:nvPr/>
        </p:nvSpPr>
        <p:spPr>
          <a:xfrm>
            <a:off x="8496257" y="4667632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fld id="{00000000-1234-1234-1234-123412341234}" type="slidenum">
              <a:rPr lang="en-US" sz="2000" smtClean="0"/>
              <a:pPr/>
              <a:t>36</a:t>
            </a:fld>
            <a:endParaRPr lang="en-US" dirty="0"/>
          </a:p>
        </p:txBody>
      </p:sp>
      <p:pic>
        <p:nvPicPr>
          <p:cNvPr id="5" name="Picture 2" descr="Picture background">
            <a:extLst>
              <a:ext uri="{FF2B5EF4-FFF2-40B4-BE49-F238E27FC236}">
                <a16:creationId xmlns:a16="http://schemas.microsoft.com/office/drawing/2014/main" id="{E17D2336-CEF9-AA79-6D21-E4EF80314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03" y="107627"/>
            <a:ext cx="6714497" cy="5035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903840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Титульный слайд (больш. лого)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Внутренние слайды (уменьш. лого)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29705</TotalTime>
  <Words>2270</Words>
  <Application>Microsoft Office PowerPoint</Application>
  <PresentationFormat>Экран (16:9)</PresentationFormat>
  <Paragraphs>378</Paragraphs>
  <Slides>36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36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Times New Roman</vt:lpstr>
      <vt:lpstr>Wingdings 2</vt:lpstr>
      <vt:lpstr>Титульный слайд (больш. лого)</vt:lpstr>
      <vt:lpstr>Внутренние слайды (уменьш. лого)</vt:lpstr>
      <vt:lpstr> Методы моделирования физических процессов</vt:lpstr>
      <vt:lpstr>Презентация PowerPoint</vt:lpstr>
      <vt:lpstr>Численное моделирование. Зачем?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План лекций</vt:lpstr>
      <vt:lpstr>Презентация PowerPoint</vt:lpstr>
      <vt:lpstr>План лекций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НИИМЭ МФТИ</dc:title>
  <dc:creator>Тельминов Олег Александрович</dc:creator>
  <cp:lastModifiedBy>Алексей Козлов</cp:lastModifiedBy>
  <cp:revision>416</cp:revision>
  <dcterms:created xsi:type="dcterms:W3CDTF">2023-02-24T09:31:00Z</dcterms:created>
  <dcterms:modified xsi:type="dcterms:W3CDTF">2026-10-13T14:14:14Z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9BE73AA1038C47A7A15BA2C826E82C85</vt:lpwstr>
  </property>
  <property fmtid="{D5CDD505-2E9C-101B-9397-08002B2CF9AE}" pid="3" name="KSOProductBuildVer">
    <vt:lpwstr>1049-11.2.0.11537</vt:lpwstr>
  </property>
</Properties>
</file>