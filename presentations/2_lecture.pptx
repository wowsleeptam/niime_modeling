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6" r:id="rId2"/>
  </p:sldMasterIdLst>
  <p:notesMasterIdLst>
    <p:notesMasterId r:id="rId26"/>
  </p:notesMasterIdLst>
  <p:sldIdLst>
    <p:sldId id="307" r:id="rId3"/>
    <p:sldId id="377" r:id="rId4"/>
    <p:sldId id="379" r:id="rId5"/>
    <p:sldId id="380" r:id="rId6"/>
    <p:sldId id="310" r:id="rId7"/>
    <p:sldId id="312" r:id="rId8"/>
    <p:sldId id="324" r:id="rId9"/>
    <p:sldId id="311" r:id="rId10"/>
    <p:sldId id="313" r:id="rId11"/>
    <p:sldId id="314" r:id="rId12"/>
    <p:sldId id="315" r:id="rId13"/>
    <p:sldId id="316" r:id="rId14"/>
    <p:sldId id="317" r:id="rId15"/>
    <p:sldId id="320" r:id="rId16"/>
    <p:sldId id="318" r:id="rId17"/>
    <p:sldId id="319" r:id="rId18"/>
    <p:sldId id="321" r:id="rId19"/>
    <p:sldId id="322" r:id="rId20"/>
    <p:sldId id="323" r:id="rId21"/>
    <p:sldId id="381" r:id="rId22"/>
    <p:sldId id="382" r:id="rId23"/>
    <p:sldId id="359" r:id="rId24"/>
    <p:sldId id="325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33A65BB-672F-4616-B842-2865FC0B2E03}">
          <p14:sldIdLst>
            <p14:sldId id="307"/>
            <p14:sldId id="377"/>
            <p14:sldId id="379"/>
            <p14:sldId id="380"/>
            <p14:sldId id="310"/>
            <p14:sldId id="312"/>
            <p14:sldId id="324"/>
            <p14:sldId id="311"/>
            <p14:sldId id="313"/>
            <p14:sldId id="314"/>
            <p14:sldId id="315"/>
            <p14:sldId id="316"/>
            <p14:sldId id="317"/>
            <p14:sldId id="320"/>
            <p14:sldId id="318"/>
            <p14:sldId id="319"/>
            <p14:sldId id="321"/>
            <p14:sldId id="322"/>
            <p14:sldId id="323"/>
            <p14:sldId id="381"/>
            <p14:sldId id="382"/>
            <p14:sldId id="359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19F"/>
    <a:srgbClr val="ACA8CF"/>
    <a:srgbClr val="89C6D6"/>
    <a:srgbClr val="4473C1"/>
    <a:srgbClr val="BDD7EE"/>
    <a:srgbClr val="FFCC00"/>
    <a:srgbClr val="ECEEEF"/>
    <a:srgbClr val="398DA3"/>
    <a:srgbClr val="BBB7D8"/>
    <a:srgbClr val="FFFE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6" autoAdjust="0"/>
    <p:restoredTop sz="97030" autoAdjust="0"/>
  </p:normalViewPr>
  <p:slideViewPr>
    <p:cSldViewPr snapToGrid="0">
      <p:cViewPr varScale="1">
        <p:scale>
          <a:sx n="104" d="100"/>
          <a:sy n="104" d="100"/>
        </p:scale>
        <p:origin x="864" y="82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181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420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446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9507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875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7482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6284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04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1411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8835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1248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992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704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2298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68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4213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бакалаврская рабо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Предзащита ВКР бакалавра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бакалаврская рабо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ВКР бакалавра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доклад магистерск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Доклад по теме магистерской диссертации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магистерская диссерт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Магистерская диссертация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общ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24468F-6682-48AA-B5F4-BEF8E7F9833C}" type="datetimeFigureOut">
              <a:rPr lang="ru-RU" smtClean="0"/>
              <a:t>20.10.2026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317773"/>
            <a:ext cx="6096000" cy="635542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58519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Shape 49"/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Текст 8"/>
          <p:cNvSpPr>
            <a:spLocks noGrp="1"/>
          </p:cNvSpPr>
          <p:nvPr>
            <p:ph type="body" idx="1"/>
          </p:nvPr>
        </p:nvSpPr>
        <p:spPr>
          <a:xfrm>
            <a:off x="953311" y="1152475"/>
            <a:ext cx="7237378" cy="3673252"/>
          </a:xfrm>
          <a:prstGeom prst="rect">
            <a:avLst/>
          </a:prstGeom>
        </p:spPr>
        <p:txBody>
          <a:bodyPr/>
          <a:lstStyle>
            <a:lvl1pPr marL="0" indent="-217805">
              <a:defRPr/>
            </a:lvl1pPr>
          </a:lstStyle>
          <a:p>
            <a:pPr marL="139700" indent="0">
              <a:buNone/>
            </a:pPr>
            <a:endParaRPr lang="ru-RU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317773"/>
            <a:ext cx="6096000" cy="635542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58519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Shape 49"/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Текст 8"/>
          <p:cNvSpPr>
            <a:spLocks noGrp="1"/>
          </p:cNvSpPr>
          <p:nvPr>
            <p:ph type="body" idx="1"/>
          </p:nvPr>
        </p:nvSpPr>
        <p:spPr>
          <a:xfrm>
            <a:off x="953311" y="1152475"/>
            <a:ext cx="7237378" cy="3673252"/>
          </a:xfrm>
          <a:prstGeom prst="rect">
            <a:avLst/>
          </a:prstGeom>
        </p:spPr>
        <p:txBody>
          <a:bodyPr/>
          <a:lstStyle>
            <a:lvl1pPr marL="0" indent="-217805">
              <a:defRPr/>
            </a:lvl1pPr>
          </a:lstStyle>
          <a:p>
            <a:pPr marL="139700" indent="0">
              <a:buNone/>
            </a:pPr>
            <a:endParaRPr lang="ru-RU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Пустой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24468F-6682-48AA-B5F4-BEF8E7F9833C}" type="datetimeFigureOut">
              <a:rPr lang="ru-RU" smtClean="0"/>
              <a:t>20.10.2026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image" Target="../media/image2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36550" y="1512545"/>
            <a:ext cx="8070900" cy="1636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ru-RU" dirty="0"/>
          </a:p>
        </p:txBody>
      </p:sp>
      <p:pic>
        <p:nvPicPr>
          <p:cNvPr id="13" name="Shape 55"/>
          <p:cNvPicPr preferRelativeResize="0"/>
          <p:nvPr userDrawn="1"/>
        </p:nvPicPr>
        <p:blipFill rotWithShape="1">
          <a:blip r:embed="rId9"/>
          <a:srcRect l="7093" r="7257"/>
          <a:stretch>
            <a:fillRect/>
          </a:stretch>
        </p:blipFill>
        <p:spPr>
          <a:xfrm>
            <a:off x="7010398" y="32425"/>
            <a:ext cx="2122232" cy="110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54"/>
          <p:cNvPicPr preferRelativeResize="0"/>
          <p:nvPr userDrawn="1"/>
        </p:nvPicPr>
        <p:blipFill>
          <a:blip r:embed="rId10"/>
          <a:stretch>
            <a:fillRect/>
          </a:stretch>
        </p:blipFill>
        <p:spPr>
          <a:xfrm>
            <a:off x="121615" y="-1"/>
            <a:ext cx="1921193" cy="116300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800" b="0" i="0" u="none" strike="noStrike" cap="none">
          <a:solidFill>
            <a:srgbClr val="3333B3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hape 54"/>
          <p:cNvPicPr preferRelativeResize="0"/>
          <p:nvPr userDrawn="1"/>
        </p:nvPicPr>
        <p:blipFill rotWithShape="1">
          <a:blip r:embed="rId5"/>
          <a:srcRect t="13267" b="13267"/>
          <a:stretch>
            <a:fillRect/>
          </a:stretch>
        </p:blipFill>
        <p:spPr>
          <a:xfrm>
            <a:off x="43796" y="45396"/>
            <a:ext cx="1534160" cy="68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55"/>
          <p:cNvPicPr preferRelativeResize="0"/>
          <p:nvPr userDrawn="1"/>
        </p:nvPicPr>
        <p:blipFill rotWithShape="1">
          <a:blip r:embed="rId6"/>
          <a:srcRect l="6030" t="20250" r="8997" b="17457"/>
          <a:stretch>
            <a:fillRect/>
          </a:stretch>
        </p:blipFill>
        <p:spPr>
          <a:xfrm>
            <a:off x="7315130" y="51882"/>
            <a:ext cx="1772104" cy="57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49"/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ransition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23" y="1096494"/>
            <a:ext cx="8535496" cy="635542"/>
          </a:xfrm>
        </p:spPr>
        <p:txBody>
          <a:bodyPr/>
          <a:lstStyle/>
          <a:p>
            <a:r>
              <a:rPr lang="ru-RU" sz="4400" dirty="0"/>
              <a:t> Методы моделирования физических процессов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DF5A041-D010-3346-4765-0BAB5CE53531}"/>
              </a:ext>
            </a:extLst>
          </p:cNvPr>
          <p:cNvSpPr txBox="1">
            <a:spLocks/>
          </p:cNvSpPr>
          <p:nvPr/>
        </p:nvSpPr>
        <p:spPr>
          <a:xfrm>
            <a:off x="438561" y="2253979"/>
            <a:ext cx="8535496" cy="63554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400" b="0" i="0" u="none" strike="noStrike" cap="none">
                <a:solidFill>
                  <a:srgbClr val="58519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4400"/>
              <a:t>Вторая </a:t>
            </a:r>
            <a:r>
              <a:rPr lang="ru-RU" sz="4400" dirty="0"/>
              <a:t>лекция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32672D-E0F6-131E-60A0-94E407D1132A}"/>
              </a:ext>
            </a:extLst>
          </p:cNvPr>
          <p:cNvSpPr txBox="1">
            <a:spLocks/>
          </p:cNvSpPr>
          <p:nvPr/>
        </p:nvSpPr>
        <p:spPr>
          <a:xfrm>
            <a:off x="2386870" y="3729235"/>
            <a:ext cx="8535496" cy="63554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400" b="0" i="0" u="none" strike="noStrike" cap="none">
                <a:solidFill>
                  <a:srgbClr val="58519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2800" dirty="0"/>
              <a:t>Подготовил Козлов Алексей</a:t>
            </a:r>
          </a:p>
        </p:txBody>
      </p:sp>
    </p:spTree>
    <p:extLst>
      <p:ext uri="{BB962C8B-B14F-4D97-AF65-F5344CB8AC3E}">
        <p14:creationId xmlns:p14="http://schemas.microsoft.com/office/powerpoint/2010/main" val="7780236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02B51F5-F759-17BC-D290-F663F25453CA}"/>
              </a:ext>
            </a:extLst>
          </p:cNvPr>
          <p:cNvSpPr/>
          <p:nvPr/>
        </p:nvSpPr>
        <p:spPr>
          <a:xfrm>
            <a:off x="2688133" y="1725199"/>
            <a:ext cx="3957613" cy="2462435"/>
          </a:xfrm>
          <a:prstGeom prst="round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: скругленные углы 18">
                <a:extLst>
                  <a:ext uri="{FF2B5EF4-FFF2-40B4-BE49-F238E27FC236}">
                    <a16:creationId xmlns:a16="http://schemas.microsoft.com/office/drawing/2014/main" id="{C859F06A-86D8-4174-AF9A-EB3166BF27DA}"/>
                  </a:ext>
                </a:extLst>
              </p:cNvPr>
              <p:cNvSpPr/>
              <p:nvPr/>
            </p:nvSpPr>
            <p:spPr>
              <a:xfrm>
                <a:off x="296126" y="2439187"/>
                <a:ext cx="1576031" cy="420822"/>
              </a:xfrm>
              <a:prstGeom prst="roundRect">
                <a:avLst/>
              </a:prstGeom>
              <a:solidFill>
                <a:srgbClr val="BDD7EE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Прямоугольник: скругленные углы 18">
                <a:extLst>
                  <a:ext uri="{FF2B5EF4-FFF2-40B4-BE49-F238E27FC236}">
                    <a16:creationId xmlns:a16="http://schemas.microsoft.com/office/drawing/2014/main" id="{C859F06A-86D8-4174-AF9A-EB3166BF2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6" y="2439187"/>
                <a:ext cx="1576031" cy="42082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BDD7E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FBF8FCA-DFB3-43BD-B313-94E4A29C5A27}"/>
              </a:ext>
            </a:extLst>
          </p:cNvPr>
          <p:cNvSpPr txBox="1"/>
          <p:nvPr/>
        </p:nvSpPr>
        <p:spPr>
          <a:xfrm>
            <a:off x="56754" y="2948137"/>
            <a:ext cx="2221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1) Постановка задачи</a:t>
            </a:r>
          </a:p>
        </p:txBody>
      </p:sp>
      <p:sp>
        <p:nvSpPr>
          <p:cNvPr id="30" name="Стрелка: вниз 29">
            <a:extLst>
              <a:ext uri="{FF2B5EF4-FFF2-40B4-BE49-F238E27FC236}">
                <a16:creationId xmlns:a16="http://schemas.microsoft.com/office/drawing/2014/main" id="{FC2778F4-EAFA-4A20-BBCC-F5ED8B80978D}"/>
              </a:ext>
            </a:extLst>
          </p:cNvPr>
          <p:cNvSpPr/>
          <p:nvPr/>
        </p:nvSpPr>
        <p:spPr>
          <a:xfrm rot="16200000" flipH="1">
            <a:off x="2092293" y="2347808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4779FB-8582-1F39-6F2F-671310191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27" y="2197376"/>
            <a:ext cx="1512253" cy="101367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3A45A75C-ADA1-66FB-E5A2-69368798FBEC}"/>
              </a:ext>
            </a:extLst>
          </p:cNvPr>
          <p:cNvCxnSpPr>
            <a:cxnSpLocks/>
          </p:cNvCxnSpPr>
          <p:nvPr/>
        </p:nvCxnSpPr>
        <p:spPr>
          <a:xfrm>
            <a:off x="4508147" y="2673757"/>
            <a:ext cx="367766" cy="0"/>
          </a:xfrm>
          <a:prstGeom prst="straightConnector1">
            <a:avLst/>
          </a:prstGeom>
          <a:ln w="57150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525D111-5C93-9F89-DA19-60492EADC6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545" y="2236091"/>
            <a:ext cx="1462445" cy="974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874BEB-93D9-8BC4-8DF4-F0483E699301}"/>
                  </a:ext>
                </a:extLst>
              </p:cNvPr>
              <p:cNvSpPr txBox="1"/>
              <p:nvPr/>
            </p:nvSpPr>
            <p:spPr>
              <a:xfrm>
                <a:off x="2874972" y="3382607"/>
                <a:ext cx="953101" cy="601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874BEB-93D9-8BC4-8DF4-F0483E699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972" y="3382607"/>
                <a:ext cx="953101" cy="601575"/>
              </a:xfrm>
              <a:prstGeom prst="rect">
                <a:avLst/>
              </a:prstGeom>
              <a:blipFill>
                <a:blip r:embed="rId5"/>
                <a:stretch>
                  <a:fillRect r="-217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12555C-3FC3-D1EE-637F-C94BE372EBAC}"/>
                  </a:ext>
                </a:extLst>
              </p:cNvPr>
              <p:cNvSpPr txBox="1"/>
              <p:nvPr/>
            </p:nvSpPr>
            <p:spPr>
              <a:xfrm>
                <a:off x="4627420" y="3405275"/>
                <a:ext cx="2266819" cy="601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sz="3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12555C-3FC3-D1EE-637F-C94BE372E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420" y="3405275"/>
                <a:ext cx="2266819" cy="601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7CF6796-7C3B-AFD9-F952-AF5109CAB6B3}"/>
              </a:ext>
            </a:extLst>
          </p:cNvPr>
          <p:cNvCxnSpPr>
            <a:cxnSpLocks/>
          </p:cNvCxnSpPr>
          <p:nvPr/>
        </p:nvCxnSpPr>
        <p:spPr>
          <a:xfrm>
            <a:off x="4508147" y="3713437"/>
            <a:ext cx="367766" cy="0"/>
          </a:xfrm>
          <a:prstGeom prst="straightConnector1">
            <a:avLst/>
          </a:prstGeom>
          <a:ln w="57150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CA9089-F075-9C59-35EA-789653C1E529}"/>
              </a:ext>
            </a:extLst>
          </p:cNvPr>
          <p:cNvSpPr txBox="1"/>
          <p:nvPr/>
        </p:nvSpPr>
        <p:spPr>
          <a:xfrm>
            <a:off x="3068249" y="4296352"/>
            <a:ext cx="2954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2) Дискретизация пространства и операторов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F9A4A43A-0221-5D79-29C1-C86272320E74}"/>
              </a:ext>
            </a:extLst>
          </p:cNvPr>
          <p:cNvSpPr/>
          <p:nvPr/>
        </p:nvSpPr>
        <p:spPr>
          <a:xfrm rot="16200000" flipH="1">
            <a:off x="6846134" y="2421782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AC996FD7-3310-3BC5-B9F9-2BCF46D91F9D}"/>
                  </a:ext>
                </a:extLst>
              </p:cNvPr>
              <p:cNvSpPr/>
              <p:nvPr/>
            </p:nvSpPr>
            <p:spPr>
              <a:xfrm>
                <a:off x="7438675" y="2424917"/>
                <a:ext cx="1572922" cy="523220"/>
              </a:xfrm>
              <a:prstGeom prst="roundRect">
                <a:avLst/>
              </a:prstGeom>
              <a:solidFill>
                <a:srgbClr val="BDD7EE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AC996FD7-3310-3BC5-B9F9-2BCF46D91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675" y="2424917"/>
                <a:ext cx="1572922" cy="52322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BDD7E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F2F176C-95E5-2C7A-B841-6D8B60393288}"/>
              </a:ext>
            </a:extLst>
          </p:cNvPr>
          <p:cNvSpPr txBox="1"/>
          <p:nvPr/>
        </p:nvSpPr>
        <p:spPr>
          <a:xfrm>
            <a:off x="6767815" y="3029506"/>
            <a:ext cx="2954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3</a:t>
            </a:r>
            <a:r>
              <a:rPr lang="ru-RU" dirty="0"/>
              <a:t>) Решение СЛАУ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41F7B912-BE86-CBF6-CDA9-3D05FC293D4C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34117806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918262-F62C-AE88-52A2-861267DA7EA5}"/>
              </a:ext>
            </a:extLst>
          </p:cNvPr>
          <p:cNvSpPr txBox="1"/>
          <p:nvPr/>
        </p:nvSpPr>
        <p:spPr>
          <a:xfrm>
            <a:off x="167255" y="1018017"/>
            <a:ext cx="8439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Рассмотрим дифференциально уравнение</a:t>
            </a:r>
            <a:endParaRPr lang="en-US" sz="2400" b="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C005598-0929-6C13-978E-DAA09136FE80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Пример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AE017-1FE2-796D-4B48-1D9ACFA3D901}"/>
              </a:ext>
            </a:extLst>
          </p:cNvPr>
          <p:cNvSpPr txBox="1"/>
          <p:nvPr/>
        </p:nvSpPr>
        <p:spPr>
          <a:xfrm>
            <a:off x="167255" y="2382162"/>
            <a:ext cx="88057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Аппроксимируем конечно-разностной схемой</a:t>
            </a:r>
            <a:r>
              <a:rPr lang="en-US" sz="2400" dirty="0"/>
              <a:t> </a:t>
            </a:r>
            <a:r>
              <a:rPr lang="ru-RU" sz="2400" dirty="0"/>
              <a:t>уравнение и </a:t>
            </a:r>
            <a:r>
              <a:rPr lang="ru-RU" sz="2400" dirty="0" err="1"/>
              <a:t>дискретизируем</a:t>
            </a:r>
            <a:r>
              <a:rPr lang="ru-RU" sz="2400" dirty="0"/>
              <a:t> отрезок: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E3D201-276B-3B7A-F9BB-BAE30F79F052}"/>
                  </a:ext>
                </a:extLst>
              </p:cNvPr>
              <p:cNvSpPr txBox="1"/>
              <p:nvPr/>
            </p:nvSpPr>
            <p:spPr>
              <a:xfrm>
                <a:off x="2341266" y="1425233"/>
                <a:ext cx="4572000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E3D201-276B-3B7A-F9BB-BAE30F79F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266" y="1425233"/>
                <a:ext cx="4572000" cy="9569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1AAA6-3960-EEA1-1E7F-5FC4DAF512D8}"/>
                  </a:ext>
                </a:extLst>
              </p:cNvPr>
              <p:cNvSpPr txBox="1"/>
              <p:nvPr/>
            </p:nvSpPr>
            <p:spPr>
              <a:xfrm>
                <a:off x="246844" y="3229581"/>
                <a:ext cx="540177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∈1…4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1AAA6-3960-EEA1-1E7F-5FC4DAF51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4" y="3229581"/>
                <a:ext cx="5401771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89E5E7-5FED-3FC6-37BF-87D573C3CEA6}"/>
                  </a:ext>
                </a:extLst>
              </p:cNvPr>
              <p:cNvSpPr txBox="1"/>
              <p:nvPr/>
            </p:nvSpPr>
            <p:spPr>
              <a:xfrm>
                <a:off x="449802" y="4048029"/>
                <a:ext cx="457200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89E5E7-5FED-3FC6-37BF-87D573C3C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02" y="4048029"/>
                <a:ext cx="4572000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ABE022F-F188-18A1-ABCA-822D5DD92C59}"/>
              </a:ext>
            </a:extLst>
          </p:cNvPr>
          <p:cNvGrpSpPr/>
          <p:nvPr/>
        </p:nvGrpSpPr>
        <p:grpSpPr>
          <a:xfrm>
            <a:off x="5625468" y="3595289"/>
            <a:ext cx="3347493" cy="821438"/>
            <a:chOff x="5339307" y="3714434"/>
            <a:chExt cx="3347493" cy="821438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62A92A25-04FD-A02E-D8B5-CA1EC84A8057}"/>
                </a:ext>
              </a:extLst>
            </p:cNvPr>
            <p:cNvSpPr/>
            <p:nvPr/>
          </p:nvSpPr>
          <p:spPr>
            <a:xfrm>
              <a:off x="8176973" y="3729963"/>
              <a:ext cx="381548" cy="355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" name="Прямая со стрелкой 3">
              <a:extLst>
                <a:ext uri="{FF2B5EF4-FFF2-40B4-BE49-F238E27FC236}">
                  <a16:creationId xmlns:a16="http://schemas.microsoft.com/office/drawing/2014/main" id="{74953697-4AE0-788B-4F97-103DB9D79CFD}"/>
                </a:ext>
              </a:extLst>
            </p:cNvPr>
            <p:cNvCxnSpPr>
              <a:cxnSpLocks/>
            </p:cNvCxnSpPr>
            <p:nvPr/>
          </p:nvCxnSpPr>
          <p:spPr>
            <a:xfrm>
              <a:off x="5433773" y="4427274"/>
              <a:ext cx="325302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10C0795E-8941-29B6-CA6D-86330A448C6C}"/>
                </a:ext>
              </a:extLst>
            </p:cNvPr>
            <p:cNvCxnSpPr>
              <a:cxnSpLocks/>
            </p:cNvCxnSpPr>
            <p:nvPr/>
          </p:nvCxnSpPr>
          <p:spPr>
            <a:xfrm>
              <a:off x="5558763" y="4318730"/>
              <a:ext cx="0" cy="2170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67CA4692-2570-8BBE-93BB-B3251D032E65}"/>
                </a:ext>
              </a:extLst>
            </p:cNvPr>
            <p:cNvCxnSpPr>
              <a:cxnSpLocks/>
            </p:cNvCxnSpPr>
            <p:nvPr/>
          </p:nvCxnSpPr>
          <p:spPr>
            <a:xfrm>
              <a:off x="6126453" y="4318730"/>
              <a:ext cx="0" cy="2170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804594E5-10CB-B15C-B17C-81F07FC56C61}"/>
                </a:ext>
              </a:extLst>
            </p:cNvPr>
            <p:cNvCxnSpPr>
              <a:cxnSpLocks/>
            </p:cNvCxnSpPr>
            <p:nvPr/>
          </p:nvCxnSpPr>
          <p:spPr>
            <a:xfrm>
              <a:off x="6686523" y="4318730"/>
              <a:ext cx="0" cy="2170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3B27BCAE-6B7D-93B0-694E-28A7C9881E37}"/>
                </a:ext>
              </a:extLst>
            </p:cNvPr>
            <p:cNvCxnSpPr>
              <a:cxnSpLocks/>
            </p:cNvCxnSpPr>
            <p:nvPr/>
          </p:nvCxnSpPr>
          <p:spPr>
            <a:xfrm>
              <a:off x="7170393" y="4318730"/>
              <a:ext cx="0" cy="2170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6FA879-3E55-6A0A-11B8-8D69C6AE756B}"/>
                </a:ext>
              </a:extLst>
            </p:cNvPr>
            <p:cNvCxnSpPr>
              <a:cxnSpLocks/>
            </p:cNvCxnSpPr>
            <p:nvPr/>
          </p:nvCxnSpPr>
          <p:spPr>
            <a:xfrm>
              <a:off x="7703793" y="4318784"/>
              <a:ext cx="0" cy="2170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AEC8A35D-377F-44D2-98EC-45196941DEFB}"/>
                </a:ext>
              </a:extLst>
            </p:cNvPr>
            <p:cNvCxnSpPr>
              <a:cxnSpLocks/>
            </p:cNvCxnSpPr>
            <p:nvPr/>
          </p:nvCxnSpPr>
          <p:spPr>
            <a:xfrm>
              <a:off x="8204356" y="4318730"/>
              <a:ext cx="0" cy="2170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5DC1672-D68A-2FA9-8522-7F4A6CDF600D}"/>
                    </a:ext>
                  </a:extLst>
                </p:cNvPr>
                <p:cNvSpPr txBox="1"/>
                <p:nvPr/>
              </p:nvSpPr>
              <p:spPr>
                <a:xfrm>
                  <a:off x="5339307" y="3714434"/>
                  <a:ext cx="5974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ru-RU" sz="2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5DC1672-D68A-2FA9-8522-7F4A6CDF6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9307" y="3714434"/>
                  <a:ext cx="59740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30F9A62-2B74-9E1A-798F-742EA3207104}"/>
                    </a:ext>
                  </a:extLst>
                </p:cNvPr>
                <p:cNvSpPr txBox="1"/>
                <p:nvPr/>
              </p:nvSpPr>
              <p:spPr>
                <a:xfrm>
                  <a:off x="5827749" y="3714434"/>
                  <a:ext cx="5974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ru-RU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30F9A62-2B74-9E1A-798F-742EA3207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749" y="3714434"/>
                  <a:ext cx="597407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AE42398-4504-8F79-527D-DF62BED1D44F}"/>
                    </a:ext>
                  </a:extLst>
                </p:cNvPr>
                <p:cNvSpPr txBox="1"/>
                <p:nvPr/>
              </p:nvSpPr>
              <p:spPr>
                <a:xfrm>
                  <a:off x="6383938" y="3714434"/>
                  <a:ext cx="5974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RU" sz="2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AE42398-4504-8F79-527D-DF62BED1D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3938" y="3714434"/>
                  <a:ext cx="59740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110D291-9C8E-17B3-E65B-7DCDE91CC9E8}"/>
                    </a:ext>
                  </a:extLst>
                </p:cNvPr>
                <p:cNvSpPr txBox="1"/>
                <p:nvPr/>
              </p:nvSpPr>
              <p:spPr>
                <a:xfrm>
                  <a:off x="6913266" y="3716583"/>
                  <a:ext cx="5974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ru-RU" sz="2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110D291-9C8E-17B3-E65B-7DCDE91CC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3266" y="3716583"/>
                  <a:ext cx="597407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8DD3FE4-B6CD-A905-B15B-FF53C9B9B4A9}"/>
                    </a:ext>
                  </a:extLst>
                </p:cNvPr>
                <p:cNvSpPr txBox="1"/>
                <p:nvPr/>
              </p:nvSpPr>
              <p:spPr>
                <a:xfrm>
                  <a:off x="7442594" y="3716583"/>
                  <a:ext cx="5974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ru-RU" sz="28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8DD3FE4-B6CD-A905-B15B-FF53C9B9B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2594" y="3716583"/>
                  <a:ext cx="59740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8438FF-B52A-DC13-2BAB-914F99331EFB}"/>
                    </a:ext>
                  </a:extLst>
                </p:cNvPr>
                <p:cNvSpPr txBox="1"/>
                <p:nvPr/>
              </p:nvSpPr>
              <p:spPr>
                <a:xfrm>
                  <a:off x="7971922" y="3733016"/>
                  <a:ext cx="5974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ru-RU" sz="28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8438FF-B52A-DC13-2BAB-914F99331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1922" y="3733016"/>
                  <a:ext cx="597407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DEC73D-6928-5356-A5C3-4D7723CBD027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32275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2A92A25-04FD-A02E-D8B5-CA1EC84A8057}"/>
              </a:ext>
            </a:extLst>
          </p:cNvPr>
          <p:cNvSpPr/>
          <p:nvPr/>
        </p:nvSpPr>
        <p:spPr>
          <a:xfrm>
            <a:off x="8176973" y="3729963"/>
            <a:ext cx="381548" cy="355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18262-F62C-AE88-52A2-861267DA7EA5}"/>
              </a:ext>
            </a:extLst>
          </p:cNvPr>
          <p:cNvSpPr txBox="1"/>
          <p:nvPr/>
        </p:nvSpPr>
        <p:spPr>
          <a:xfrm>
            <a:off x="167255" y="1018017"/>
            <a:ext cx="615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dirty="0"/>
              <a:t>Рассмотрим граничное условие Дирихле: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C005598-0929-6C13-978E-DAA09136FE80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Пример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A0BBFC79-F251-0635-7E5B-4A57D5CAF69A}"/>
              </a:ext>
            </a:extLst>
          </p:cNvPr>
          <p:cNvGrpSpPr/>
          <p:nvPr/>
        </p:nvGrpSpPr>
        <p:grpSpPr>
          <a:xfrm>
            <a:off x="6436693" y="666573"/>
            <a:ext cx="1518972" cy="1384995"/>
            <a:chOff x="6543928" y="726773"/>
            <a:chExt cx="1518972" cy="138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090C849-7043-8398-EDB5-7A3AB265A786}"/>
                    </a:ext>
                  </a:extLst>
                </p:cNvPr>
                <p:cNvSpPr txBox="1"/>
                <p:nvPr/>
              </p:nvSpPr>
              <p:spPr>
                <a:xfrm>
                  <a:off x="6607426" y="726773"/>
                  <a:ext cx="1455474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  <a:p>
                  <a:endParaRPr lang="ru-RU" sz="28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090C849-7043-8398-EDB5-7A3AB265A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426" y="726773"/>
                  <a:ext cx="1455474" cy="13849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Левая фигурная скобка 37">
              <a:extLst>
                <a:ext uri="{FF2B5EF4-FFF2-40B4-BE49-F238E27FC236}">
                  <a16:creationId xmlns:a16="http://schemas.microsoft.com/office/drawing/2014/main" id="{62ABD3D7-A218-1F7C-155E-F0CE48CA4A2B}"/>
                </a:ext>
              </a:extLst>
            </p:cNvPr>
            <p:cNvSpPr/>
            <p:nvPr/>
          </p:nvSpPr>
          <p:spPr>
            <a:xfrm>
              <a:off x="6543928" y="864169"/>
              <a:ext cx="91454" cy="825790"/>
            </a:xfrm>
            <a:prstGeom prst="leftBrace">
              <a:avLst>
                <a:gd name="adj1" fmla="val 8333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369839-2C9F-BCA7-ADA0-758D6E06A5AD}"/>
                  </a:ext>
                </a:extLst>
              </p:cNvPr>
              <p:cNvSpPr txBox="1"/>
              <p:nvPr/>
            </p:nvSpPr>
            <p:spPr>
              <a:xfrm>
                <a:off x="119364" y="1559575"/>
                <a:ext cx="8704595" cy="98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0" dirty="0"/>
                  <a:t>Тогда получаем систему из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∈1…4</m:t>
                    </m:r>
                  </m:oMath>
                </a14:m>
                <a:endParaRPr lang="ru-RU" sz="2400" dirty="0"/>
              </a:p>
              <a:p>
                <a:endParaRPr lang="ru-RU" sz="2400" b="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369839-2C9F-BCA7-ADA0-758D6E06A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4" y="1559575"/>
                <a:ext cx="8704595" cy="983987"/>
              </a:xfrm>
              <a:prstGeom prst="rect">
                <a:avLst/>
              </a:prstGeom>
              <a:blipFill>
                <a:blip r:embed="rId3"/>
                <a:stretch>
                  <a:fillRect l="-1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D9462A2-79E2-5959-38D2-6A849D333D03}"/>
                  </a:ext>
                </a:extLst>
              </p:cNvPr>
              <p:cNvSpPr txBox="1"/>
              <p:nvPr/>
            </p:nvSpPr>
            <p:spPr>
              <a:xfrm>
                <a:off x="-518160" y="2126305"/>
                <a:ext cx="4617720" cy="3966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  <a:p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D9462A2-79E2-5959-38D2-6A849D333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8160" y="2126305"/>
                <a:ext cx="4617720" cy="39662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Левая фигурная скобка 46">
            <a:extLst>
              <a:ext uri="{FF2B5EF4-FFF2-40B4-BE49-F238E27FC236}">
                <a16:creationId xmlns:a16="http://schemas.microsoft.com/office/drawing/2014/main" id="{5997D9D0-34FF-7A7A-F6F0-5F3A59659784}"/>
              </a:ext>
            </a:extLst>
          </p:cNvPr>
          <p:cNvSpPr/>
          <p:nvPr/>
        </p:nvSpPr>
        <p:spPr>
          <a:xfrm>
            <a:off x="320040" y="2210560"/>
            <a:ext cx="167639" cy="2780540"/>
          </a:xfrm>
          <a:prstGeom prst="lef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Стрелка: вправо 47">
            <a:extLst>
              <a:ext uri="{FF2B5EF4-FFF2-40B4-BE49-F238E27FC236}">
                <a16:creationId xmlns:a16="http://schemas.microsoft.com/office/drawing/2014/main" id="{3726F944-F916-EED0-2399-54C04A4BD695}"/>
              </a:ext>
            </a:extLst>
          </p:cNvPr>
          <p:cNvSpPr/>
          <p:nvPr/>
        </p:nvSpPr>
        <p:spPr>
          <a:xfrm>
            <a:off x="3307081" y="3356583"/>
            <a:ext cx="495299" cy="373380"/>
          </a:xfrm>
          <a:prstGeom prst="right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4386C6-267C-A349-A007-02BFED1467AB}"/>
                  </a:ext>
                </a:extLst>
              </p:cNvPr>
              <p:cNvSpPr txBox="1"/>
              <p:nvPr/>
            </p:nvSpPr>
            <p:spPr>
              <a:xfrm>
                <a:off x="3759638" y="2515682"/>
                <a:ext cx="461772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ru-RU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ru-RU" sz="3200" dirty="0"/>
              </a:p>
              <a:p>
                <a:endParaRPr lang="ru-RU" sz="3200" dirty="0"/>
              </a:p>
              <a:p>
                <a:endParaRPr lang="ru-RU" sz="3200" dirty="0"/>
              </a:p>
              <a:p>
                <a:endParaRPr lang="ru-RU" sz="3200" dirty="0"/>
              </a:p>
              <a:p>
                <a:endParaRPr lang="ru-RU" sz="3200" dirty="0"/>
              </a:p>
              <a:p>
                <a:endParaRPr lang="ru-RU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4386C6-267C-A349-A007-02BFED146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638" y="2515682"/>
                <a:ext cx="4617720" cy="45243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FEEE22-4BE0-8595-6AF7-3686B88AD80A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8412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2A92A25-04FD-A02E-D8B5-CA1EC84A8057}"/>
              </a:ext>
            </a:extLst>
          </p:cNvPr>
          <p:cNvSpPr/>
          <p:nvPr/>
        </p:nvSpPr>
        <p:spPr>
          <a:xfrm>
            <a:off x="8176973" y="3729963"/>
            <a:ext cx="381548" cy="355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C005598-0929-6C13-978E-DAA09136FE80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4386C6-267C-A349-A007-02BFED1467AB}"/>
                  </a:ext>
                </a:extLst>
              </p:cNvPr>
              <p:cNvSpPr txBox="1"/>
              <p:nvPr/>
            </p:nvSpPr>
            <p:spPr>
              <a:xfrm>
                <a:off x="4252345" y="960715"/>
                <a:ext cx="374904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4386C6-267C-A349-A007-02BFED146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345" y="960715"/>
                <a:ext cx="3749040" cy="1815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C5F0A3D9-C651-890C-74A7-50AE0D934BF6}"/>
              </a:ext>
            </a:extLst>
          </p:cNvPr>
          <p:cNvSpPr txBox="1"/>
          <p:nvPr/>
        </p:nvSpPr>
        <p:spPr>
          <a:xfrm>
            <a:off x="633721" y="1674426"/>
            <a:ext cx="615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dirty="0"/>
              <a:t>Тогда получаем СЛАУ</a:t>
            </a:r>
            <a:r>
              <a:rPr lang="en-US" sz="2400" b="0" dirty="0"/>
              <a:t>:</a:t>
            </a:r>
            <a:endParaRPr lang="ru-RU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C210C26-75A4-A02E-4AC6-1779C58FBB91}"/>
                  </a:ext>
                </a:extLst>
              </p:cNvPr>
              <p:cNvSpPr txBox="1"/>
              <p:nvPr/>
            </p:nvSpPr>
            <p:spPr>
              <a:xfrm>
                <a:off x="129925" y="2824360"/>
                <a:ext cx="7871460" cy="226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32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C210C26-75A4-A02E-4AC6-1779C58FB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5" y="2824360"/>
                <a:ext cx="7871460" cy="2261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B45ADC6-608A-860B-8D8D-D9EBCA2D6642}"/>
              </a:ext>
            </a:extLst>
          </p:cNvPr>
          <p:cNvSpPr txBox="1">
            <a:spLocks/>
          </p:cNvSpPr>
          <p:nvPr/>
        </p:nvSpPr>
        <p:spPr>
          <a:xfrm>
            <a:off x="8494822" y="4675006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4537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</a:t>
            </a:r>
            <a:r>
              <a:rPr lang="ru-RU" sz="3200" dirty="0"/>
              <a:t>. Модули программы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8EA1A3-B542-48C0-B4F3-7D8C95B5835B}"/>
              </a:ext>
            </a:extLst>
          </p:cNvPr>
          <p:cNvSpPr txBox="1"/>
          <p:nvPr/>
        </p:nvSpPr>
        <p:spPr>
          <a:xfrm>
            <a:off x="409073" y="1050072"/>
            <a:ext cx="715615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Lumerical</a:t>
            </a:r>
            <a:r>
              <a:rPr lang="en-US" sz="2000" dirty="0"/>
              <a:t> FDTD (Finite Difference Time Domain)</a:t>
            </a:r>
            <a:r>
              <a:rPr lang="ru-RU" sz="2000" dirty="0"/>
              <a:t> – классические метод 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varFDTD</a:t>
            </a:r>
            <a:r>
              <a:rPr lang="en-US" sz="2000" dirty="0"/>
              <a:t> (2.5 FDTD) – </a:t>
            </a:r>
            <a:r>
              <a:rPr lang="ru-RU" sz="2000" dirty="0"/>
              <a:t>приближенное решение в </a:t>
            </a:r>
            <a:r>
              <a:rPr lang="en-US" sz="2000" dirty="0"/>
              <a:t>2D, </a:t>
            </a:r>
            <a:r>
              <a:rPr lang="ru-RU" sz="2000" dirty="0"/>
              <a:t>экстраполяция через метод эффективного показателя преломления </a:t>
            </a:r>
            <a:r>
              <a:rPr lang="en-US" sz="2000" dirty="0"/>
              <a:t>(EIM)</a:t>
            </a:r>
            <a:endParaRPr lang="ru-RU" sz="2000" dirty="0"/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Lumerical</a:t>
            </a:r>
            <a:r>
              <a:rPr lang="en-US" sz="2000" dirty="0"/>
              <a:t> CHARGE</a:t>
            </a:r>
            <a:r>
              <a:rPr lang="ru-RU" sz="2000" dirty="0"/>
              <a:t> (решаются уравнения Пуассона и дрейф-диффузия)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Lumerical</a:t>
            </a:r>
            <a:r>
              <a:rPr lang="en-US" sz="2000" dirty="0"/>
              <a:t> MODE FEM – </a:t>
            </a:r>
            <a:r>
              <a:rPr lang="ru-RU" sz="2000" dirty="0"/>
              <a:t>(метод конечных элементов)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Lumerical</a:t>
            </a:r>
            <a:r>
              <a:rPr lang="en-US" sz="2000" dirty="0"/>
              <a:t> HEAT – (</a:t>
            </a:r>
            <a:r>
              <a:rPr lang="ru-RU" sz="2000" dirty="0"/>
              <a:t>теплообмен)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Eigenmode expansion solver (EME) – </a:t>
            </a:r>
            <a:r>
              <a:rPr lang="ru-RU" sz="2000" dirty="0"/>
              <a:t>поиск собственных мод</a:t>
            </a:r>
          </a:p>
        </p:txBody>
      </p:sp>
      <p:sp>
        <p:nvSpPr>
          <p:cNvPr id="4" name="Правая фигурная скобка 3">
            <a:extLst>
              <a:ext uri="{FF2B5EF4-FFF2-40B4-BE49-F238E27FC236}">
                <a16:creationId xmlns:a16="http://schemas.microsoft.com/office/drawing/2014/main" id="{064DC057-D9A9-418B-980E-22318DBFD7BC}"/>
              </a:ext>
            </a:extLst>
          </p:cNvPr>
          <p:cNvSpPr/>
          <p:nvPr/>
        </p:nvSpPr>
        <p:spPr>
          <a:xfrm>
            <a:off x="7565231" y="1024830"/>
            <a:ext cx="307182" cy="1650206"/>
          </a:xfrm>
          <a:prstGeom prst="rightBrace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авая фигурная скобка 15">
            <a:extLst>
              <a:ext uri="{FF2B5EF4-FFF2-40B4-BE49-F238E27FC236}">
                <a16:creationId xmlns:a16="http://schemas.microsoft.com/office/drawing/2014/main" id="{82E536B2-233F-4A9A-99E6-2BD9BF02D82C}"/>
              </a:ext>
            </a:extLst>
          </p:cNvPr>
          <p:cNvSpPr/>
          <p:nvPr/>
        </p:nvSpPr>
        <p:spPr>
          <a:xfrm>
            <a:off x="7565231" y="2868290"/>
            <a:ext cx="307182" cy="1421897"/>
          </a:xfrm>
          <a:prstGeom prst="rightBrace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3F724E-6F47-4417-956E-5DEFDCEA1591}"/>
              </a:ext>
            </a:extLst>
          </p:cNvPr>
          <p:cNvSpPr txBox="1"/>
          <p:nvPr/>
        </p:nvSpPr>
        <p:spPr>
          <a:xfrm>
            <a:off x="8043866" y="18499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МКР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8410E0-32AA-4ABF-8271-E96C44F805B5}"/>
              </a:ext>
            </a:extLst>
          </p:cNvPr>
          <p:cNvSpPr txBox="1"/>
          <p:nvPr/>
        </p:nvSpPr>
        <p:spPr>
          <a:xfrm>
            <a:off x="8109769" y="3493320"/>
            <a:ext cx="630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МКЭ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08E21-F574-6D83-E218-A5C7D634E705}"/>
              </a:ext>
            </a:extLst>
          </p:cNvPr>
          <p:cNvSpPr txBox="1"/>
          <p:nvPr/>
        </p:nvSpPr>
        <p:spPr>
          <a:xfrm>
            <a:off x="8109769" y="4484550"/>
            <a:ext cx="630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С.З.</a:t>
            </a: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64750675-EBE1-9BF8-0170-B0A9FD507174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88847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</a:t>
            </a:r>
            <a:r>
              <a:rPr lang="ru-RU" sz="3200" dirty="0"/>
              <a:t>. Поиск собственных мод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8EA1A3-B542-48C0-B4F3-7D8C95B5835B}"/>
              </a:ext>
            </a:extLst>
          </p:cNvPr>
          <p:cNvSpPr txBox="1"/>
          <p:nvPr/>
        </p:nvSpPr>
        <p:spPr>
          <a:xfrm>
            <a:off x="409073" y="1050072"/>
            <a:ext cx="84547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большинстве случае удобно разложить распространяющуюся волну по базису.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A0346-E499-4AB2-01FF-44CB05050A81}"/>
              </a:ext>
            </a:extLst>
          </p:cNvPr>
          <p:cNvSpPr txBox="1"/>
          <p:nvPr/>
        </p:nvSpPr>
        <p:spPr>
          <a:xfrm>
            <a:off x="409073" y="1911452"/>
            <a:ext cx="1921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Выбор базиса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FFBB8-8177-56EF-A31D-ADD4B80EB284}"/>
              </a:ext>
            </a:extLst>
          </p:cNvPr>
          <p:cNvSpPr txBox="1"/>
          <p:nvPr/>
        </p:nvSpPr>
        <p:spPr>
          <a:xfrm>
            <a:off x="3422102" y="1911452"/>
            <a:ext cx="2580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Собственные моды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C2702-E9C6-D1DD-7B7F-742EB4AD2A2A}"/>
              </a:ext>
            </a:extLst>
          </p:cNvPr>
          <p:cNvSpPr txBox="1"/>
          <p:nvPr/>
        </p:nvSpPr>
        <p:spPr>
          <a:xfrm>
            <a:off x="6435689" y="1847272"/>
            <a:ext cx="25804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Уравнение Гельмгольца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7492AC6-801F-B470-F518-D75DD751EE53}"/>
              </a:ext>
            </a:extLst>
          </p:cNvPr>
          <p:cNvSpPr/>
          <p:nvPr/>
        </p:nvSpPr>
        <p:spPr>
          <a:xfrm>
            <a:off x="409073" y="1885860"/>
            <a:ext cx="1825308" cy="451294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Скругленный прямоугольник 7">
            <a:extLst>
              <a:ext uri="{FF2B5EF4-FFF2-40B4-BE49-F238E27FC236}">
                <a16:creationId xmlns:a16="http://schemas.microsoft.com/office/drawing/2014/main" id="{E43E3869-E172-8B51-0C3B-B9E0C23FF6BD}"/>
              </a:ext>
            </a:extLst>
          </p:cNvPr>
          <p:cNvSpPr/>
          <p:nvPr/>
        </p:nvSpPr>
        <p:spPr>
          <a:xfrm>
            <a:off x="3470034" y="1885860"/>
            <a:ext cx="2385075" cy="451294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7">
            <a:extLst>
              <a:ext uri="{FF2B5EF4-FFF2-40B4-BE49-F238E27FC236}">
                <a16:creationId xmlns:a16="http://schemas.microsoft.com/office/drawing/2014/main" id="{998ED379-0FAD-8667-F11C-8591E09276B8}"/>
              </a:ext>
            </a:extLst>
          </p:cNvPr>
          <p:cNvSpPr/>
          <p:nvPr/>
        </p:nvSpPr>
        <p:spPr>
          <a:xfrm>
            <a:off x="6813280" y="1857345"/>
            <a:ext cx="1825308" cy="707886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8777AB06-E0B6-8C92-6E81-3F970B49AD5E}"/>
              </a:ext>
            </a:extLst>
          </p:cNvPr>
          <p:cNvSpPr/>
          <p:nvPr/>
        </p:nvSpPr>
        <p:spPr>
          <a:xfrm>
            <a:off x="2568747" y="1939325"/>
            <a:ext cx="600814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86A1BB31-A545-013A-2288-AE4F660848A8}"/>
              </a:ext>
            </a:extLst>
          </p:cNvPr>
          <p:cNvSpPr/>
          <p:nvPr/>
        </p:nvSpPr>
        <p:spPr>
          <a:xfrm>
            <a:off x="6107650" y="1939325"/>
            <a:ext cx="545067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5295EC-2B22-DFE7-06DB-700A6C4EB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18" y="2881298"/>
            <a:ext cx="3252495" cy="47653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822BFB5-AA20-D8B7-2309-34EBC407C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21" y="4242118"/>
            <a:ext cx="2819520" cy="44445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5C531BF-56D2-AD06-B15D-7128FA5FA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245" y="3506739"/>
            <a:ext cx="1515645" cy="586473"/>
          </a:xfrm>
          <a:prstGeom prst="rect">
            <a:avLst/>
          </a:prstGeom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907857F-E16F-0C43-9717-A26A44036BE0}"/>
              </a:ext>
            </a:extLst>
          </p:cNvPr>
          <p:cNvSpPr/>
          <p:nvPr/>
        </p:nvSpPr>
        <p:spPr>
          <a:xfrm>
            <a:off x="248018" y="2858395"/>
            <a:ext cx="3252495" cy="4994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0AD1457-1F19-08FF-CDC1-6522936D31AC}"/>
              </a:ext>
            </a:extLst>
          </p:cNvPr>
          <p:cNvSpPr/>
          <p:nvPr/>
        </p:nvSpPr>
        <p:spPr>
          <a:xfrm>
            <a:off x="493221" y="4219213"/>
            <a:ext cx="2828740" cy="4673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: вправо 24">
            <a:extLst>
              <a:ext uri="{FF2B5EF4-FFF2-40B4-BE49-F238E27FC236}">
                <a16:creationId xmlns:a16="http://schemas.microsoft.com/office/drawing/2014/main" id="{EA101365-3715-B269-EB8F-BDD9D0E45A39}"/>
              </a:ext>
            </a:extLst>
          </p:cNvPr>
          <p:cNvSpPr/>
          <p:nvPr/>
        </p:nvSpPr>
        <p:spPr>
          <a:xfrm rot="5400000">
            <a:off x="1573858" y="3589608"/>
            <a:ext cx="600814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62F57F-654C-D283-3EAC-F84129536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999" y="2853596"/>
            <a:ext cx="1471102" cy="189520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401025F-3F97-9BB5-6DE9-CF38AC6F36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084" y="3058272"/>
            <a:ext cx="2589606" cy="15949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001A859-4AEB-05DD-ACE1-42DA2A487712}"/>
              </a:ext>
            </a:extLst>
          </p:cNvPr>
          <p:cNvSpPr txBox="1"/>
          <p:nvPr/>
        </p:nvSpPr>
        <p:spPr>
          <a:xfrm>
            <a:off x="2480625" y="4713039"/>
            <a:ext cx="845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Фундаментальная мода в прямоугольном резонаторе</a:t>
            </a: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E005E8A1-90D3-3C74-2E98-2089065A0806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727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CBA417-753A-C245-0D6F-876333C23B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279" y="1168008"/>
            <a:ext cx="2667000" cy="246495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0F151A7-CFE2-BD6B-3E22-199B0266E01A}"/>
              </a:ext>
            </a:extLst>
          </p:cNvPr>
          <p:cNvSpPr/>
          <p:nvPr/>
        </p:nvSpPr>
        <p:spPr>
          <a:xfrm>
            <a:off x="433229" y="1358111"/>
            <a:ext cx="2184034" cy="146402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ru-RU" sz="3200" dirty="0"/>
              <a:t>Метод конечных разностей. Уравнения Максвелла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6ED2D8-9B1C-A7AF-160C-8BBE32D1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81" y="1420276"/>
            <a:ext cx="1887529" cy="1339697"/>
          </a:xfrm>
          <a:prstGeom prst="rect">
            <a:avLst/>
          </a:prstGeom>
        </p:spPr>
      </p:pic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574E2F32-9A2A-D2AF-F164-7A2A8E03011A}"/>
              </a:ext>
            </a:extLst>
          </p:cNvPr>
          <p:cNvSpPr/>
          <p:nvPr/>
        </p:nvSpPr>
        <p:spPr>
          <a:xfrm>
            <a:off x="2729789" y="1891209"/>
            <a:ext cx="684156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33DCA2B-363C-B5BA-501E-F9EDB23307E4}"/>
              </a:ext>
            </a:extLst>
          </p:cNvPr>
          <p:cNvSpPr/>
          <p:nvPr/>
        </p:nvSpPr>
        <p:spPr>
          <a:xfrm>
            <a:off x="3562198" y="1358111"/>
            <a:ext cx="2184034" cy="146402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D6E8E90-756F-C0DB-2BD8-69E8A9E60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461" y="1445406"/>
            <a:ext cx="1533507" cy="6447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1ECC7D1-79C0-4AE0-27B5-08EBAC359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0353" y="2040999"/>
            <a:ext cx="1533507" cy="71897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B64D286-D0C6-2137-D6C9-DAD3F42B7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993" y="3442861"/>
            <a:ext cx="5858188" cy="1697959"/>
          </a:xfrm>
          <a:prstGeom prst="rect">
            <a:avLst/>
          </a:prstGeom>
        </p:spPr>
      </p:pic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4B2B0C29-8F77-2847-320F-16AC74F6DB24}"/>
              </a:ext>
            </a:extLst>
          </p:cNvPr>
          <p:cNvSpPr/>
          <p:nvPr/>
        </p:nvSpPr>
        <p:spPr>
          <a:xfrm rot="5400000">
            <a:off x="3886679" y="2958150"/>
            <a:ext cx="594190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A28DDC-20BC-45B9-9C81-EB962F0EC9C5}"/>
              </a:ext>
            </a:extLst>
          </p:cNvPr>
          <p:cNvSpPr txBox="1"/>
          <p:nvPr/>
        </p:nvSpPr>
        <p:spPr>
          <a:xfrm>
            <a:off x="6566259" y="3561289"/>
            <a:ext cx="2028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Поля в ячейке сетки </a:t>
            </a:r>
            <a:r>
              <a:rPr lang="en-US" dirty="0"/>
              <a:t>FDTD. </a:t>
            </a:r>
            <a:r>
              <a:rPr lang="ru-RU" dirty="0"/>
              <a:t>Компонента трех мерной сетки </a:t>
            </a:r>
            <a:r>
              <a:rPr lang="ru-RU" dirty="0" err="1"/>
              <a:t>Йи</a:t>
            </a:r>
            <a:r>
              <a:rPr lang="ru-RU" dirty="0"/>
              <a:t> (1966 г.)</a:t>
            </a:r>
          </a:p>
        </p:txBody>
      </p:sp>
      <p:sp>
        <p:nvSpPr>
          <p:cNvPr id="4" name="Номер слайда 1">
            <a:extLst>
              <a:ext uri="{FF2B5EF4-FFF2-40B4-BE49-F238E27FC236}">
                <a16:creationId xmlns:a16="http://schemas.microsoft.com/office/drawing/2014/main" id="{2F0FEC44-0478-E6C4-E4D8-70386FAE8CC2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4069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ru-RU" sz="3200"/>
              <a:t>Алгоритм моделирования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99DF1C-8BEE-4C5E-9207-26DE06670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452" y="1942098"/>
            <a:ext cx="2941577" cy="2133786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05BB1E7-CA4A-44F8-9BF3-7CAE7EEC9C11}"/>
              </a:ext>
            </a:extLst>
          </p:cNvPr>
          <p:cNvSpPr/>
          <p:nvPr/>
        </p:nvSpPr>
        <p:spPr>
          <a:xfrm>
            <a:off x="392430" y="1143998"/>
            <a:ext cx="2183130" cy="3385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7551B-EBDD-4A8A-BE77-CBD189BDAD44}"/>
              </a:ext>
            </a:extLst>
          </p:cNvPr>
          <p:cNvSpPr txBox="1"/>
          <p:nvPr/>
        </p:nvSpPr>
        <p:spPr>
          <a:xfrm>
            <a:off x="392430" y="1143998"/>
            <a:ext cx="2381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Отрисовка структур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A60231E-55C5-46C7-966E-424A103E3988}"/>
              </a:ext>
            </a:extLst>
          </p:cNvPr>
          <p:cNvSpPr/>
          <p:nvPr/>
        </p:nvSpPr>
        <p:spPr>
          <a:xfrm>
            <a:off x="3655955" y="1192888"/>
            <a:ext cx="2996115" cy="3385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B2081-FA9B-4266-9B67-2D84B0F2A4C4}"/>
              </a:ext>
            </a:extLst>
          </p:cNvPr>
          <p:cNvSpPr txBox="1"/>
          <p:nvPr/>
        </p:nvSpPr>
        <p:spPr>
          <a:xfrm>
            <a:off x="3655956" y="1192889"/>
            <a:ext cx="3254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Задание расчетной области</a:t>
            </a:r>
            <a:endParaRPr lang="en-US" sz="1600" b="1" dirty="0"/>
          </a:p>
          <a:p>
            <a:pPr algn="just"/>
            <a:endParaRPr lang="en-US" sz="1600" b="1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34F5591-89FD-4A00-A965-D0198D65CFCC}"/>
              </a:ext>
            </a:extLst>
          </p:cNvPr>
          <p:cNvSpPr/>
          <p:nvPr/>
        </p:nvSpPr>
        <p:spPr>
          <a:xfrm>
            <a:off x="6095285" y="2268532"/>
            <a:ext cx="2873712" cy="3385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997C7-9862-42CF-BFAE-30E962889950}"/>
              </a:ext>
            </a:extLst>
          </p:cNvPr>
          <p:cNvSpPr txBox="1"/>
          <p:nvPr/>
        </p:nvSpPr>
        <p:spPr>
          <a:xfrm>
            <a:off x="6095285" y="2290323"/>
            <a:ext cx="2941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Выбор граничных условий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60D9C7D-341E-4AD1-9A3D-8AB409CA3C6A}"/>
              </a:ext>
            </a:extLst>
          </p:cNvPr>
          <p:cNvSpPr/>
          <p:nvPr/>
        </p:nvSpPr>
        <p:spPr>
          <a:xfrm>
            <a:off x="6714359" y="3427627"/>
            <a:ext cx="1589127" cy="3385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08D7D5-B8AB-4F9A-910C-8D61C9D9495B}"/>
              </a:ext>
            </a:extLst>
          </p:cNvPr>
          <p:cNvSpPr txBox="1"/>
          <p:nvPr/>
        </p:nvSpPr>
        <p:spPr>
          <a:xfrm>
            <a:off x="6714359" y="3449418"/>
            <a:ext cx="1703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Задания сетки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B6D397F-F757-4D96-9FB8-FE5C6B158629}"/>
              </a:ext>
            </a:extLst>
          </p:cNvPr>
          <p:cNvSpPr/>
          <p:nvPr/>
        </p:nvSpPr>
        <p:spPr>
          <a:xfrm>
            <a:off x="4075985" y="4240318"/>
            <a:ext cx="2195275" cy="3385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B60828-98D1-4A77-8EB2-4D37906E6F24}"/>
              </a:ext>
            </a:extLst>
          </p:cNvPr>
          <p:cNvSpPr txBox="1"/>
          <p:nvPr/>
        </p:nvSpPr>
        <p:spPr>
          <a:xfrm>
            <a:off x="4075985" y="4262109"/>
            <a:ext cx="24162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Задания источников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76990BD0-50BE-4D22-BACC-01AFCF33AE0A}"/>
              </a:ext>
            </a:extLst>
          </p:cNvPr>
          <p:cNvSpPr/>
          <p:nvPr/>
        </p:nvSpPr>
        <p:spPr>
          <a:xfrm>
            <a:off x="816702" y="4454364"/>
            <a:ext cx="2195275" cy="3385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732CB-EFE0-4082-B7E2-C0AF7B8FA3B6}"/>
              </a:ext>
            </a:extLst>
          </p:cNvPr>
          <p:cNvSpPr txBox="1"/>
          <p:nvPr/>
        </p:nvSpPr>
        <p:spPr>
          <a:xfrm>
            <a:off x="816702" y="4476155"/>
            <a:ext cx="24162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Задание мониторов</a:t>
            </a:r>
          </a:p>
        </p:txBody>
      </p:sp>
      <p:sp>
        <p:nvSpPr>
          <p:cNvPr id="23" name="Стрелка: вправо 22">
            <a:extLst>
              <a:ext uri="{FF2B5EF4-FFF2-40B4-BE49-F238E27FC236}">
                <a16:creationId xmlns:a16="http://schemas.microsoft.com/office/drawing/2014/main" id="{8E602E05-12EC-452E-8E52-8D9FF8BC9103}"/>
              </a:ext>
            </a:extLst>
          </p:cNvPr>
          <p:cNvSpPr/>
          <p:nvPr/>
        </p:nvSpPr>
        <p:spPr>
          <a:xfrm>
            <a:off x="2773680" y="1143998"/>
            <a:ext cx="684156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24" name="Стрелка: вправо 23">
            <a:extLst>
              <a:ext uri="{FF2B5EF4-FFF2-40B4-BE49-F238E27FC236}">
                <a16:creationId xmlns:a16="http://schemas.microsoft.com/office/drawing/2014/main" id="{9C7F92B1-274A-459D-8BD9-E3E672AA5241}"/>
              </a:ext>
            </a:extLst>
          </p:cNvPr>
          <p:cNvSpPr/>
          <p:nvPr/>
        </p:nvSpPr>
        <p:spPr>
          <a:xfrm rot="3099107">
            <a:off x="6678231" y="1656135"/>
            <a:ext cx="684156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25" name="Стрелка: вправо 24">
            <a:extLst>
              <a:ext uri="{FF2B5EF4-FFF2-40B4-BE49-F238E27FC236}">
                <a16:creationId xmlns:a16="http://schemas.microsoft.com/office/drawing/2014/main" id="{C9F0FB41-94B4-40CD-B489-A13E8DF7DD3E}"/>
              </a:ext>
            </a:extLst>
          </p:cNvPr>
          <p:cNvSpPr/>
          <p:nvPr/>
        </p:nvSpPr>
        <p:spPr>
          <a:xfrm rot="5400000">
            <a:off x="7190062" y="2812031"/>
            <a:ext cx="684156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26" name="Стрелка: вправо 25">
            <a:extLst>
              <a:ext uri="{FF2B5EF4-FFF2-40B4-BE49-F238E27FC236}">
                <a16:creationId xmlns:a16="http://schemas.microsoft.com/office/drawing/2014/main" id="{3FD79A63-13C0-4DD5-B243-D597DA75364E}"/>
              </a:ext>
            </a:extLst>
          </p:cNvPr>
          <p:cNvSpPr/>
          <p:nvPr/>
        </p:nvSpPr>
        <p:spPr>
          <a:xfrm rot="8870204">
            <a:off x="6436477" y="3973612"/>
            <a:ext cx="684156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30" name="Стрелка: вправо 29">
            <a:extLst>
              <a:ext uri="{FF2B5EF4-FFF2-40B4-BE49-F238E27FC236}">
                <a16:creationId xmlns:a16="http://schemas.microsoft.com/office/drawing/2014/main" id="{EC2A770F-C16B-4542-B92F-5FB616E3DA64}"/>
              </a:ext>
            </a:extLst>
          </p:cNvPr>
          <p:cNvSpPr/>
          <p:nvPr/>
        </p:nvSpPr>
        <p:spPr>
          <a:xfrm rot="10350435">
            <a:off x="3231772" y="4336515"/>
            <a:ext cx="684156" cy="397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ysClr val="windowText" lastClr="000000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44C8163D-01F1-9234-9FB2-3367D621FA3D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9375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Окна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C180B4-BDE7-4287-B8EF-ECD904F0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1" y="1066313"/>
            <a:ext cx="6926580" cy="368888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6EC21C-D942-420D-B2B2-ABC6B6F650B6}"/>
              </a:ext>
            </a:extLst>
          </p:cNvPr>
          <p:cNvSpPr/>
          <p:nvPr/>
        </p:nvSpPr>
        <p:spPr>
          <a:xfrm>
            <a:off x="845821" y="1244600"/>
            <a:ext cx="3528059" cy="314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06BE11-22CC-4456-8819-302D5F64AC33}"/>
              </a:ext>
            </a:extLst>
          </p:cNvPr>
          <p:cNvSpPr txBox="1"/>
          <p:nvPr/>
        </p:nvSpPr>
        <p:spPr>
          <a:xfrm>
            <a:off x="1543049" y="1499206"/>
            <a:ext cx="3307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Основная панель инструментов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D727AB-AB1C-4C47-8909-EEB74ADE1944}"/>
              </a:ext>
            </a:extLst>
          </p:cNvPr>
          <p:cNvSpPr/>
          <p:nvPr/>
        </p:nvSpPr>
        <p:spPr>
          <a:xfrm>
            <a:off x="4373880" y="1247746"/>
            <a:ext cx="861059" cy="314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FF241-26D3-4F4F-BFD0-2FEF14268194}"/>
              </a:ext>
            </a:extLst>
          </p:cNvPr>
          <p:cNvSpPr txBox="1"/>
          <p:nvPr/>
        </p:nvSpPr>
        <p:spPr>
          <a:xfrm>
            <a:off x="5234939" y="1251783"/>
            <a:ext cx="1888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Запуск симуляции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9102354-2CA9-44EE-81CA-770958A1DA1C}"/>
              </a:ext>
            </a:extLst>
          </p:cNvPr>
          <p:cNvSpPr/>
          <p:nvPr/>
        </p:nvSpPr>
        <p:spPr>
          <a:xfrm>
            <a:off x="967741" y="1832770"/>
            <a:ext cx="1253489" cy="1367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8BC4E-D975-4BB8-9E73-429FEF9F947B}"/>
              </a:ext>
            </a:extLst>
          </p:cNvPr>
          <p:cNvSpPr txBox="1"/>
          <p:nvPr/>
        </p:nvSpPr>
        <p:spPr>
          <a:xfrm>
            <a:off x="887729" y="3324046"/>
            <a:ext cx="3307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Дерево объектов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25AC353-B5F6-4572-AE20-2AB02470E68A}"/>
              </a:ext>
            </a:extLst>
          </p:cNvPr>
          <p:cNvSpPr/>
          <p:nvPr/>
        </p:nvSpPr>
        <p:spPr>
          <a:xfrm>
            <a:off x="2291713" y="1757988"/>
            <a:ext cx="3110867" cy="2448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804AF9-A36F-4890-A830-08E11D927054}"/>
              </a:ext>
            </a:extLst>
          </p:cNvPr>
          <p:cNvSpPr txBox="1"/>
          <p:nvPr/>
        </p:nvSpPr>
        <p:spPr>
          <a:xfrm>
            <a:off x="2350769" y="4172940"/>
            <a:ext cx="2373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Просмотр </a:t>
            </a:r>
            <a:r>
              <a:rPr lang="en-US" b="1" dirty="0">
                <a:solidFill>
                  <a:schemeClr val="bg1"/>
                </a:solidFill>
              </a:rPr>
              <a:t>3D </a:t>
            </a:r>
            <a:r>
              <a:rPr lang="ru-RU" b="1" dirty="0">
                <a:solidFill>
                  <a:schemeClr val="bg1"/>
                </a:solidFill>
              </a:rPr>
              <a:t>структуры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E61E738-5222-49CD-87C3-29C3E16B7850}"/>
              </a:ext>
            </a:extLst>
          </p:cNvPr>
          <p:cNvSpPr/>
          <p:nvPr/>
        </p:nvSpPr>
        <p:spPr>
          <a:xfrm>
            <a:off x="5547358" y="1757988"/>
            <a:ext cx="2187299" cy="1873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B21524-E2BC-407C-A829-3E3CA5A892CC}"/>
              </a:ext>
            </a:extLst>
          </p:cNvPr>
          <p:cNvSpPr txBox="1"/>
          <p:nvPr/>
        </p:nvSpPr>
        <p:spPr>
          <a:xfrm>
            <a:off x="5782943" y="3647669"/>
            <a:ext cx="2373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solidFill>
                  <a:schemeClr val="bg1"/>
                </a:solidFill>
              </a:rPr>
              <a:t>Запуск скрипта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6D9ED9E2-67AE-4968-D26E-48F4D348CC1C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98709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905007-B30C-47D7-B92C-AE8CF9054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07" y="1262164"/>
            <a:ext cx="6372520" cy="333015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113115-1C35-4855-B262-659AF16CF6AA}"/>
              </a:ext>
            </a:extLst>
          </p:cNvPr>
          <p:cNvSpPr/>
          <p:nvPr/>
        </p:nvSpPr>
        <p:spPr>
          <a:xfrm>
            <a:off x="5861486" y="2104390"/>
            <a:ext cx="3119954" cy="375920"/>
          </a:xfrm>
          <a:prstGeom prst="rect">
            <a:avLst/>
          </a:prstGeom>
          <a:solidFill>
            <a:srgbClr val="AC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Размерность пространства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D26B6E0-022E-4B05-BC96-D982FA35E642}"/>
              </a:ext>
            </a:extLst>
          </p:cNvPr>
          <p:cNvSpPr/>
          <p:nvPr/>
        </p:nvSpPr>
        <p:spPr>
          <a:xfrm>
            <a:off x="5861486" y="2573020"/>
            <a:ext cx="3119954" cy="375920"/>
          </a:xfrm>
          <a:prstGeom prst="rect">
            <a:avLst/>
          </a:prstGeom>
          <a:solidFill>
            <a:srgbClr val="AC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Время симуляции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5A53985-E610-43C3-B967-60A2498C1EC7}"/>
              </a:ext>
            </a:extLst>
          </p:cNvPr>
          <p:cNvSpPr/>
          <p:nvPr/>
        </p:nvSpPr>
        <p:spPr>
          <a:xfrm>
            <a:off x="5861486" y="3044190"/>
            <a:ext cx="3119954" cy="375920"/>
          </a:xfrm>
          <a:prstGeom prst="rect">
            <a:avLst/>
          </a:prstGeom>
          <a:solidFill>
            <a:srgbClr val="AC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Температура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54B3E01-4694-4DBC-8865-8D547EC6A42D}"/>
              </a:ext>
            </a:extLst>
          </p:cNvPr>
          <p:cNvSpPr/>
          <p:nvPr/>
        </p:nvSpPr>
        <p:spPr>
          <a:xfrm>
            <a:off x="5833802" y="3911816"/>
            <a:ext cx="3119954" cy="375920"/>
          </a:xfrm>
          <a:prstGeom prst="rect">
            <a:avLst/>
          </a:prstGeom>
          <a:solidFill>
            <a:srgbClr val="AC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Показатель преломления </a:t>
            </a: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99A47B9E-1C4D-51AB-91BA-DB2F9E9D437E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072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508448-31C7-4618-81FC-17EC54717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11" y="944434"/>
            <a:ext cx="6986109" cy="393803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594BD2F-1E00-4219-98C4-3C91F5C466C9}"/>
              </a:ext>
            </a:extLst>
          </p:cNvPr>
          <p:cNvSpPr/>
          <p:nvPr/>
        </p:nvSpPr>
        <p:spPr>
          <a:xfrm>
            <a:off x="1198880" y="1566672"/>
            <a:ext cx="2787904" cy="829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E9B66F9-0CEE-4034-9E62-EBB073C3BB8F}"/>
              </a:ext>
            </a:extLst>
          </p:cNvPr>
          <p:cNvSpPr/>
          <p:nvPr/>
        </p:nvSpPr>
        <p:spPr>
          <a:xfrm>
            <a:off x="3986784" y="1566672"/>
            <a:ext cx="2787904" cy="829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EACFA-C21B-4E7A-BF08-B163D183C49E}"/>
              </a:ext>
            </a:extLst>
          </p:cNvPr>
          <p:cNvSpPr txBox="1"/>
          <p:nvPr/>
        </p:nvSpPr>
        <p:spPr>
          <a:xfrm>
            <a:off x="1493520" y="2395729"/>
            <a:ext cx="307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Центр и промежуток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D3E92-F890-4D32-BECA-5B0FDC37DEAA}"/>
              </a:ext>
            </a:extLst>
          </p:cNvPr>
          <p:cNvSpPr txBox="1"/>
          <p:nvPr/>
        </p:nvSpPr>
        <p:spPr>
          <a:xfrm>
            <a:off x="3986784" y="2407482"/>
            <a:ext cx="307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Максимальная и минимальная координата 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4A0A52AE-1138-2658-0DE0-44A4757EA349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981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2B1C10-F6CB-46CE-B99F-FF01A095A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25" y="1000789"/>
            <a:ext cx="8199494" cy="38816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2238E92-C1E9-41EE-BF36-01E10FDA518D}"/>
              </a:ext>
            </a:extLst>
          </p:cNvPr>
          <p:cNvSpPr/>
          <p:nvPr/>
        </p:nvSpPr>
        <p:spPr>
          <a:xfrm>
            <a:off x="477361" y="1459516"/>
            <a:ext cx="4280376" cy="2076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0729F8-51EC-4AD8-86D7-A5381D4D9779}"/>
              </a:ext>
            </a:extLst>
          </p:cNvPr>
          <p:cNvSpPr txBox="1"/>
          <p:nvPr/>
        </p:nvSpPr>
        <p:spPr>
          <a:xfrm>
            <a:off x="1735168" y="1859948"/>
            <a:ext cx="307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Шаг сетки (неравномерная, менять нельзя)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F50F86D-11FD-4582-833C-4763356A6250}"/>
              </a:ext>
            </a:extLst>
          </p:cNvPr>
          <p:cNvSpPr/>
          <p:nvPr/>
        </p:nvSpPr>
        <p:spPr>
          <a:xfrm>
            <a:off x="4793297" y="1471232"/>
            <a:ext cx="3650615" cy="2076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B3B1C0-05D0-4F4B-B1C7-F159BFB98FC4}"/>
              </a:ext>
            </a:extLst>
          </p:cNvPr>
          <p:cNvSpPr txBox="1"/>
          <p:nvPr/>
        </p:nvSpPr>
        <p:spPr>
          <a:xfrm>
            <a:off x="5869593" y="1662632"/>
            <a:ext cx="2244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solidFill>
                  <a:schemeClr val="bg1"/>
                </a:solidFill>
              </a:rPr>
              <a:t>Временной шаг (далее подробнее)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3356D1C3-4A07-18A4-FFE3-0E015B9E0748}"/>
              </a:ext>
            </a:extLst>
          </p:cNvPr>
          <p:cNvSpPr txBox="1">
            <a:spLocks/>
          </p:cNvSpPr>
          <p:nvPr/>
        </p:nvSpPr>
        <p:spPr>
          <a:xfrm>
            <a:off x="8595300" y="4749900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0881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Решатель. Критерий Куранта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7367DE-2DFC-4645-BDCA-00943F04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29" y="1262017"/>
            <a:ext cx="3153215" cy="6477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8CB8E6-DE1B-4B79-B54E-37DA3335C843}"/>
              </a:ext>
            </a:extLst>
          </p:cNvPr>
          <p:cNvSpPr txBox="1"/>
          <p:nvPr/>
        </p:nvSpPr>
        <p:spPr>
          <a:xfrm>
            <a:off x="3964781" y="1471314"/>
            <a:ext cx="5086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</a:rPr>
              <a:t>гиперболический тип (уравнения Максвелла)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823F3E-4F9F-4D79-885D-A9D144736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893" y="2865438"/>
            <a:ext cx="1886213" cy="10955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8E5E55-B82C-4772-808D-A78DAE04BA27}"/>
              </a:ext>
            </a:extLst>
          </p:cNvPr>
          <p:cNvSpPr txBox="1"/>
          <p:nvPr/>
        </p:nvSpPr>
        <p:spPr>
          <a:xfrm>
            <a:off x="192881" y="2733301"/>
            <a:ext cx="33647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Критерий устойчивости разностной схемы (ошибка не возрастает с увеличением времени):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49FCE3-8B1B-4A09-9EA0-6A0308DD750F}"/>
                  </a:ext>
                </a:extLst>
              </p:cNvPr>
              <p:cNvSpPr txBox="1"/>
              <p:nvPr/>
            </p:nvSpPr>
            <p:spPr>
              <a:xfrm>
                <a:off x="5515106" y="2415382"/>
                <a:ext cx="3250406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dirty="0"/>
                  <a:t> – </a:t>
                </a:r>
                <a:r>
                  <a:rPr lang="ru-RU" sz="1800" dirty="0"/>
                  <a:t>скорость переноса,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– </a:t>
                </a:r>
                <a:r>
                  <a:rPr lang="ru-RU" sz="1800" dirty="0"/>
                  <a:t>временной шаг,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– </a:t>
                </a:r>
                <a:r>
                  <a:rPr lang="ru-RU" sz="1800" dirty="0"/>
                  <a:t>пространственный шаг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1800" dirty="0"/>
                  <a:t>константа, не зависящая от шага сетки и времени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49FCE3-8B1B-4A09-9EA0-6A0308DD7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106" y="2415382"/>
                <a:ext cx="3250406" cy="2031325"/>
              </a:xfrm>
              <a:prstGeom prst="rect">
                <a:avLst/>
              </a:prstGeom>
              <a:blipFill>
                <a:blip r:embed="rId5"/>
                <a:stretch>
                  <a:fillRect l="-1313" t="-1502" r="-1501" b="-39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D00E776-B515-4544-8365-38FA4FBC2EB5}"/>
              </a:ext>
            </a:extLst>
          </p:cNvPr>
          <p:cNvSpPr/>
          <p:nvPr/>
        </p:nvSpPr>
        <p:spPr>
          <a:xfrm>
            <a:off x="3803410" y="2928938"/>
            <a:ext cx="1518684" cy="880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102DB966-700D-1732-D713-0DC4D85D246D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77681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EE4C12-6A5D-4C0A-A5E3-F2947A1B7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606" y="896578"/>
            <a:ext cx="6200166" cy="4000719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3CAB77-5F0F-4018-BED9-77DF55313CF3}"/>
              </a:ext>
            </a:extLst>
          </p:cNvPr>
          <p:cNvSpPr/>
          <p:nvPr/>
        </p:nvSpPr>
        <p:spPr>
          <a:xfrm>
            <a:off x="1371599" y="1407320"/>
            <a:ext cx="3386138" cy="1678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D83755-D371-4CAC-BD9F-F1511AB17514}"/>
              </a:ext>
            </a:extLst>
          </p:cNvPr>
          <p:cNvSpPr txBox="1"/>
          <p:nvPr/>
        </p:nvSpPr>
        <p:spPr>
          <a:xfrm>
            <a:off x="1525428" y="3692350"/>
            <a:ext cx="307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Шаг сетки (неравномерная, можно менять)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ECAEC83-490E-499C-9F42-F9321EDB16C0}"/>
              </a:ext>
            </a:extLst>
          </p:cNvPr>
          <p:cNvSpPr/>
          <p:nvPr/>
        </p:nvSpPr>
        <p:spPr>
          <a:xfrm>
            <a:off x="4846730" y="3376180"/>
            <a:ext cx="2636042" cy="1521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4D185-00C7-4765-A679-9D563B070EAB}"/>
              </a:ext>
            </a:extLst>
          </p:cNvPr>
          <p:cNvSpPr txBox="1"/>
          <p:nvPr/>
        </p:nvSpPr>
        <p:spPr>
          <a:xfrm>
            <a:off x="5556884" y="3384573"/>
            <a:ext cx="1651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Временной шаг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5B16340-AC7C-4769-8666-B8125254855B}"/>
              </a:ext>
            </a:extLst>
          </p:cNvPr>
          <p:cNvSpPr/>
          <p:nvPr/>
        </p:nvSpPr>
        <p:spPr>
          <a:xfrm>
            <a:off x="4818155" y="1406888"/>
            <a:ext cx="2636042" cy="1379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98ADF-234B-4759-B05B-7646FA2C4141}"/>
              </a:ext>
            </a:extLst>
          </p:cNvPr>
          <p:cNvSpPr txBox="1"/>
          <p:nvPr/>
        </p:nvSpPr>
        <p:spPr>
          <a:xfrm>
            <a:off x="5142541" y="901020"/>
            <a:ext cx="224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solidFill>
                  <a:schemeClr val="bg1"/>
                </a:solidFill>
              </a:rPr>
              <a:t>Ограничение шага сетки сверху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F4E3DC71-EC8C-2C11-2FD7-8EFBA989AB8B}"/>
              </a:ext>
            </a:extLst>
          </p:cNvPr>
          <p:cNvSpPr txBox="1">
            <a:spLocks/>
          </p:cNvSpPr>
          <p:nvPr/>
        </p:nvSpPr>
        <p:spPr>
          <a:xfrm>
            <a:off x="8494822" y="4660258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9216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A38EC3-492A-452F-BBA1-91ACF7025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64" y="973177"/>
            <a:ext cx="6462864" cy="392411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3CAB77-5F0F-4018-BED9-77DF55313CF3}"/>
              </a:ext>
            </a:extLst>
          </p:cNvPr>
          <p:cNvSpPr/>
          <p:nvPr/>
        </p:nvSpPr>
        <p:spPr>
          <a:xfrm>
            <a:off x="1217769" y="1513843"/>
            <a:ext cx="3600385" cy="186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D83755-D371-4CAC-BD9F-F1511AB17514}"/>
              </a:ext>
            </a:extLst>
          </p:cNvPr>
          <p:cNvSpPr txBox="1"/>
          <p:nvPr/>
        </p:nvSpPr>
        <p:spPr>
          <a:xfrm>
            <a:off x="1525428" y="3692350"/>
            <a:ext cx="307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Шаг сетки (равномерная, можно менять)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ECAEC83-490E-499C-9F42-F9321EDB16C0}"/>
              </a:ext>
            </a:extLst>
          </p:cNvPr>
          <p:cNvSpPr/>
          <p:nvPr/>
        </p:nvSpPr>
        <p:spPr>
          <a:xfrm>
            <a:off x="4846730" y="3376180"/>
            <a:ext cx="2636042" cy="1521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4D185-00C7-4765-A679-9D563B070EAB}"/>
              </a:ext>
            </a:extLst>
          </p:cNvPr>
          <p:cNvSpPr txBox="1"/>
          <p:nvPr/>
        </p:nvSpPr>
        <p:spPr>
          <a:xfrm>
            <a:off x="5556884" y="3384573"/>
            <a:ext cx="1651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Временной шаг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5B16340-AC7C-4769-8666-B8125254855B}"/>
              </a:ext>
            </a:extLst>
          </p:cNvPr>
          <p:cNvSpPr/>
          <p:nvPr/>
        </p:nvSpPr>
        <p:spPr>
          <a:xfrm>
            <a:off x="4818155" y="1406887"/>
            <a:ext cx="2636042" cy="1892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98ADF-234B-4759-B05B-7646FA2C4141}"/>
              </a:ext>
            </a:extLst>
          </p:cNvPr>
          <p:cNvSpPr txBox="1"/>
          <p:nvPr/>
        </p:nvSpPr>
        <p:spPr>
          <a:xfrm>
            <a:off x="5149687" y="1353697"/>
            <a:ext cx="224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solidFill>
                  <a:schemeClr val="bg1"/>
                </a:solidFill>
              </a:rPr>
              <a:t>Ограничение шага сетки сверху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E3D869FE-FF61-EDC9-C0A8-562C7973E6A4}"/>
              </a:ext>
            </a:extLst>
          </p:cNvPr>
          <p:cNvSpPr txBox="1">
            <a:spLocks/>
          </p:cNvSpPr>
          <p:nvPr/>
        </p:nvSpPr>
        <p:spPr>
          <a:xfrm>
            <a:off x="8494822" y="4675006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15233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813B53-5B61-43F2-97B9-98DDFF9DC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61" y="961090"/>
            <a:ext cx="5884737" cy="40109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4940B8-451C-4FA4-A8C6-9B9E834CD2A5}"/>
              </a:ext>
            </a:extLst>
          </p:cNvPr>
          <p:cNvSpPr/>
          <p:nvPr/>
        </p:nvSpPr>
        <p:spPr>
          <a:xfrm>
            <a:off x="1423218" y="1283110"/>
            <a:ext cx="2212259" cy="1106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DC12C8-ECA3-4BC0-BBED-488D1AC2718A}"/>
              </a:ext>
            </a:extLst>
          </p:cNvPr>
          <p:cNvSpPr txBox="1"/>
          <p:nvPr/>
        </p:nvSpPr>
        <p:spPr>
          <a:xfrm>
            <a:off x="2680426" y="2443350"/>
            <a:ext cx="1891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</a:rPr>
              <a:t>Граничные условия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2BDE1139-F0C5-D0F5-12B5-AA32C2DE9F93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44730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51743A-84A0-443D-BFD6-6F3D3FB55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18" y="1317811"/>
            <a:ext cx="5481895" cy="35646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Решатель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A77FCD-C4B0-4675-BBA2-7B0419B39008}"/>
              </a:ext>
            </a:extLst>
          </p:cNvPr>
          <p:cNvSpPr/>
          <p:nvPr/>
        </p:nvSpPr>
        <p:spPr>
          <a:xfrm>
            <a:off x="1814513" y="1535906"/>
            <a:ext cx="3986212" cy="450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A54BE9-82F6-4ADB-9C14-F93E2DF5CB94}"/>
              </a:ext>
            </a:extLst>
          </p:cNvPr>
          <p:cNvSpPr/>
          <p:nvPr/>
        </p:nvSpPr>
        <p:spPr>
          <a:xfrm>
            <a:off x="1751625" y="4200792"/>
            <a:ext cx="3986212" cy="450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76BD2-1FA4-4615-B50F-01C1DE3A65B8}"/>
              </a:ext>
            </a:extLst>
          </p:cNvPr>
          <p:cNvSpPr txBox="1"/>
          <p:nvPr/>
        </p:nvSpPr>
        <p:spPr>
          <a:xfrm>
            <a:off x="6190819" y="1499324"/>
            <a:ext cx="18915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tx1"/>
                </a:solidFill>
              </a:rPr>
              <a:t>Идеальное поглощение излучения</a:t>
            </a:r>
            <a:r>
              <a:rPr lang="en-US" b="1" dirty="0">
                <a:solidFill>
                  <a:schemeClr val="tx1"/>
                </a:solidFill>
              </a:rPr>
              <a:t>	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5D484-69FA-494A-AD92-AC2BF56C5549}"/>
              </a:ext>
            </a:extLst>
          </p:cNvPr>
          <p:cNvSpPr txBox="1"/>
          <p:nvPr/>
        </p:nvSpPr>
        <p:spPr>
          <a:xfrm>
            <a:off x="6240825" y="4030027"/>
            <a:ext cx="18915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tx1"/>
                </a:solidFill>
              </a:rPr>
              <a:t>Идеальное отражение излучения</a:t>
            </a:r>
            <a:r>
              <a:rPr lang="en-US" b="1" dirty="0">
                <a:solidFill>
                  <a:schemeClr val="tx1"/>
                </a:solidFill>
              </a:rPr>
              <a:t> (</a:t>
            </a:r>
            <a:r>
              <a:rPr lang="ru-RU" b="1" dirty="0">
                <a:solidFill>
                  <a:schemeClr val="tx1"/>
                </a:solidFill>
              </a:rPr>
              <a:t>как у проводника)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11E5C-9EF8-AB87-6BB8-71C19CB5AF3F}"/>
              </a:ext>
            </a:extLst>
          </p:cNvPr>
          <p:cNvSpPr txBox="1"/>
          <p:nvPr/>
        </p:nvSpPr>
        <p:spPr>
          <a:xfrm>
            <a:off x="2564606" y="15762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-apple-system"/>
              </a:rPr>
              <a:t>Perfectly matched layer</a:t>
            </a:r>
            <a:endParaRPr lang="ru-RU" sz="1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FD03C-389D-9B84-C188-B775F04EA412}"/>
              </a:ext>
            </a:extLst>
          </p:cNvPr>
          <p:cNvSpPr txBox="1"/>
          <p:nvPr/>
        </p:nvSpPr>
        <p:spPr>
          <a:xfrm>
            <a:off x="2691731" y="42411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-apple-system"/>
              </a:rPr>
              <a:t>Perfect Magnetic Conductor</a:t>
            </a:r>
            <a:endParaRPr lang="ru-RU" sz="1800" b="1" dirty="0">
              <a:solidFill>
                <a:schemeClr val="bg1"/>
              </a:solidFill>
              <a:latin typeface="-apple-system"/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01564720-1986-CEB8-B716-6F9B61994C6F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4479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Практика</a:t>
            </a:r>
            <a:br>
              <a:rPr lang="ru-RU" sz="3200" dirty="0"/>
            </a:br>
            <a:r>
              <a:rPr lang="ru-RU" sz="3200" dirty="0"/>
              <a:t>Опыт Юнга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53C23E-5879-4EA6-A5C8-90A52006D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536" y="1159803"/>
            <a:ext cx="5534509" cy="3722661"/>
          </a:xfrm>
          <a:prstGeom prst="rect">
            <a:avLst/>
          </a:prstGeom>
        </p:spPr>
      </p:pic>
      <p:sp>
        <p:nvSpPr>
          <p:cNvPr id="4" name="Номер слайда 1">
            <a:extLst>
              <a:ext uri="{FF2B5EF4-FFF2-40B4-BE49-F238E27FC236}">
                <a16:creationId xmlns:a16="http://schemas.microsoft.com/office/drawing/2014/main" id="{64A6CAF6-9343-F7AE-4A5A-A98330860BA7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75325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Практика</a:t>
            </a:r>
            <a:br>
              <a:rPr lang="ru-RU" sz="3200" dirty="0"/>
            </a:br>
            <a:r>
              <a:rPr lang="ru-RU" sz="3200" dirty="0"/>
              <a:t>Опыт Юнга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5AE680-1F61-0B02-CF84-187B022AE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39" y="1049873"/>
            <a:ext cx="5435805" cy="2672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9B3BA5-2E4C-B617-8F75-32475262F1CB}"/>
                  </a:ext>
                </a:extLst>
              </p:cNvPr>
              <p:cNvSpPr txBox="1"/>
              <p:nvPr/>
            </p:nvSpPr>
            <p:spPr>
              <a:xfrm>
                <a:off x="4382689" y="3722266"/>
                <a:ext cx="4572000" cy="1071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ru-RU" sz="28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ru-R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limLoc m:val="subSup"/>
                              <m:supHide m:val="on"/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ru-RU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ru-RU" sz="2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𝑖𝑘𝑟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nary>
                          <m:r>
                            <a:rPr lang="ru-RU" sz="2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eqAr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9B3BA5-2E4C-B617-8F75-32475262F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689" y="3722266"/>
                <a:ext cx="4572000" cy="10716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A0A5B69D-9B7E-B562-2847-F6DAACF57E06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9788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Практика</a:t>
            </a:r>
            <a:br>
              <a:rPr lang="ru-RU" sz="3200" dirty="0"/>
            </a:br>
            <a:r>
              <a:rPr lang="ru-RU" sz="3200" dirty="0"/>
              <a:t>Опыт Юнга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4222D6-015C-B3C7-BE34-B10453B7C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11" y="1186186"/>
            <a:ext cx="6229268" cy="3526672"/>
          </a:xfrm>
          <a:prstGeom prst="rect">
            <a:avLst/>
          </a:prstGeom>
        </p:spPr>
      </p:pic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71693B24-0C6D-658E-70EE-57F5139E0D9E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44238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FA42833B-77C5-4664-B03D-0B619D52C107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22A683A-8C5B-745E-903A-36EC659E5785}"/>
              </a:ext>
            </a:extLst>
          </p:cNvPr>
          <p:cNvSpPr txBox="1">
            <a:spLocks/>
          </p:cNvSpPr>
          <p:nvPr/>
        </p:nvSpPr>
        <p:spPr>
          <a:xfrm>
            <a:off x="358014" y="2158378"/>
            <a:ext cx="8535496" cy="63554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400" b="0" i="0" u="none" strike="noStrike" cap="none">
                <a:solidFill>
                  <a:srgbClr val="58519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4400" dirty="0"/>
              <a:t>Спасибо за внимание!</a:t>
            </a: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56CCFDB9-A909-2104-54DA-2C973EECBB5D}"/>
              </a:ext>
            </a:extLst>
          </p:cNvPr>
          <p:cNvSpPr txBox="1">
            <a:spLocks/>
          </p:cNvSpPr>
          <p:nvPr/>
        </p:nvSpPr>
        <p:spPr>
          <a:xfrm>
            <a:off x="8494822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3044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61036"/>
            <a:ext cx="6022180" cy="635542"/>
          </a:xfrm>
        </p:spPr>
        <p:txBody>
          <a:bodyPr/>
          <a:lstStyle/>
          <a:p>
            <a:r>
              <a:rPr lang="en-US" sz="3200" dirty="0"/>
              <a:t>Ansys. </a:t>
            </a:r>
            <a:r>
              <a:rPr lang="ru-RU" sz="3200" dirty="0"/>
              <a:t>Практика</a:t>
            </a:r>
            <a:br>
              <a:rPr lang="ru-RU" sz="3200" dirty="0"/>
            </a:br>
            <a:r>
              <a:rPr lang="ru-RU" sz="3200" dirty="0"/>
              <a:t>Кольцевой резонатор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5EFEC5-0A2F-8F40-83EA-362128668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689" y="1288180"/>
            <a:ext cx="381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E0FFBF-EB41-273C-3BEB-F0789D3CF8A0}"/>
              </a:ext>
            </a:extLst>
          </p:cNvPr>
          <p:cNvSpPr txBox="1"/>
          <p:nvPr/>
        </p:nvSpPr>
        <p:spPr>
          <a:xfrm>
            <a:off x="-51619" y="4928056"/>
            <a:ext cx="74453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/>
              <a:t>https://optics.ansys.com/hc/en-us/articles/360042800293-Ring-resonator-getting-started-Design-and-initial-simulation</a:t>
            </a:r>
          </a:p>
        </p:txBody>
      </p:sp>
    </p:spTree>
    <p:extLst>
      <p:ext uri="{BB962C8B-B14F-4D97-AF65-F5344CB8AC3E}">
        <p14:creationId xmlns:p14="http://schemas.microsoft.com/office/powerpoint/2010/main" val="24480248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Титульный слайд (бол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Внутренние слайды (умен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28805</TotalTime>
  <Words>606</Words>
  <Application>Microsoft Office PowerPoint</Application>
  <PresentationFormat>Экран (16:9)</PresentationFormat>
  <Paragraphs>141</Paragraphs>
  <Slides>23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-apple-system</vt:lpstr>
      <vt:lpstr>Arial</vt:lpstr>
      <vt:lpstr>Calibri Light</vt:lpstr>
      <vt:lpstr>Cambria Math</vt:lpstr>
      <vt:lpstr>Титульный слайд (больш. лого)</vt:lpstr>
      <vt:lpstr>Внутренние слайды (уменьш. лого)</vt:lpstr>
      <vt:lpstr> Методы моделирования физических процессов</vt:lpstr>
      <vt:lpstr>Презентация PowerPoint</vt:lpstr>
      <vt:lpstr>Презентация PowerPoint</vt:lpstr>
      <vt:lpstr>Презентация PowerPoint</vt:lpstr>
      <vt:lpstr>Презентация PowerPoint</vt:lpstr>
      <vt:lpstr>Ansys. Модули программы</vt:lpstr>
      <vt:lpstr>Ansys. Поиск собственных мод</vt:lpstr>
      <vt:lpstr>Метод конечных разностей. Уравнения Максвелла</vt:lpstr>
      <vt:lpstr>Алгоритм моделирования</vt:lpstr>
      <vt:lpstr>Ansys. Окна</vt:lpstr>
      <vt:lpstr>Ansys. Решатель</vt:lpstr>
      <vt:lpstr>Ansys. Решатель</vt:lpstr>
      <vt:lpstr>Ansys. Решатель</vt:lpstr>
      <vt:lpstr>Ansys. Решатель. Критерий Куранта</vt:lpstr>
      <vt:lpstr>Ansys. Решатель</vt:lpstr>
      <vt:lpstr>Ansys. Решатель</vt:lpstr>
      <vt:lpstr>Ansys. Решатель</vt:lpstr>
      <vt:lpstr>Ansys. Решатель</vt:lpstr>
      <vt:lpstr>Ansys. Практика Опыт Юнга</vt:lpstr>
      <vt:lpstr>Ansys. Практика Опыт Юнга</vt:lpstr>
      <vt:lpstr>Ansys. Практика Опыт Юнга</vt:lpstr>
      <vt:lpstr>Презентация PowerPoint</vt:lpstr>
      <vt:lpstr>Ansys. Практика Кольцевой резонатор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НИИМЭ МФТИ</dc:title>
  <dc:creator>Тельминов Олег Александрович</dc:creator>
  <cp:lastModifiedBy>Алексей Козлов</cp:lastModifiedBy>
  <cp:revision>392</cp:revision>
  <dcterms:created xsi:type="dcterms:W3CDTF">2023-02-24T09:31:00Z</dcterms:created>
  <dcterms:modified xsi:type="dcterms:W3CDTF">2026-10-20T16:34:33Z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9BE73AA1038C47A7A15BA2C826E82C85</vt:lpwstr>
  </property>
  <property fmtid="{D5CDD505-2E9C-101B-9397-08002B2CF9AE}" pid="3" name="KSOProductBuildVer">
    <vt:lpwstr>1049-11.2.0.11537</vt:lpwstr>
  </property>
</Properties>
</file>